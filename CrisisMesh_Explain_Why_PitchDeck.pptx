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This is CrisisMesh Explain, developed for the Open Agent Hackathon 2026 track: 'The Agent That Can Explain Why'.</a:t>
            </a:r>
          </a:p>
          <a:p/>
          <a:p>
            <a:r>
              <a:t>In life-or-death crisis operations, black-box AI is completely unusable. Emergency directors cannot risk human lives on an opaque recommendation without knowing the exact causal chain. CrisisMesh provides full mathematical decision provenance: why an evacuation was ordered, why an unresponsive supervisor was bypassed, and why conflicting curfews were overridden.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emergency responders hesitate to adopt AI? Because in high-stakes disasters, an unexplainable recommendation creates a fatal trust deficit. If an AI suggests evacuating a valley or overriding an official order, commanders need to see the exact causal tree. CrisisMesh solves this fundamental barrier by embedding explainability at every layer of the agent state machine.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core causal decision pipeline of CrisisMesh Explain. We don't just prompt an LLM to take action. Instead, every candidate dispatch travels through five verifiable stages: from raw physical telemetry, to hydraulic simulation, to statutory SOP compliance, through a 10-point critique gate, producing an action accompanied by its complete explanation tree.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Explainability in CrisisMesh is powered by a dual-engine architecture. The Evaluator Agent operates BEFORE action execution, critiquing plans and articulating explicit reasons for revision. The Reporter Agent operates AFTER execution, synthesizing full provenance trails, latency benchmarks, and lessons learned. Together, they ensure complete transparency before, during, and after a crisis.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concrete demonstration of explainability in action: the Texas flash flood scenario. In 2025, a sleeping supervisor delayed alerts by 4 hours. CrisisMesh's Markovian Router incorporates a 180-second dead-man switch. Crucially, when the agent bypasses the human, it doesn't do so silently. It produces an explicit justification showing the exact gauge reading, arrival time to impact, and the statutory legal SOP authorizing the autonomous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Archetype 6, the Derna dam collapse, human bureaucracy was paralyzed by cognitive dissonance: officials had issued a curfew and failed to rescind it even as the dam gave way. CrisisMesh's contradiction engine cross-references official orders with Sentinel-1 SAR radar. When the contradiction score hits 0.95, it overrides the curfew and articulates exactly why shelter-in-place would be fatal.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Explainability also applies to spatial geofencing and resource allocation. In the LA Wildfires, CrisisMesh explains why it restricted the broadcast to a downwind ellipse rather than alarming the whole city. In the Nepal Tunnel collapse, CrisisMesh explains not only why specialized DMAT teams and tethered LiDAR drones were dispatched, but explicitly why standard fire engines were rejected due to tunnel portal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 candidate action produced by CrisisMesh must pass through this 10-point mathematical critique gate. Notice the high weights assigned to contradiction detection (0.95 threshold) and alert timeliness (180s SLA). If a plan fails even one threshold, the Evaluator Agent outputs a structured critique explaining why and provides concrete suggestions for revision.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CrisisMesh is fully instrumented with Meterless distributed tracing. Every single agent execution logs its inputs, outputs, duration, and explainability payload. Combined with SQLite async state checkpoints and Zetaris data lineage, an emergency commission can inspect the exact decision process at any millisecond in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CrisisMesh Explain demonstrates that AI in life-critical operations does not have to be a black box. By grounding every decision in physical telemetry, dynamic world models, statutory SOPs, and transparent critique gates, we provide the first autonomous emergency agent that emergency commanders can truly trust.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280160"/>
            <a:ext cx="73152" cy="3474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10058400" cy="1005840"/>
          </a:xfrm>
          <a:prstGeom prst="rect">
            <a:avLst/>
          </a:prstGeom>
          <a:noFill/>
        </p:spPr>
        <p:txBody>
          <a:bodyPr wrap="square" anchor="t">
            <a:spAutoFit/>
          </a:bodyPr>
          <a:lstStyle/>
          <a:p>
            <a:pPr algn="l">
              <a:defRPr sz="5600" b="1">
                <a:solidFill>
                  <a:srgbClr val="FFFFFF"/>
                </a:solidFill>
                <a:latin typeface="Calibri"/>
              </a:defRPr>
            </a:pPr>
            <a:r>
              <a:t>CrisisMesh Explain</a:t>
            </a:r>
          </a:p>
        </p:txBody>
      </p:sp>
      <p:sp>
        <p:nvSpPr>
          <p:cNvPr id="5" name="TextBox 4"/>
          <p:cNvSpPr txBox="1"/>
          <p:nvPr/>
        </p:nvSpPr>
        <p:spPr>
          <a:xfrm>
            <a:off x="1097280" y="2286000"/>
            <a:ext cx="10058400" cy="640080"/>
          </a:xfrm>
          <a:prstGeom prst="rect">
            <a:avLst/>
          </a:prstGeom>
          <a:noFill/>
        </p:spPr>
        <p:txBody>
          <a:bodyPr wrap="square" anchor="t">
            <a:spAutoFit/>
          </a:bodyPr>
          <a:lstStyle/>
          <a:p>
            <a:pPr algn="l">
              <a:defRPr sz="2600" b="1">
                <a:solidFill>
                  <a:srgbClr val="06B6D4"/>
                </a:solidFill>
                <a:latin typeface="Calibri"/>
              </a:defRPr>
            </a:pPr>
            <a:r>
              <a:t>The Autonomous Disaster Agent That Can Explain Why</a:t>
            </a:r>
          </a:p>
        </p:txBody>
      </p:sp>
      <p:sp>
        <p:nvSpPr>
          <p:cNvPr id="6" name="TextBox 5"/>
          <p:cNvSpPr txBox="1"/>
          <p:nvPr/>
        </p:nvSpPr>
        <p:spPr>
          <a:xfrm>
            <a:off x="1097280" y="3017520"/>
            <a:ext cx="10058400" cy="548640"/>
          </a:xfrm>
          <a:prstGeom prst="rect">
            <a:avLst/>
          </a:prstGeom>
          <a:noFill/>
        </p:spPr>
        <p:txBody>
          <a:bodyPr wrap="square" anchor="t">
            <a:spAutoFit/>
          </a:bodyPr>
          <a:lstStyle/>
          <a:p>
            <a:pPr algn="l">
              <a:defRPr sz="1800" b="0">
                <a:solidFill>
                  <a:srgbClr val="E2E8F0"/>
                </a:solidFill>
                <a:latin typeface="Calibri"/>
              </a:defRPr>
            </a:pPr>
            <a:r>
              <a:t>Auditable Causal Decision Provenance &amp; Contradiction Resolution in Life-Critical Response</a:t>
            </a:r>
          </a:p>
        </p:txBody>
      </p:sp>
      <p:sp>
        <p:nvSpPr>
          <p:cNvPr id="7" name="TextBox 6"/>
          <p:cNvSpPr txBox="1"/>
          <p:nvPr/>
        </p:nvSpPr>
        <p:spPr>
          <a:xfrm>
            <a:off x="1097280" y="3931920"/>
            <a:ext cx="10058400" cy="365760"/>
          </a:xfrm>
          <a:prstGeom prst="rect">
            <a:avLst/>
          </a:prstGeom>
          <a:noFill/>
        </p:spPr>
        <p:txBody>
          <a:bodyPr wrap="square" anchor="t">
            <a:spAutoFit/>
          </a:bodyPr>
          <a:lstStyle/>
          <a:p>
            <a:pPr algn="l">
              <a:defRPr sz="1600" b="1">
                <a:solidFill>
                  <a:srgbClr val="FFFFFF"/>
                </a:solidFill>
                <a:latin typeface="Calibri"/>
              </a:defRPr>
            </a:pPr>
            <a:r>
              <a:t>Open Agent Hackathon 2026  •  Track: The Agent That Can Explain Why</a:t>
            </a:r>
          </a:p>
        </p:txBody>
      </p:sp>
      <p:sp>
        <p:nvSpPr>
          <p:cNvPr id="8" name="Rectangle 7"/>
          <p:cNvSpPr/>
          <p:nvPr/>
        </p:nvSpPr>
        <p:spPr>
          <a:xfrm>
            <a:off x="1097280" y="4572000"/>
            <a:ext cx="1920240" cy="54864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645152"/>
            <a:ext cx="1920240" cy="457200"/>
          </a:xfrm>
          <a:prstGeom prst="rect">
            <a:avLst/>
          </a:prstGeom>
          <a:noFill/>
        </p:spPr>
        <p:txBody>
          <a:bodyPr wrap="square" anchor="t">
            <a:spAutoFit/>
          </a:bodyPr>
          <a:lstStyle/>
          <a:p>
            <a:pPr algn="ctr">
              <a:defRPr sz="1500" b="1">
                <a:solidFill>
                  <a:srgbClr val="FFFFFF"/>
                </a:solidFill>
                <a:latin typeface="Calibri"/>
              </a:defRPr>
            </a:pPr>
            <a:r>
              <a:t>Zetaris</a:t>
            </a:r>
          </a:p>
        </p:txBody>
      </p:sp>
      <p:sp>
        <p:nvSpPr>
          <p:cNvPr id="10" name="Rectangle 9"/>
          <p:cNvSpPr/>
          <p:nvPr/>
        </p:nvSpPr>
        <p:spPr>
          <a:xfrm>
            <a:off x="3291839" y="4572000"/>
            <a:ext cx="1920240" cy="54864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39" y="4645152"/>
            <a:ext cx="1920240" cy="457200"/>
          </a:xfrm>
          <a:prstGeom prst="rect">
            <a:avLst/>
          </a:prstGeom>
          <a:noFill/>
        </p:spPr>
        <p:txBody>
          <a:bodyPr wrap="square" anchor="t">
            <a:spAutoFit/>
          </a:bodyPr>
          <a:lstStyle/>
          <a:p>
            <a:pPr algn="ctr">
              <a:defRPr sz="1500" b="1">
                <a:solidFill>
                  <a:srgbClr val="FFFFFF"/>
                </a:solidFill>
                <a:latin typeface="Calibri"/>
              </a:defRPr>
            </a:pPr>
            <a:r>
              <a:t>Meterless</a:t>
            </a:r>
          </a:p>
        </p:txBody>
      </p:sp>
      <p:sp>
        <p:nvSpPr>
          <p:cNvPr id="12" name="Rectangle 11"/>
          <p:cNvSpPr/>
          <p:nvPr/>
        </p:nvSpPr>
        <p:spPr>
          <a:xfrm>
            <a:off x="5486400" y="4572000"/>
            <a:ext cx="1920240" cy="54864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4645152"/>
            <a:ext cx="1920240" cy="457200"/>
          </a:xfrm>
          <a:prstGeom prst="rect">
            <a:avLst/>
          </a:prstGeom>
          <a:noFill/>
        </p:spPr>
        <p:txBody>
          <a:bodyPr wrap="square" anchor="t">
            <a:spAutoFit/>
          </a:bodyPr>
          <a:lstStyle/>
          <a:p>
            <a:pPr algn="ctr">
              <a:defRPr sz="1500" b="1">
                <a:solidFill>
                  <a:srgbClr val="FFFFFF"/>
                </a:solidFill>
                <a:latin typeface="Calibri"/>
              </a:defRPr>
            </a:pPr>
            <a:r>
              <a:t>NVIDIA</a:t>
            </a:r>
          </a:p>
        </p:txBody>
      </p:sp>
      <p:sp>
        <p:nvSpPr>
          <p:cNvPr id="14" name="Rectangle 13"/>
          <p:cNvSpPr/>
          <p:nvPr/>
        </p:nvSpPr>
        <p:spPr>
          <a:xfrm>
            <a:off x="7680960" y="4572000"/>
            <a:ext cx="1920240" cy="54864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4645152"/>
            <a:ext cx="1920240" cy="457200"/>
          </a:xfrm>
          <a:prstGeom prst="rect">
            <a:avLst/>
          </a:prstGeom>
          <a:noFill/>
        </p:spPr>
        <p:txBody>
          <a:bodyPr wrap="square" anchor="t">
            <a:spAutoFit/>
          </a:bodyPr>
          <a:lstStyle/>
          <a:p>
            <a:pPr algn="ctr">
              <a:defRPr sz="1500" b="1">
                <a:solidFill>
                  <a:srgbClr val="FFFFFF"/>
                </a:solidFill>
                <a:latin typeface="Calibri"/>
              </a:defRPr>
            </a:pPr>
            <a:r>
              <a:t>Cursor</a:t>
            </a:r>
          </a:p>
        </p:txBody>
      </p:sp>
      <p:sp>
        <p:nvSpPr>
          <p:cNvPr id="16" name="TextBox 15"/>
          <p:cNvSpPr txBox="1"/>
          <p:nvPr/>
        </p:nvSpPr>
        <p:spPr>
          <a:xfrm>
            <a:off x="1097280" y="5760720"/>
            <a:ext cx="10058400" cy="365760"/>
          </a:xfrm>
          <a:prstGeom prst="rect">
            <a:avLst/>
          </a:prstGeom>
          <a:noFill/>
        </p:spPr>
        <p:txBody>
          <a:bodyPr wrap="square" anchor="t">
            <a:spAutoFit/>
          </a:bodyPr>
          <a:lstStyle/>
          <a:p>
            <a:pPr algn="l">
              <a:defRPr sz="1400" b="0">
                <a:solidFill>
                  <a:srgbClr val="94A3B8"/>
                </a:solidFill>
                <a:latin typeface="Calibri"/>
              </a:defRPr>
            </a:pPr>
            <a:r>
              <a:t>Lead: Mukunth (mukuntheverquest)  •  GitHub: https://github.com/mukuntheverquest/crisismesh  •  MIT License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The Problem: Black-Box AI Kills in Crisis Response</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Emergency Commanders Reject AI Recommendations Without Traceable Causal Rationale</a:t>
            </a:r>
          </a:p>
        </p:txBody>
      </p:sp>
      <p:sp>
        <p:nvSpPr>
          <p:cNvPr id="5" name="Rectangle 4"/>
          <p:cNvSpPr/>
          <p:nvPr/>
        </p:nvSpPr>
        <p:spPr>
          <a:xfrm>
            <a:off x="731520" y="1463040"/>
            <a:ext cx="2578608" cy="475488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2304288" cy="457200"/>
          </a:xfrm>
          <a:prstGeom prst="rect">
            <a:avLst/>
          </a:prstGeom>
          <a:noFill/>
        </p:spPr>
        <p:txBody>
          <a:bodyPr wrap="square" anchor="t">
            <a:spAutoFit/>
          </a:bodyPr>
          <a:lstStyle/>
          <a:p>
            <a:pPr algn="l">
              <a:defRPr sz="1600" b="1">
                <a:solidFill>
                  <a:srgbClr val="EF4444"/>
                </a:solidFill>
                <a:latin typeface="Calibri"/>
              </a:defRPr>
            </a:pPr>
            <a:r>
              <a:t>The 'Trust Deficit'</a:t>
            </a:r>
          </a:p>
        </p:txBody>
      </p:sp>
      <p:sp>
        <p:nvSpPr>
          <p:cNvPr id="7" name="TextBox 6"/>
          <p:cNvSpPr txBox="1"/>
          <p:nvPr/>
        </p:nvSpPr>
        <p:spPr>
          <a:xfrm>
            <a:off x="868680" y="2148840"/>
            <a:ext cx="2304288" cy="548640"/>
          </a:xfrm>
          <a:prstGeom prst="rect">
            <a:avLst/>
          </a:prstGeom>
          <a:noFill/>
        </p:spPr>
        <p:txBody>
          <a:bodyPr wrap="square" anchor="t">
            <a:spAutoFit/>
          </a:bodyPr>
          <a:lstStyle/>
          <a:p>
            <a:pPr algn="l">
              <a:defRPr sz="1300" b="1">
                <a:solidFill>
                  <a:srgbClr val="FFFFFF"/>
                </a:solidFill>
                <a:latin typeface="Calibri"/>
              </a:defRPr>
            </a:pPr>
            <a:r>
              <a:t>Why Should I Order Evacuation?</a:t>
            </a:r>
          </a:p>
        </p:txBody>
      </p:sp>
      <p:sp>
        <p:nvSpPr>
          <p:cNvPr id="8" name="TextBox 7"/>
          <p:cNvSpPr txBox="1"/>
          <p:nvPr/>
        </p:nvSpPr>
        <p:spPr>
          <a:xfrm>
            <a:off x="868680" y="2788920"/>
            <a:ext cx="2304288" cy="3108960"/>
          </a:xfrm>
          <a:prstGeom prst="rect">
            <a:avLst/>
          </a:prstGeom>
          <a:noFill/>
        </p:spPr>
        <p:txBody>
          <a:bodyPr wrap="square" anchor="t">
            <a:spAutoFit/>
          </a:bodyPr>
          <a:lstStyle/>
          <a:p>
            <a:pPr algn="l">
              <a:defRPr sz="1200" b="0">
                <a:solidFill>
                  <a:srgbClr val="E2E8F0"/>
                </a:solidFill>
                <a:latin typeface="Calibri"/>
              </a:defRPr>
            </a:pPr>
            <a:r>
              <a:t>Incident commanders will not evacuate 50,000 residents based on a raw LLM output without verifying sensor evidence and hydraulic calculations.</a:t>
            </a:r>
          </a:p>
        </p:txBody>
      </p:sp>
      <p:sp>
        <p:nvSpPr>
          <p:cNvPr id="9" name="Rectangle 8"/>
          <p:cNvSpPr/>
          <p:nvPr/>
        </p:nvSpPr>
        <p:spPr>
          <a:xfrm>
            <a:off x="3456432" y="1463040"/>
            <a:ext cx="2578608" cy="475488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592" y="1645920"/>
            <a:ext cx="2304288" cy="457200"/>
          </a:xfrm>
          <a:prstGeom prst="rect">
            <a:avLst/>
          </a:prstGeom>
          <a:noFill/>
        </p:spPr>
        <p:txBody>
          <a:bodyPr wrap="square" anchor="t">
            <a:spAutoFit/>
          </a:bodyPr>
          <a:lstStyle/>
          <a:p>
            <a:pPr algn="l">
              <a:defRPr sz="1600" b="1">
                <a:solidFill>
                  <a:srgbClr val="F97316"/>
                </a:solidFill>
                <a:latin typeface="Calibri"/>
              </a:defRPr>
            </a:pPr>
            <a:r>
              <a:t>The Override Dilemma</a:t>
            </a:r>
          </a:p>
        </p:txBody>
      </p:sp>
      <p:sp>
        <p:nvSpPr>
          <p:cNvPr id="11" name="TextBox 10"/>
          <p:cNvSpPr txBox="1"/>
          <p:nvPr/>
        </p:nvSpPr>
        <p:spPr>
          <a:xfrm>
            <a:off x="3593592" y="2148840"/>
            <a:ext cx="2304288" cy="548640"/>
          </a:xfrm>
          <a:prstGeom prst="rect">
            <a:avLst/>
          </a:prstGeom>
          <a:noFill/>
        </p:spPr>
        <p:txBody>
          <a:bodyPr wrap="square" anchor="t">
            <a:spAutoFit/>
          </a:bodyPr>
          <a:lstStyle/>
          <a:p>
            <a:pPr algn="l">
              <a:defRPr sz="1300" b="1">
                <a:solidFill>
                  <a:srgbClr val="FFFFFF"/>
                </a:solidFill>
                <a:latin typeface="Calibri"/>
              </a:defRPr>
            </a:pPr>
            <a:r>
              <a:t>Why Disobey the Mayor's Curfew?</a:t>
            </a:r>
          </a:p>
        </p:txBody>
      </p:sp>
      <p:sp>
        <p:nvSpPr>
          <p:cNvPr id="12" name="TextBox 11"/>
          <p:cNvSpPr txBox="1"/>
          <p:nvPr/>
        </p:nvSpPr>
        <p:spPr>
          <a:xfrm>
            <a:off x="3593592" y="2788920"/>
            <a:ext cx="2304288" cy="3108960"/>
          </a:xfrm>
          <a:prstGeom prst="rect">
            <a:avLst/>
          </a:prstGeom>
          <a:noFill/>
        </p:spPr>
        <p:txBody>
          <a:bodyPr wrap="square" anchor="t">
            <a:spAutoFit/>
          </a:bodyPr>
          <a:lstStyle/>
          <a:p>
            <a:pPr algn="l">
              <a:defRPr sz="1200" b="0">
                <a:solidFill>
                  <a:srgbClr val="E2E8F0"/>
                </a:solidFill>
                <a:latin typeface="Calibri"/>
              </a:defRPr>
            </a:pPr>
            <a:r>
              <a:t>When local authorities order a curfew during a dam collapse (e.g. Libya Derna), an autonomous agent must prove beyond doubt why that order is fatal.</a:t>
            </a:r>
          </a:p>
        </p:txBody>
      </p:sp>
      <p:sp>
        <p:nvSpPr>
          <p:cNvPr id="13" name="Rectangle 12"/>
          <p:cNvSpPr/>
          <p:nvPr/>
        </p:nvSpPr>
        <p:spPr>
          <a:xfrm>
            <a:off x="6181344" y="1463040"/>
            <a:ext cx="2578608" cy="475488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645920"/>
            <a:ext cx="2304288" cy="457200"/>
          </a:xfrm>
          <a:prstGeom prst="rect">
            <a:avLst/>
          </a:prstGeom>
          <a:noFill/>
        </p:spPr>
        <p:txBody>
          <a:bodyPr wrap="square" anchor="t">
            <a:spAutoFit/>
          </a:bodyPr>
          <a:lstStyle/>
          <a:p>
            <a:pPr algn="l">
              <a:defRPr sz="1600" b="1">
                <a:solidFill>
                  <a:srgbClr val="3B82F6"/>
                </a:solidFill>
                <a:latin typeface="Calibri"/>
              </a:defRPr>
            </a:pPr>
            <a:r>
              <a:t>The Resource Tradeoff</a:t>
            </a:r>
          </a:p>
        </p:txBody>
      </p:sp>
      <p:sp>
        <p:nvSpPr>
          <p:cNvPr id="15" name="TextBox 14"/>
          <p:cNvSpPr txBox="1"/>
          <p:nvPr/>
        </p:nvSpPr>
        <p:spPr>
          <a:xfrm>
            <a:off x="6318504" y="2148840"/>
            <a:ext cx="2304288" cy="548640"/>
          </a:xfrm>
          <a:prstGeom prst="rect">
            <a:avLst/>
          </a:prstGeom>
          <a:noFill/>
        </p:spPr>
        <p:txBody>
          <a:bodyPr wrap="square" anchor="t">
            <a:spAutoFit/>
          </a:bodyPr>
          <a:lstStyle/>
          <a:p>
            <a:pPr algn="l">
              <a:defRPr sz="1300" b="1">
                <a:solidFill>
                  <a:srgbClr val="FFFFFF"/>
                </a:solidFill>
                <a:latin typeface="Calibri"/>
              </a:defRPr>
            </a:pPr>
            <a:r>
              <a:t>Why Dispatch Boats Instead of Trucks?</a:t>
            </a:r>
          </a:p>
        </p:txBody>
      </p:sp>
      <p:sp>
        <p:nvSpPr>
          <p:cNvPr id="16" name="TextBox 15"/>
          <p:cNvSpPr txBox="1"/>
          <p:nvPr/>
        </p:nvSpPr>
        <p:spPr>
          <a:xfrm>
            <a:off x="6318504" y="2788920"/>
            <a:ext cx="2304288" cy="3108960"/>
          </a:xfrm>
          <a:prstGeom prst="rect">
            <a:avLst/>
          </a:prstGeom>
          <a:noFill/>
        </p:spPr>
        <p:txBody>
          <a:bodyPr wrap="square" anchor="t">
            <a:spAutoFit/>
          </a:bodyPr>
          <a:lstStyle/>
          <a:p>
            <a:pPr algn="l">
              <a:defRPr sz="1200" b="0">
                <a:solidFill>
                  <a:srgbClr val="E2E8F0"/>
                </a:solidFill>
                <a:latin typeface="Calibri"/>
              </a:defRPr>
            </a:pPr>
            <a:r>
              <a:t>First responders have scarce high-water assets. The system must explain why specific terrain vehicles were selected and others rejected.</a:t>
            </a:r>
          </a:p>
        </p:txBody>
      </p:sp>
      <p:sp>
        <p:nvSpPr>
          <p:cNvPr id="17" name="Rectangle 16"/>
          <p:cNvSpPr/>
          <p:nvPr/>
        </p:nvSpPr>
        <p:spPr>
          <a:xfrm>
            <a:off x="8906256" y="1463040"/>
            <a:ext cx="2578608" cy="475488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1645920"/>
            <a:ext cx="2304288" cy="457200"/>
          </a:xfrm>
          <a:prstGeom prst="rect">
            <a:avLst/>
          </a:prstGeom>
          <a:noFill/>
        </p:spPr>
        <p:txBody>
          <a:bodyPr wrap="square" anchor="t">
            <a:spAutoFit/>
          </a:bodyPr>
          <a:lstStyle/>
          <a:p>
            <a:pPr algn="l">
              <a:defRPr sz="1600" b="1">
                <a:solidFill>
                  <a:srgbClr val="22C55E"/>
                </a:solidFill>
                <a:latin typeface="Calibri"/>
              </a:defRPr>
            </a:pPr>
            <a:r>
              <a:t>The Liability Trap</a:t>
            </a:r>
          </a:p>
        </p:txBody>
      </p:sp>
      <p:sp>
        <p:nvSpPr>
          <p:cNvPr id="19" name="TextBox 18"/>
          <p:cNvSpPr txBox="1"/>
          <p:nvPr/>
        </p:nvSpPr>
        <p:spPr>
          <a:xfrm>
            <a:off x="9043416" y="2148840"/>
            <a:ext cx="2304288" cy="548640"/>
          </a:xfrm>
          <a:prstGeom prst="rect">
            <a:avLst/>
          </a:prstGeom>
          <a:noFill/>
        </p:spPr>
        <p:txBody>
          <a:bodyPr wrap="square" anchor="t">
            <a:spAutoFit/>
          </a:bodyPr>
          <a:lstStyle/>
          <a:p>
            <a:pPr algn="l">
              <a:defRPr sz="1300" b="1">
                <a:solidFill>
                  <a:srgbClr val="FFFFFF"/>
                </a:solidFill>
                <a:latin typeface="Calibri"/>
              </a:defRPr>
            </a:pPr>
            <a:r>
              <a:t>Who is Responsible When Disaster Strikes?</a:t>
            </a:r>
          </a:p>
        </p:txBody>
      </p:sp>
      <p:sp>
        <p:nvSpPr>
          <p:cNvPr id="20" name="TextBox 19"/>
          <p:cNvSpPr txBox="1"/>
          <p:nvPr/>
        </p:nvSpPr>
        <p:spPr>
          <a:xfrm>
            <a:off x="9043416" y="2788920"/>
            <a:ext cx="2304288" cy="3108960"/>
          </a:xfrm>
          <a:prstGeom prst="rect">
            <a:avLst/>
          </a:prstGeom>
          <a:noFill/>
        </p:spPr>
        <p:txBody>
          <a:bodyPr wrap="square" anchor="t">
            <a:spAutoFit/>
          </a:bodyPr>
          <a:lstStyle/>
          <a:p>
            <a:pPr algn="l">
              <a:defRPr sz="1200" b="0">
                <a:solidFill>
                  <a:srgbClr val="E2E8F0"/>
                </a:solidFill>
                <a:latin typeface="Calibri"/>
              </a:defRPr>
            </a:pPr>
            <a:r>
              <a:t>Post-incident audits demand exact provenance: what sensor triggered the alert, which rule authorized dispatch, and what was the latency?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The Solution: Verifiable Causal Decision Provenance</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06B6D4"/>
                </a:solidFill>
                <a:latin typeface="Calibri"/>
              </a:defRPr>
            </a:pPr>
            <a:r>
              <a:t>Connecting Raw Sensor Signals to Physics Simulations, Legal SOPs, and Action Justifications</a:t>
            </a:r>
          </a:p>
        </p:txBody>
      </p:sp>
      <p:sp>
        <p:nvSpPr>
          <p:cNvPr id="5" name="Rectangle 4"/>
          <p:cNvSpPr/>
          <p:nvPr/>
        </p:nvSpPr>
        <p:spPr>
          <a:xfrm>
            <a:off x="548640" y="1463040"/>
            <a:ext cx="2176272" cy="219456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993391" cy="365760"/>
          </a:xfrm>
          <a:prstGeom prst="rect">
            <a:avLst/>
          </a:prstGeom>
          <a:noFill/>
        </p:spPr>
        <p:txBody>
          <a:bodyPr wrap="square" anchor="t">
            <a:spAutoFit/>
          </a:bodyPr>
          <a:lstStyle/>
          <a:p>
            <a:pPr algn="l">
              <a:defRPr sz="1300" b="1">
                <a:solidFill>
                  <a:srgbClr val="3B82F6"/>
                </a:solidFill>
                <a:latin typeface="Calibri"/>
              </a:defRPr>
            </a:pPr>
            <a:r>
              <a:t>1. SENSOR EVIDENCE</a:t>
            </a:r>
          </a:p>
        </p:txBody>
      </p:sp>
      <p:sp>
        <p:nvSpPr>
          <p:cNvPr id="7" name="TextBox 6"/>
          <p:cNvSpPr txBox="1"/>
          <p:nvPr/>
        </p:nvSpPr>
        <p:spPr>
          <a:xfrm>
            <a:off x="640080" y="2057400"/>
            <a:ext cx="1993391" cy="1508760"/>
          </a:xfrm>
          <a:prstGeom prst="rect">
            <a:avLst/>
          </a:prstGeom>
          <a:noFill/>
        </p:spPr>
        <p:txBody>
          <a:bodyPr wrap="square" anchor="t">
            <a:spAutoFit/>
          </a:bodyPr>
          <a:lstStyle/>
          <a:p>
            <a:pPr algn="l">
              <a:defRPr sz="1100" b="0">
                <a:solidFill>
                  <a:srgbClr val="FFFFFF"/>
                </a:solidFill>
                <a:latin typeface="Calibri"/>
              </a:defRPr>
            </a:pPr>
            <a:r>
              <a:t>River Gauge: 34.2 ft</a:t>
            </a:r>
            <a:br/>
            <a:r>
              <a:t>Radar: Sentinel-1 SAR</a:t>
            </a:r>
            <a:br/>
            <a:r>
              <a:t>Rate: +12 ft/hour surge</a:t>
            </a:r>
          </a:p>
        </p:txBody>
      </p:sp>
      <p:sp>
        <p:nvSpPr>
          <p:cNvPr id="8" name="Right Arrow 7"/>
          <p:cNvSpPr/>
          <p:nvPr/>
        </p:nvSpPr>
        <p:spPr>
          <a:xfrm>
            <a:off x="2734056" y="2423160"/>
            <a:ext cx="146304" cy="256032"/>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07208" y="1463040"/>
            <a:ext cx="2176272" cy="219456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98648" y="1600200"/>
            <a:ext cx="1993391" cy="365760"/>
          </a:xfrm>
          <a:prstGeom prst="rect">
            <a:avLst/>
          </a:prstGeom>
          <a:noFill/>
        </p:spPr>
        <p:txBody>
          <a:bodyPr wrap="square" anchor="t">
            <a:spAutoFit/>
          </a:bodyPr>
          <a:lstStyle/>
          <a:p>
            <a:pPr algn="l">
              <a:defRPr sz="1300" b="1">
                <a:solidFill>
                  <a:srgbClr val="22C55E"/>
                </a:solidFill>
                <a:latin typeface="Calibri"/>
              </a:defRPr>
            </a:pPr>
            <a:r>
              <a:t>2. PHYSICS MODEL</a:t>
            </a:r>
          </a:p>
        </p:txBody>
      </p:sp>
      <p:sp>
        <p:nvSpPr>
          <p:cNvPr id="11" name="TextBox 10"/>
          <p:cNvSpPr txBox="1"/>
          <p:nvPr/>
        </p:nvSpPr>
        <p:spPr>
          <a:xfrm>
            <a:off x="2898648" y="2057400"/>
            <a:ext cx="1993391" cy="1508760"/>
          </a:xfrm>
          <a:prstGeom prst="rect">
            <a:avLst/>
          </a:prstGeom>
          <a:noFill/>
        </p:spPr>
        <p:txBody>
          <a:bodyPr wrap="square" anchor="t">
            <a:spAutoFit/>
          </a:bodyPr>
          <a:lstStyle/>
          <a:p>
            <a:pPr algn="l">
              <a:defRPr sz="1100" b="0">
                <a:solidFill>
                  <a:srgbClr val="FFFFFF"/>
                </a:solidFill>
                <a:latin typeface="Calibri"/>
              </a:defRPr>
            </a:pPr>
            <a:r>
              <a:t>Hydraulic propagation:</a:t>
            </a:r>
            <a:br/>
            <a:r>
              <a:t>Crest hits town in 14 min</a:t>
            </a:r>
            <a:br/>
            <a:r>
              <a:t>Depth: 4.2ft in Sector B</a:t>
            </a:r>
          </a:p>
        </p:txBody>
      </p:sp>
      <p:sp>
        <p:nvSpPr>
          <p:cNvPr id="12" name="Right Arrow 11"/>
          <p:cNvSpPr/>
          <p:nvPr/>
        </p:nvSpPr>
        <p:spPr>
          <a:xfrm>
            <a:off x="4992624" y="2423160"/>
            <a:ext cx="146304" cy="256032"/>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65776" y="1463040"/>
            <a:ext cx="2176272" cy="2194560"/>
          </a:xfrm>
          <a:prstGeom prst="rect">
            <a:avLst/>
          </a:prstGeom>
          <a:solidFill>
            <a:srgbClr val="1E293B"/>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57216" y="1600200"/>
            <a:ext cx="1993391" cy="365760"/>
          </a:xfrm>
          <a:prstGeom prst="rect">
            <a:avLst/>
          </a:prstGeom>
          <a:noFill/>
        </p:spPr>
        <p:txBody>
          <a:bodyPr wrap="square" anchor="t">
            <a:spAutoFit/>
          </a:bodyPr>
          <a:lstStyle/>
          <a:p>
            <a:pPr algn="l">
              <a:defRPr sz="1300" b="1">
                <a:solidFill>
                  <a:srgbClr val="A855F7"/>
                </a:solidFill>
                <a:latin typeface="Calibri"/>
              </a:defRPr>
            </a:pPr>
            <a:r>
              <a:t>3. LEGAL / SOP BASIS</a:t>
            </a:r>
          </a:p>
        </p:txBody>
      </p:sp>
      <p:sp>
        <p:nvSpPr>
          <p:cNvPr id="15" name="TextBox 14"/>
          <p:cNvSpPr txBox="1"/>
          <p:nvPr/>
        </p:nvSpPr>
        <p:spPr>
          <a:xfrm>
            <a:off x="5157216" y="2057400"/>
            <a:ext cx="1993391" cy="1508760"/>
          </a:xfrm>
          <a:prstGeom prst="rect">
            <a:avLst/>
          </a:prstGeom>
          <a:noFill/>
        </p:spPr>
        <p:txBody>
          <a:bodyPr wrap="square" anchor="t">
            <a:spAutoFit/>
          </a:bodyPr>
          <a:lstStyle/>
          <a:p>
            <a:pPr algn="l">
              <a:defRPr sz="1100" b="0">
                <a:solidFill>
                  <a:srgbClr val="FFFFFF"/>
                </a:solidFill>
                <a:latin typeface="Calibri"/>
              </a:defRPr>
            </a:pPr>
            <a:r>
              <a:t>H-Mem SOP TX-EM-7:</a:t>
            </a:r>
            <a:br/>
            <a:r>
              <a:t>Mandates evacuation when</a:t>
            </a:r>
            <a:br/>
            <a:r>
              <a:t>population &gt; 500 &amp; crest &gt; 30ft</a:t>
            </a:r>
          </a:p>
        </p:txBody>
      </p:sp>
      <p:sp>
        <p:nvSpPr>
          <p:cNvPr id="16" name="Right Arrow 15"/>
          <p:cNvSpPr/>
          <p:nvPr/>
        </p:nvSpPr>
        <p:spPr>
          <a:xfrm>
            <a:off x="7251192" y="2423160"/>
            <a:ext cx="146304" cy="256032"/>
          </a:xfrm>
          <a:prstGeom prst="rightArrow">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24344" y="1463040"/>
            <a:ext cx="2176272" cy="219456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15783" y="1600200"/>
            <a:ext cx="1993391" cy="365760"/>
          </a:xfrm>
          <a:prstGeom prst="rect">
            <a:avLst/>
          </a:prstGeom>
          <a:noFill/>
        </p:spPr>
        <p:txBody>
          <a:bodyPr wrap="square" anchor="t">
            <a:spAutoFit/>
          </a:bodyPr>
          <a:lstStyle/>
          <a:p>
            <a:pPr algn="l">
              <a:defRPr sz="1300" b="1">
                <a:solidFill>
                  <a:srgbClr val="F97316"/>
                </a:solidFill>
                <a:latin typeface="Calibri"/>
              </a:defRPr>
            </a:pPr>
            <a:r>
              <a:t>4. CRITIQUE GATE</a:t>
            </a:r>
          </a:p>
        </p:txBody>
      </p:sp>
      <p:sp>
        <p:nvSpPr>
          <p:cNvPr id="19" name="TextBox 18"/>
          <p:cNvSpPr txBox="1"/>
          <p:nvPr/>
        </p:nvSpPr>
        <p:spPr>
          <a:xfrm>
            <a:off x="7415783" y="2057400"/>
            <a:ext cx="1993391" cy="1508760"/>
          </a:xfrm>
          <a:prstGeom prst="rect">
            <a:avLst/>
          </a:prstGeom>
          <a:noFill/>
        </p:spPr>
        <p:txBody>
          <a:bodyPr wrap="square" anchor="t">
            <a:spAutoFit/>
          </a:bodyPr>
          <a:lstStyle/>
          <a:p>
            <a:pPr algn="l">
              <a:defRPr sz="1100" b="0">
                <a:solidFill>
                  <a:srgbClr val="FFFFFF"/>
                </a:solidFill>
                <a:latin typeface="Calibri"/>
              </a:defRPr>
            </a:pPr>
            <a:r>
              <a:t>Evaluator Agent:</a:t>
            </a:r>
            <a:br/>
            <a:r>
              <a:t>Scores 10 safety criteria;</a:t>
            </a:r>
            <a:br/>
            <a:r>
              <a:t>verifies no false polygon blast</a:t>
            </a:r>
          </a:p>
        </p:txBody>
      </p:sp>
      <p:sp>
        <p:nvSpPr>
          <p:cNvPr id="20" name="Right Arrow 19"/>
          <p:cNvSpPr/>
          <p:nvPr/>
        </p:nvSpPr>
        <p:spPr>
          <a:xfrm>
            <a:off x="9509760" y="2423160"/>
            <a:ext cx="146304" cy="256032"/>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82912" y="1463040"/>
            <a:ext cx="2176272" cy="219456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74352" y="1600200"/>
            <a:ext cx="1993391" cy="365760"/>
          </a:xfrm>
          <a:prstGeom prst="rect">
            <a:avLst/>
          </a:prstGeom>
          <a:noFill/>
        </p:spPr>
        <p:txBody>
          <a:bodyPr wrap="square" anchor="t">
            <a:spAutoFit/>
          </a:bodyPr>
          <a:lstStyle/>
          <a:p>
            <a:pPr algn="l">
              <a:defRPr sz="1300" b="1">
                <a:solidFill>
                  <a:srgbClr val="06B6D4"/>
                </a:solidFill>
                <a:latin typeface="Calibri"/>
              </a:defRPr>
            </a:pPr>
            <a:r>
              <a:t>5. EXPLAINABLE ACTION</a:t>
            </a:r>
          </a:p>
        </p:txBody>
      </p:sp>
      <p:sp>
        <p:nvSpPr>
          <p:cNvPr id="23" name="TextBox 22"/>
          <p:cNvSpPr txBox="1"/>
          <p:nvPr/>
        </p:nvSpPr>
        <p:spPr>
          <a:xfrm>
            <a:off x="9674352" y="2057400"/>
            <a:ext cx="1993391" cy="1508760"/>
          </a:xfrm>
          <a:prstGeom prst="rect">
            <a:avLst/>
          </a:prstGeom>
          <a:noFill/>
        </p:spPr>
        <p:txBody>
          <a:bodyPr wrap="square" anchor="t">
            <a:spAutoFit/>
          </a:bodyPr>
          <a:lstStyle/>
          <a:p>
            <a:pPr algn="l">
              <a:defRPr sz="1100" b="0">
                <a:solidFill>
                  <a:srgbClr val="FFFFFF"/>
                </a:solidFill>
                <a:latin typeface="Calibri"/>
              </a:defRPr>
            </a:pPr>
            <a:r>
              <a:t>Action: Cell Broadcast</a:t>
            </a:r>
            <a:br/>
            <a:r>
              <a:t>Explains: 'Why overridden'</a:t>
            </a:r>
            <a:br/>
            <a:r>
              <a:t>Audit: Saved in SQLite</a:t>
            </a:r>
          </a:p>
        </p:txBody>
      </p:sp>
      <p:sp>
        <p:nvSpPr>
          <p:cNvPr id="24" name="Rectangle 23"/>
          <p:cNvSpPr/>
          <p:nvPr/>
        </p:nvSpPr>
        <p:spPr>
          <a:xfrm>
            <a:off x="548640" y="3931920"/>
            <a:ext cx="11091672" cy="246888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069080"/>
            <a:ext cx="10698480" cy="365760"/>
          </a:xfrm>
          <a:prstGeom prst="rect">
            <a:avLst/>
          </a:prstGeom>
          <a:noFill/>
        </p:spPr>
        <p:txBody>
          <a:bodyPr wrap="square" anchor="t">
            <a:spAutoFit/>
          </a:bodyPr>
          <a:lstStyle/>
          <a:p>
            <a:pPr algn="l">
              <a:defRPr sz="1800" b="1">
                <a:solidFill>
                  <a:srgbClr val="06B6D4"/>
                </a:solidFill>
                <a:latin typeface="Calibri"/>
              </a:defRPr>
            </a:pPr>
            <a:r>
              <a:t>Four Pillars of the CrisisMesh 'Explain Why' Engine</a:t>
            </a:r>
          </a:p>
        </p:txBody>
      </p:sp>
      <p:sp>
        <p:nvSpPr>
          <p:cNvPr id="26" name="TextBox 25"/>
          <p:cNvSpPr txBox="1"/>
          <p:nvPr/>
        </p:nvSpPr>
        <p:spPr>
          <a:xfrm>
            <a:off x="731520" y="4526280"/>
            <a:ext cx="10698480" cy="1645920"/>
          </a:xfrm>
          <a:prstGeom prst="rect">
            <a:avLst/>
          </a:prstGeom>
          <a:noFill/>
        </p:spPr>
        <p:txBody>
          <a:bodyPr wrap="square">
            <a:spAutoFit/>
          </a:bodyPr>
          <a:lstStyle/>
          <a:p>
            <a:pPr>
              <a:spcAft>
                <a:spcPts val="800"/>
              </a:spcAft>
              <a:defRPr sz="1300">
                <a:solidFill>
                  <a:srgbClr val="E2E8F0"/>
                </a:solidFill>
                <a:latin typeface="Calibri"/>
              </a:defRPr>
            </a:pPr>
            <a:r>
              <a:t>1. Causal Traceability: Every alert links back to the specific sensor reading, timestamp, and hydraulic surge rate.</a:t>
            </a:r>
          </a:p>
          <a:p>
            <a:pPr>
              <a:spcAft>
                <a:spcPts val="800"/>
              </a:spcAft>
              <a:defRPr sz="1300">
                <a:solidFill>
                  <a:srgbClr val="E2E8F0"/>
                </a:solidFill>
                <a:latin typeface="Calibri"/>
              </a:defRPr>
            </a:pPr>
            <a:r>
              <a:t>2. Counterfactual Reasoning: Explains why alternative actions (e.g. shelter-in-place, dispatching trucks) were rejected.</a:t>
            </a:r>
          </a:p>
          <a:p>
            <a:pPr>
              <a:spcAft>
                <a:spcPts val="800"/>
              </a:spcAft>
              <a:defRPr sz="1300">
                <a:solidFill>
                  <a:srgbClr val="E2E8F0"/>
                </a:solidFill>
                <a:latin typeface="Calibri"/>
              </a:defRPr>
            </a:pPr>
            <a:r>
              <a:t>3. Contradiction Resolution: Pinpoints the exact conflict between conflicting agency directives and provides forensic justification.</a:t>
            </a:r>
          </a:p>
          <a:p>
            <a:pPr>
              <a:spcAft>
                <a:spcPts val="800"/>
              </a:spcAft>
              <a:defRPr sz="1300">
                <a:solidFill>
                  <a:srgbClr val="E2E8F0"/>
                </a:solidFill>
                <a:latin typeface="Calibri"/>
              </a:defRPr>
            </a:pPr>
            <a:r>
              <a:t>4. Legal &amp; SOP Attribution: Directly quotes the jurisdictional Standard Operating Procedure giving legal authority to 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The Architecture of Explainability: Dual-Engine</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The Evaluator Agent (Pre-Action Critique) + The Reporter Agent (Post-Action Provenance)</a:t>
            </a:r>
          </a:p>
        </p:txBody>
      </p:sp>
      <p:sp>
        <p:nvSpPr>
          <p:cNvPr id="5" name="Rectangle 4"/>
          <p:cNvSpPr/>
          <p:nvPr/>
        </p:nvSpPr>
        <p:spPr>
          <a:xfrm>
            <a:off x="731520" y="1371600"/>
            <a:ext cx="5212080" cy="502920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365760"/>
          </a:xfrm>
          <a:prstGeom prst="rect">
            <a:avLst/>
          </a:prstGeom>
          <a:noFill/>
        </p:spPr>
        <p:txBody>
          <a:bodyPr wrap="square" anchor="t">
            <a:spAutoFit/>
          </a:bodyPr>
          <a:lstStyle/>
          <a:p>
            <a:pPr algn="l">
              <a:defRPr sz="1800" b="1">
                <a:solidFill>
                  <a:srgbClr val="F97316"/>
                </a:solidFill>
                <a:latin typeface="Calibri"/>
              </a:defRPr>
            </a:pPr>
            <a:r>
              <a:t>1. Evaluator Agent (The Pre-Action Critique)</a:t>
            </a:r>
          </a:p>
        </p:txBody>
      </p:sp>
      <p:sp>
        <p:nvSpPr>
          <p:cNvPr id="7" name="TextBox 6"/>
          <p:cNvSpPr txBox="1"/>
          <p:nvPr/>
        </p:nvSpPr>
        <p:spPr>
          <a:xfrm>
            <a:off x="914400" y="2011680"/>
            <a:ext cx="4846320" cy="4114800"/>
          </a:xfrm>
          <a:prstGeom prst="rect">
            <a:avLst/>
          </a:prstGeom>
          <a:noFill/>
        </p:spPr>
        <p:txBody>
          <a:bodyPr wrap="square">
            <a:spAutoFit/>
          </a:bodyPr>
          <a:lstStyle/>
          <a:p>
            <a:pPr>
              <a:spcAft>
                <a:spcPts val="800"/>
              </a:spcAft>
              <a:defRPr sz="1200">
                <a:solidFill>
                  <a:srgbClr val="E2E8F0"/>
                </a:solidFill>
                <a:latin typeface="Calibri"/>
              </a:defRPr>
            </a:pPr>
            <a:r>
              <a:t>Acts as an adversarial safety gate before any order is published</a:t>
            </a:r>
          </a:p>
          <a:p>
            <a:pPr>
              <a:spcAft>
                <a:spcPts val="800"/>
              </a:spcAft>
              <a:defRPr sz="1200">
                <a:solidFill>
                  <a:srgbClr val="E2E8F0"/>
                </a:solidFill>
                <a:latin typeface="Calibri"/>
              </a:defRPr>
            </a:pPr>
            <a:r>
              <a:t>Scores the candidate plan against 10 weighted criteria (thresholds 0.7 - 0.95)</a:t>
            </a:r>
          </a:p>
          <a:p>
            <a:pPr>
              <a:spcAft>
                <a:spcPts val="800"/>
              </a:spcAft>
              <a:defRPr sz="1200">
                <a:solidFill>
                  <a:srgbClr val="E2E8F0"/>
                </a:solidFill>
                <a:latin typeface="Calibri"/>
              </a:defRPr>
            </a:pPr>
            <a:r>
              <a:t>Explains WHY a plan failed: e.g. 'Evacuation polygon leaves out nursing home'</a:t>
            </a:r>
          </a:p>
          <a:p>
            <a:pPr>
              <a:spcAft>
                <a:spcPts val="800"/>
              </a:spcAft>
              <a:defRPr sz="1200">
                <a:solidFill>
                  <a:srgbClr val="E2E8F0"/>
                </a:solidFill>
                <a:latin typeface="Calibri"/>
              </a:defRPr>
            </a:pPr>
            <a:r>
              <a:t>Triggers cyclical revision loops back to the Planner (up to 3 iterations)</a:t>
            </a:r>
          </a:p>
          <a:p>
            <a:pPr>
              <a:spcAft>
                <a:spcPts val="800"/>
              </a:spcAft>
              <a:defRPr sz="1200">
                <a:solidFill>
                  <a:srgbClr val="E2E8F0"/>
                </a:solidFill>
                <a:latin typeface="Calibri"/>
              </a:defRPr>
            </a:pPr>
            <a:r>
              <a:t>Prevents over-alerting by rejecting cell broadcasts exceeding 5x hazard area</a:t>
            </a:r>
          </a:p>
          <a:p>
            <a:pPr>
              <a:spcAft>
                <a:spcPts val="800"/>
              </a:spcAft>
              <a:defRPr sz="1200">
                <a:solidFill>
                  <a:srgbClr val="E2E8F0"/>
                </a:solidFill>
                <a:latin typeface="Calibri"/>
              </a:defRPr>
            </a:pPr>
            <a:r>
              <a:t>Enforces mathematical consistency across hydraulic and demographic data</a:t>
            </a:r>
          </a:p>
        </p:txBody>
      </p:sp>
      <p:sp>
        <p:nvSpPr>
          <p:cNvPr id="8" name="Rectangle 7"/>
          <p:cNvSpPr/>
          <p:nvPr/>
        </p:nvSpPr>
        <p:spPr>
          <a:xfrm>
            <a:off x="6217920" y="1371600"/>
            <a:ext cx="5212080" cy="502920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365760"/>
          </a:xfrm>
          <a:prstGeom prst="rect">
            <a:avLst/>
          </a:prstGeom>
          <a:noFill/>
        </p:spPr>
        <p:txBody>
          <a:bodyPr wrap="square" anchor="t">
            <a:spAutoFit/>
          </a:bodyPr>
          <a:lstStyle/>
          <a:p>
            <a:pPr algn="l">
              <a:defRPr sz="1800" b="1">
                <a:solidFill>
                  <a:srgbClr val="06B6D4"/>
                </a:solidFill>
                <a:latin typeface="Calibri"/>
              </a:defRPr>
            </a:pPr>
            <a:r>
              <a:t>2. Reporter Agent (The Post-Action Provenance)</a:t>
            </a:r>
          </a:p>
        </p:txBody>
      </p:sp>
      <p:sp>
        <p:nvSpPr>
          <p:cNvPr id="10" name="TextBox 9"/>
          <p:cNvSpPr txBox="1"/>
          <p:nvPr/>
        </p:nvSpPr>
        <p:spPr>
          <a:xfrm>
            <a:off x="6400800" y="2011680"/>
            <a:ext cx="4846320" cy="4114800"/>
          </a:xfrm>
          <a:prstGeom prst="rect">
            <a:avLst/>
          </a:prstGeom>
          <a:noFill/>
        </p:spPr>
        <p:txBody>
          <a:bodyPr wrap="square">
            <a:spAutoFit/>
          </a:bodyPr>
          <a:lstStyle/>
          <a:p>
            <a:pPr>
              <a:spcAft>
                <a:spcPts val="800"/>
              </a:spcAft>
              <a:defRPr sz="1200">
                <a:solidFill>
                  <a:srgbClr val="E2E8F0"/>
                </a:solidFill>
                <a:latin typeface="Calibri"/>
              </a:defRPr>
            </a:pPr>
            <a:r>
              <a:t>Constructs comprehensive legal and operational audit reports</a:t>
            </a:r>
          </a:p>
          <a:p>
            <a:pPr>
              <a:spcAft>
                <a:spcPts val="800"/>
              </a:spcAft>
              <a:defRPr sz="1200">
                <a:solidFill>
                  <a:srgbClr val="E2E8F0"/>
                </a:solidFill>
                <a:latin typeface="Calibri"/>
              </a:defRPr>
            </a:pPr>
            <a:r>
              <a:t>Generates the Causal Explanation Graph stored in SQLite state</a:t>
            </a:r>
          </a:p>
          <a:p>
            <a:pPr>
              <a:spcAft>
                <a:spcPts val="800"/>
              </a:spcAft>
              <a:defRPr sz="1200">
                <a:solidFill>
                  <a:srgbClr val="E2E8F0"/>
                </a:solidFill>
                <a:latin typeface="Calibri"/>
              </a:defRPr>
            </a:pPr>
            <a:r>
              <a:t>Documents exact execution latencies via Meterless distributed tracing</a:t>
            </a:r>
          </a:p>
          <a:p>
            <a:pPr>
              <a:spcAft>
                <a:spcPts val="800"/>
              </a:spcAft>
              <a:defRPr sz="1200">
                <a:solidFill>
                  <a:srgbClr val="E2E8F0"/>
                </a:solidFill>
                <a:latin typeface="Calibri"/>
              </a:defRPr>
            </a:pPr>
            <a:r>
              <a:t>Summarizes cross-jurisdictional coordination decisions from H-Mem</a:t>
            </a:r>
          </a:p>
          <a:p>
            <a:pPr>
              <a:spcAft>
                <a:spcPts val="800"/>
              </a:spcAft>
              <a:defRPr sz="1200">
                <a:solidFill>
                  <a:srgbClr val="E2E8F0"/>
                </a:solidFill>
                <a:latin typeface="Calibri"/>
              </a:defRPr>
            </a:pPr>
            <a:r>
              <a:t>Produces executive-ready post-incident reviews for FEMA / state audits</a:t>
            </a:r>
          </a:p>
          <a:p>
            <a:pPr>
              <a:spcAft>
                <a:spcPts val="800"/>
              </a:spcAft>
              <a:defRPr sz="1200">
                <a:solidFill>
                  <a:srgbClr val="E2E8F0"/>
                </a:solidFill>
                <a:latin typeface="Calibri"/>
              </a:defRPr>
            </a:pPr>
            <a:r>
              <a:t>Extracts lessons learned for continuous agent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Case 1: Explaining the Dead-Man Override (Texas Flood)</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EF4444"/>
                </a:solidFill>
                <a:latin typeface="Calibri"/>
              </a:defRPr>
            </a:pPr>
            <a:r>
              <a:t>How CrisisMesh Explains Bypassing an Unresponsive Human Supervisor in 180s</a:t>
            </a:r>
          </a:p>
        </p:txBody>
      </p:sp>
      <p:sp>
        <p:nvSpPr>
          <p:cNvPr id="5" name="Rectangle 4"/>
          <p:cNvSpPr/>
          <p:nvPr/>
        </p:nvSpPr>
        <p:spPr>
          <a:xfrm>
            <a:off x="731520" y="1371600"/>
            <a:ext cx="5212080" cy="50292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365760"/>
          </a:xfrm>
          <a:prstGeom prst="rect">
            <a:avLst/>
          </a:prstGeom>
          <a:noFill/>
        </p:spPr>
        <p:txBody>
          <a:bodyPr wrap="square" anchor="t">
            <a:spAutoFit/>
          </a:bodyPr>
          <a:lstStyle/>
          <a:p>
            <a:pPr algn="l">
              <a:defRPr sz="1800" b="1">
                <a:solidFill>
                  <a:srgbClr val="EF4444"/>
                </a:solidFill>
                <a:latin typeface="Calibri"/>
              </a:defRPr>
            </a:pPr>
            <a:r>
              <a:t>The Historical Failure (Texas 2025)</a:t>
            </a:r>
          </a:p>
        </p:txBody>
      </p:sp>
      <p:sp>
        <p:nvSpPr>
          <p:cNvPr id="7" name="TextBox 6"/>
          <p:cNvSpPr txBox="1"/>
          <p:nvPr/>
        </p:nvSpPr>
        <p:spPr>
          <a:xfrm>
            <a:off x="914400" y="2011680"/>
            <a:ext cx="4846320" cy="4114800"/>
          </a:xfrm>
          <a:prstGeom prst="rect">
            <a:avLst/>
          </a:prstGeom>
          <a:noFill/>
        </p:spPr>
        <p:txBody>
          <a:bodyPr wrap="square">
            <a:spAutoFit/>
          </a:bodyPr>
          <a:lstStyle/>
          <a:p>
            <a:pPr>
              <a:spcAft>
                <a:spcPts val="800"/>
              </a:spcAft>
              <a:defRPr sz="1200">
                <a:solidFill>
                  <a:srgbClr val="E2E8F0"/>
                </a:solidFill>
                <a:latin typeface="Calibri"/>
              </a:defRPr>
            </a:pPr>
            <a:r>
              <a:t>Guadalupe River surged 34 feet in under 3 hours at 01:00 AM</a:t>
            </a:r>
          </a:p>
          <a:p>
            <a:pPr>
              <a:spcAft>
                <a:spcPts val="800"/>
              </a:spcAft>
              <a:defRPr sz="1200">
                <a:solidFill>
                  <a:srgbClr val="E2E8F0"/>
                </a:solidFill>
                <a:latin typeface="Calibri"/>
              </a:defRPr>
            </a:pPr>
            <a:r>
              <a:t>Automated river gauge triggered critical flood alarm at state ops center</a:t>
            </a:r>
          </a:p>
          <a:p>
            <a:pPr>
              <a:spcAft>
                <a:spcPts val="800"/>
              </a:spcAft>
              <a:defRPr sz="1200">
                <a:solidFill>
                  <a:srgbClr val="E2E8F0"/>
                </a:solidFill>
                <a:latin typeface="Calibri"/>
              </a:defRPr>
            </a:pPr>
            <a:r>
              <a:t>System required manual human confirmation before broadcasting</a:t>
            </a:r>
          </a:p>
          <a:p>
            <a:pPr>
              <a:spcAft>
                <a:spcPts val="800"/>
              </a:spcAft>
              <a:defRPr sz="1200">
                <a:solidFill>
                  <a:srgbClr val="E2E8F0"/>
                </a:solidFill>
                <a:latin typeface="Calibri"/>
              </a:defRPr>
            </a:pPr>
            <a:r>
              <a:t>The on-duty emergency supervisor fell asleep; alert sat idle for 4 hours</a:t>
            </a:r>
          </a:p>
          <a:p>
            <a:pPr>
              <a:spcAft>
                <a:spcPts val="800"/>
              </a:spcAft>
              <a:defRPr sz="1200">
                <a:solidFill>
                  <a:srgbClr val="E2E8F0"/>
                </a:solidFill>
                <a:latin typeface="Calibri"/>
              </a:defRPr>
            </a:pPr>
            <a:r>
              <a:t>Result: Zero evacuation warnings reached downstream RV parks and campers</a:t>
            </a:r>
          </a:p>
        </p:txBody>
      </p:sp>
      <p:sp>
        <p:nvSpPr>
          <p:cNvPr id="8" name="Rectangle 7"/>
          <p:cNvSpPr/>
          <p:nvPr/>
        </p:nvSpPr>
        <p:spPr>
          <a:xfrm>
            <a:off x="6217920" y="1371600"/>
            <a:ext cx="5212080" cy="5029200"/>
          </a:xfrm>
          <a:prstGeom prst="rect">
            <a:avLst/>
          </a:prstGeom>
          <a:solidFill>
            <a:srgbClr val="0F172A"/>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365760"/>
          </a:xfrm>
          <a:prstGeom prst="rect">
            <a:avLst/>
          </a:prstGeom>
          <a:noFill/>
        </p:spPr>
        <p:txBody>
          <a:bodyPr wrap="square" anchor="t">
            <a:spAutoFit/>
          </a:bodyPr>
          <a:lstStyle/>
          <a:p>
            <a:pPr algn="l">
              <a:defRPr sz="1800" b="1">
                <a:solidFill>
                  <a:srgbClr val="22C55E"/>
                </a:solidFill>
                <a:latin typeface="Calibri"/>
              </a:defRPr>
            </a:pPr>
            <a:r>
              <a:t>CrisisMesh Autonomous Explanation Output</a:t>
            </a:r>
          </a:p>
        </p:txBody>
      </p:sp>
      <p:sp>
        <p:nvSpPr>
          <p:cNvPr id="10" name="TextBox 9"/>
          <p:cNvSpPr txBox="1"/>
          <p:nvPr/>
        </p:nvSpPr>
        <p:spPr>
          <a:xfrm>
            <a:off x="6400800" y="2103120"/>
            <a:ext cx="4846320" cy="3931920"/>
          </a:xfrm>
          <a:prstGeom prst="rect">
            <a:avLst/>
          </a:prstGeom>
          <a:noFill/>
        </p:spPr>
        <p:txBody>
          <a:bodyPr wrap="square" anchor="t">
            <a:spAutoFit/>
          </a:bodyPr>
          <a:lstStyle/>
          <a:p>
            <a:pPr algn="l">
              <a:defRPr sz="1100" b="0">
                <a:solidFill>
                  <a:srgbClr val="22C55E"/>
                </a:solidFill>
                <a:latin typeface="Consolas"/>
              </a:defRPr>
            </a:pPr>
            <a:r>
              <a:t>{</a:t>
            </a:r>
            <a:br/>
            <a:r>
              <a:t>  "action": "AUTONOMOUS_ALERT_DISPATCH",</a:t>
            </a:r>
            <a:br/>
            <a:r>
              <a:t>  "override_reason": "Supervisor unacknowledged &gt; 180s",</a:t>
            </a:r>
            <a:br/>
            <a:r>
              <a:t>  "evidence": {</a:t>
            </a:r>
            <a:br/>
            <a:r>
              <a:t>    "gauge_id": "GUADALUPE_01",</a:t>
            </a:r>
            <a:br/>
            <a:r>
              <a:t>    "crest_observed": "34.2 ft (Critical: &gt;28 ft)",</a:t>
            </a:r>
            <a:br/>
            <a:r>
              <a:t>    "surge_velocity": "+12.4 ft/hr",</a:t>
            </a:r>
            <a:br/>
            <a:r>
              <a:t>    "time_to_impact": "14 minutes to RV Park"</a:t>
            </a:r>
            <a:br/>
            <a:r>
              <a:t>  },</a:t>
            </a:r>
            <a:br/>
            <a:r>
              <a:t>  "legal_authorization": {</a:t>
            </a:r>
            <a:br/>
            <a:r>
              <a:t>    "sop_id": "TX-SOP-FLASHFLOOD-7",</a:t>
            </a:r>
            <a:br/>
            <a:r>
              <a:t>    "rule": "Autonomous failover triggered when\n             downstream lives &gt; 500 &amp; delay &gt; 3 min"</a:t>
            </a:r>
            <a:br/>
            <a:r>
              <a:t>  },</a:t>
            </a:r>
            <a:br/>
            <a:r>
              <a:t>  "audit_status": "VERIFIED_AND_LOGGED"</a:t>
            </a: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Case 2: Forensic Contradiction Resolution (Libya Derna)</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Explaining Why the Agent Overrode an Official Curfew Order During Dam Failure</a:t>
            </a:r>
          </a:p>
        </p:txBody>
      </p:sp>
      <p:sp>
        <p:nvSpPr>
          <p:cNvPr id="5" name="Rectangle 4"/>
          <p:cNvSpPr/>
          <p:nvPr/>
        </p:nvSpPr>
        <p:spPr>
          <a:xfrm>
            <a:off x="731520" y="1371600"/>
            <a:ext cx="5212080" cy="50292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365760"/>
          </a:xfrm>
          <a:prstGeom prst="rect">
            <a:avLst/>
          </a:prstGeom>
          <a:noFill/>
        </p:spPr>
        <p:txBody>
          <a:bodyPr wrap="square" anchor="t">
            <a:spAutoFit/>
          </a:bodyPr>
          <a:lstStyle/>
          <a:p>
            <a:pPr algn="l">
              <a:defRPr sz="1800" b="1">
                <a:solidFill>
                  <a:srgbClr val="EF4444"/>
                </a:solidFill>
                <a:latin typeface="Calibri"/>
              </a:defRPr>
            </a:pPr>
            <a:r>
              <a:t>The Official Contradiction (Libya 2023)</a:t>
            </a:r>
          </a:p>
        </p:txBody>
      </p:sp>
      <p:sp>
        <p:nvSpPr>
          <p:cNvPr id="7" name="TextBox 6"/>
          <p:cNvSpPr txBox="1"/>
          <p:nvPr/>
        </p:nvSpPr>
        <p:spPr>
          <a:xfrm>
            <a:off x="914400" y="2011680"/>
            <a:ext cx="4846320" cy="4114800"/>
          </a:xfrm>
          <a:prstGeom prst="rect">
            <a:avLst/>
          </a:prstGeom>
          <a:noFill/>
        </p:spPr>
        <p:txBody>
          <a:bodyPr wrap="square">
            <a:spAutoFit/>
          </a:bodyPr>
          <a:lstStyle/>
          <a:p>
            <a:pPr>
              <a:spcAft>
                <a:spcPts val="800"/>
              </a:spcAft>
              <a:defRPr sz="1200">
                <a:solidFill>
                  <a:srgbClr val="E2E8F0"/>
                </a:solidFill>
                <a:latin typeface="Calibri"/>
              </a:defRPr>
            </a:pPr>
            <a:r>
              <a:t>18:00 - Officials order city-wide curfew: citizens instructed to stay in homes</a:t>
            </a:r>
          </a:p>
          <a:p>
            <a:pPr>
              <a:spcAft>
                <a:spcPts val="800"/>
              </a:spcAft>
              <a:defRPr sz="1200">
                <a:solidFill>
                  <a:srgbClr val="E2E8F0"/>
                </a:solidFill>
                <a:latin typeface="Calibri"/>
              </a:defRPr>
            </a:pPr>
            <a:r>
              <a:t>01:00 - Upper Derna dam collapses; 30 million cubic meters release into gorge</a:t>
            </a:r>
          </a:p>
          <a:p>
            <a:pPr>
              <a:spcAft>
                <a:spcPts val="800"/>
              </a:spcAft>
              <a:defRPr sz="1200">
                <a:solidFill>
                  <a:srgbClr val="E2E8F0"/>
                </a:solidFill>
                <a:latin typeface="Calibri"/>
              </a:defRPr>
            </a:pPr>
            <a:r>
              <a:t>01:19 - Evacuation sirens sound 19 minutes AFTER the flood wave hits town</a:t>
            </a:r>
          </a:p>
          <a:p>
            <a:pPr>
              <a:spcAft>
                <a:spcPts val="800"/>
              </a:spcAft>
              <a:defRPr sz="1200">
                <a:solidFill>
                  <a:srgbClr val="E2E8F0"/>
                </a:solidFill>
                <a:latin typeface="Calibri"/>
              </a:defRPr>
            </a:pPr>
            <a:r>
              <a:t>Curfew trapped thousands inside ground-floor homes along the riverbed</a:t>
            </a:r>
          </a:p>
          <a:p>
            <a:pPr>
              <a:spcAft>
                <a:spcPts val="800"/>
              </a:spcAft>
              <a:defRPr sz="1200">
                <a:solidFill>
                  <a:srgbClr val="E2E8F0"/>
                </a:solidFill>
                <a:latin typeface="Calibri"/>
              </a:defRPr>
            </a:pPr>
            <a:r>
              <a:t>Root cause: Bureaucracy refused to contradict initial curfew guidance</a:t>
            </a:r>
          </a:p>
        </p:txBody>
      </p:sp>
      <p:sp>
        <p:nvSpPr>
          <p:cNvPr id="8" name="Rectangle 7"/>
          <p:cNvSpPr/>
          <p:nvPr/>
        </p:nvSpPr>
        <p:spPr>
          <a:xfrm>
            <a:off x="6217920" y="1371600"/>
            <a:ext cx="5212080" cy="5029200"/>
          </a:xfrm>
          <a:prstGeom prst="rect">
            <a:avLst/>
          </a:prstGeom>
          <a:solidFill>
            <a:srgbClr val="0F172A"/>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365760"/>
          </a:xfrm>
          <a:prstGeom prst="rect">
            <a:avLst/>
          </a:prstGeom>
          <a:noFill/>
        </p:spPr>
        <p:txBody>
          <a:bodyPr wrap="square" anchor="t">
            <a:spAutoFit/>
          </a:bodyPr>
          <a:lstStyle/>
          <a:p>
            <a:pPr algn="l">
              <a:defRPr sz="1800" b="1">
                <a:solidFill>
                  <a:srgbClr val="06B6D4"/>
                </a:solidFill>
                <a:latin typeface="Calibri"/>
              </a:defRPr>
            </a:pPr>
            <a:r>
              <a:t>CrisisMesh Contradiction Explanation</a:t>
            </a:r>
          </a:p>
        </p:txBody>
      </p:sp>
      <p:sp>
        <p:nvSpPr>
          <p:cNvPr id="10" name="TextBox 9"/>
          <p:cNvSpPr txBox="1"/>
          <p:nvPr/>
        </p:nvSpPr>
        <p:spPr>
          <a:xfrm>
            <a:off x="6400800" y="2103120"/>
            <a:ext cx="4846320" cy="3931920"/>
          </a:xfrm>
          <a:prstGeom prst="rect">
            <a:avLst/>
          </a:prstGeom>
          <a:noFill/>
        </p:spPr>
        <p:txBody>
          <a:bodyPr wrap="square" anchor="t">
            <a:spAutoFit/>
          </a:bodyPr>
          <a:lstStyle/>
          <a:p>
            <a:pPr algn="l">
              <a:defRPr sz="1100" b="0">
                <a:solidFill>
                  <a:srgbClr val="06B6D4"/>
                </a:solidFill>
                <a:latin typeface="Consolas"/>
              </a:defRPr>
            </a:pPr>
            <a:r>
              <a:t>{</a:t>
            </a:r>
            <a:br/>
            <a:r>
              <a:t>  "action": "OVERRIDE_AND_EVACUATE",</a:t>
            </a:r>
            <a:br/>
            <a:r>
              <a:t>  "conflict_detected": {</a:t>
            </a:r>
            <a:br/>
            <a:r>
              <a:t>    "directive_1": "Official Curfew (Stay Indoors)",</a:t>
            </a:r>
            <a:br/>
            <a:r>
              <a:t>    "physical_state": "Dam Breach Confirmed (SAR Radar)"</a:t>
            </a:r>
            <a:br/>
            <a:r>
              <a:t>  },</a:t>
            </a:r>
            <a:br/>
            <a:r>
              <a:t>  "why_overridden": [</a:t>
            </a:r>
            <a:br/>
            <a:r>
              <a:t>    "Inundation polygon predicts 4.2m flood depth",</a:t>
            </a:r>
            <a:br/>
            <a:r>
              <a:t>    "Single-story structures in Sector 1 will submerge",</a:t>
            </a:r>
            <a:br/>
            <a:r>
              <a:t>    "Shelter-in-place carries 100% mortality probability"</a:t>
            </a:r>
            <a:br/>
            <a:r>
              <a:t>  ],</a:t>
            </a:r>
            <a:br/>
            <a:r>
              <a:t>  "corrective_action": {</a:t>
            </a:r>
            <a:br/>
            <a:r>
              <a:t>    "command": "MANDATORY_UPHILL_EVACUATION",</a:t>
            </a:r>
            <a:br/>
            <a:r>
              <a:t>    "evacuation_corridor": "Highland Ridge Route 4",</a:t>
            </a:r>
            <a:br/>
            <a:r>
              <a:t>    "languages": ["Arabic", "English", "French"]</a:t>
            </a:r>
            <a:br/>
            <a:r>
              <a:t>  }</a:t>
            </a: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Case 3: Capability &amp; Spatial Explanations</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Explaining Why Assets Were Chosen and Why Geofence Polygons Were Bounded</a:t>
            </a:r>
          </a:p>
        </p:txBody>
      </p:sp>
      <p:sp>
        <p:nvSpPr>
          <p:cNvPr id="5" name="Rectangle 4"/>
          <p:cNvSpPr/>
          <p:nvPr/>
        </p:nvSpPr>
        <p:spPr>
          <a:xfrm>
            <a:off x="731520" y="1371600"/>
            <a:ext cx="5212080" cy="502920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365760"/>
          </a:xfrm>
          <a:prstGeom prst="rect">
            <a:avLst/>
          </a:prstGeom>
          <a:noFill/>
        </p:spPr>
        <p:txBody>
          <a:bodyPr wrap="square" anchor="t">
            <a:spAutoFit/>
          </a:bodyPr>
          <a:lstStyle/>
          <a:p>
            <a:pPr algn="l">
              <a:defRPr sz="1800" b="1">
                <a:solidFill>
                  <a:srgbClr val="22C55E"/>
                </a:solidFill>
                <a:latin typeface="Calibri"/>
              </a:defRPr>
            </a:pPr>
            <a:r>
              <a:t>Spatial Precision: LA Wildfires 2025</a:t>
            </a:r>
          </a:p>
        </p:txBody>
      </p:sp>
      <p:sp>
        <p:nvSpPr>
          <p:cNvPr id="7" name="TextBox 6"/>
          <p:cNvSpPr txBox="1"/>
          <p:nvPr/>
        </p:nvSpPr>
        <p:spPr>
          <a:xfrm>
            <a:off x="914400" y="2011680"/>
            <a:ext cx="4846320" cy="4114800"/>
          </a:xfrm>
          <a:prstGeom prst="rect">
            <a:avLst/>
          </a:prstGeom>
          <a:noFill/>
        </p:spPr>
        <p:txBody>
          <a:bodyPr wrap="square">
            <a:spAutoFit/>
          </a:bodyPr>
          <a:lstStyle/>
          <a:p>
            <a:pPr>
              <a:spcAft>
                <a:spcPts val="800"/>
              </a:spcAft>
              <a:defRPr sz="1200">
                <a:solidFill>
                  <a:srgbClr val="E2E8F0"/>
                </a:solidFill>
                <a:latin typeface="Calibri"/>
              </a:defRPr>
            </a:pPr>
            <a:r>
              <a:t>Problem: Cell broadcast warned 10M people across LA County, but missed canyon victims.</a:t>
            </a:r>
          </a:p>
          <a:p>
            <a:pPr>
              <a:spcAft>
                <a:spcPts val="800"/>
              </a:spcAft>
              <a:defRPr sz="1200">
                <a:solidFill>
                  <a:srgbClr val="E2E8F0"/>
                </a:solidFill>
                <a:latin typeface="Calibri"/>
              </a:defRPr>
            </a:pPr>
            <a:r>
              <a:t>Why CrisisMesh Bounded the Geofence:</a:t>
            </a:r>
          </a:p>
          <a:p>
            <a:pPr>
              <a:spcAft>
                <a:spcPts val="800"/>
              </a:spcAft>
              <a:defRPr sz="1200">
                <a:solidFill>
                  <a:srgbClr val="E2E8F0"/>
                </a:solidFill>
                <a:latin typeface="Calibri"/>
              </a:defRPr>
            </a:pPr>
            <a:r>
              <a:t>• Calculated Santa Ana wind vector: 48 knots @ 240°</a:t>
            </a:r>
          </a:p>
          <a:p>
            <a:pPr>
              <a:spcAft>
                <a:spcPts val="800"/>
              </a:spcAft>
              <a:defRPr sz="1200">
                <a:solidFill>
                  <a:srgbClr val="E2E8F0"/>
                </a:solidFill>
                <a:latin typeface="Calibri"/>
              </a:defRPr>
            </a:pPr>
            <a:r>
              <a:t>• Formed downwind elliptical polygon (Area: 14.2 sq km)</a:t>
            </a:r>
          </a:p>
          <a:p>
            <a:pPr>
              <a:spcAft>
                <a:spcPts val="800"/>
              </a:spcAft>
              <a:defRPr sz="1200">
                <a:solidFill>
                  <a:srgbClr val="E2E8F0"/>
                </a:solidFill>
                <a:latin typeface="Calibri"/>
              </a:defRPr>
            </a:pPr>
            <a:r>
              <a:t>• Evaluator Gate rejected county-wide blast (&gt;5x buffer)</a:t>
            </a:r>
          </a:p>
          <a:p>
            <a:pPr>
              <a:spcAft>
                <a:spcPts val="800"/>
              </a:spcAft>
              <a:defRPr sz="1200">
                <a:solidFill>
                  <a:srgbClr val="E2E8F0"/>
                </a:solidFill>
                <a:latin typeface="Calibri"/>
              </a:defRPr>
            </a:pPr>
            <a:r>
              <a:t>• Result: Sirens targeted only those in the smoke &amp; fire path</a:t>
            </a:r>
          </a:p>
        </p:txBody>
      </p:sp>
      <p:sp>
        <p:nvSpPr>
          <p:cNvPr id="8" name="Rectangle 7"/>
          <p:cNvSpPr/>
          <p:nvPr/>
        </p:nvSpPr>
        <p:spPr>
          <a:xfrm>
            <a:off x="6217920" y="1371600"/>
            <a:ext cx="5212080" cy="50292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365760"/>
          </a:xfrm>
          <a:prstGeom prst="rect">
            <a:avLst/>
          </a:prstGeom>
          <a:noFill/>
        </p:spPr>
        <p:txBody>
          <a:bodyPr wrap="square" anchor="t">
            <a:spAutoFit/>
          </a:bodyPr>
          <a:lstStyle/>
          <a:p>
            <a:pPr algn="l">
              <a:defRPr sz="1800" b="1">
                <a:solidFill>
                  <a:srgbClr val="3B82F6"/>
                </a:solidFill>
                <a:latin typeface="Calibri"/>
              </a:defRPr>
            </a:pPr>
            <a:r>
              <a:t>Capability Matching: Nepal Tunnels 2026</a:t>
            </a:r>
          </a:p>
        </p:txBody>
      </p:sp>
      <p:sp>
        <p:nvSpPr>
          <p:cNvPr id="10" name="TextBox 9"/>
          <p:cNvSpPr txBox="1"/>
          <p:nvPr/>
        </p:nvSpPr>
        <p:spPr>
          <a:xfrm>
            <a:off x="6400800" y="2011680"/>
            <a:ext cx="4846320" cy="4114800"/>
          </a:xfrm>
          <a:prstGeom prst="rect">
            <a:avLst/>
          </a:prstGeom>
          <a:noFill/>
        </p:spPr>
        <p:txBody>
          <a:bodyPr wrap="square">
            <a:spAutoFit/>
          </a:bodyPr>
          <a:lstStyle/>
          <a:p>
            <a:pPr>
              <a:spcAft>
                <a:spcPts val="800"/>
              </a:spcAft>
              <a:defRPr sz="1200">
                <a:solidFill>
                  <a:srgbClr val="E2E8F0"/>
                </a:solidFill>
                <a:latin typeface="Calibri"/>
              </a:defRPr>
            </a:pPr>
            <a:r>
              <a:t>Problem: 500 workers trapped in flooded tunnel; surface dispatched standard fire engines.</a:t>
            </a:r>
          </a:p>
          <a:p>
            <a:pPr>
              <a:spcAft>
                <a:spcPts val="800"/>
              </a:spcAft>
              <a:defRPr sz="1200">
                <a:solidFill>
                  <a:srgbClr val="E2E8F0"/>
                </a:solidFill>
                <a:latin typeface="Calibri"/>
              </a:defRPr>
            </a:pPr>
            <a:r>
              <a:t>Why CrisisMesh Selected Specialized Assets:</a:t>
            </a:r>
          </a:p>
          <a:p>
            <a:pPr>
              <a:spcAft>
                <a:spcPts val="800"/>
              </a:spcAft>
              <a:defRPr sz="1200">
                <a:solidFill>
                  <a:srgbClr val="E2E8F0"/>
                </a:solidFill>
                <a:latin typeface="Calibri"/>
              </a:defRPr>
            </a:pPr>
            <a:r>
              <a:t>• Rejected Standard Fire Truck: Exceeds 2.8m portal width</a:t>
            </a:r>
          </a:p>
          <a:p>
            <a:pPr>
              <a:spcAft>
                <a:spcPts val="800"/>
              </a:spcAft>
              <a:defRPr sz="1200">
                <a:solidFill>
                  <a:srgbClr val="E2E8F0"/>
                </a:solidFill>
                <a:latin typeface="Calibri"/>
              </a:defRPr>
            </a:pPr>
            <a:r>
              <a:t>• Rejected High-Clearance 4x4: Water depth (1.8m) exceeds engine intake</a:t>
            </a:r>
          </a:p>
          <a:p>
            <a:pPr>
              <a:spcAft>
                <a:spcPts val="800"/>
              </a:spcAft>
              <a:defRPr sz="1200">
                <a:solidFill>
                  <a:srgbClr val="E2E8F0"/>
                </a:solidFill>
                <a:latin typeface="Calibri"/>
              </a:defRPr>
            </a:pPr>
            <a:r>
              <a:t>• Dispatched Confined-Space DMAT: SCBA gear for CO2 &gt; 800ppm</a:t>
            </a:r>
          </a:p>
          <a:p>
            <a:pPr>
              <a:spcAft>
                <a:spcPts val="800"/>
              </a:spcAft>
              <a:defRPr sz="1200">
                <a:solidFill>
                  <a:srgbClr val="E2E8F0"/>
                </a:solidFill>
                <a:latin typeface="Calibri"/>
              </a:defRPr>
            </a:pPr>
            <a:r>
              <a:t>• Dispatched Tethered LiDAR Drones: Zero GPS underground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The 10-Point Safety Critique Gate (Evaluator)</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06B6D4"/>
                </a:solidFill>
                <a:latin typeface="Calibri"/>
              </a:defRPr>
            </a:pPr>
            <a:r>
              <a:t>Mathematical Quality Criteria With Explicit Rejection Explanations</a:t>
            </a:r>
          </a:p>
        </p:txBody>
      </p:sp>
      <p:sp>
        <p:nvSpPr>
          <p:cNvPr id="5" name="Rectangle 4"/>
          <p:cNvSpPr/>
          <p:nvPr/>
        </p:nvSpPr>
        <p:spPr>
          <a:xfrm>
            <a:off x="731520" y="1325880"/>
            <a:ext cx="5257800" cy="896112"/>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99032"/>
            <a:ext cx="2926080" cy="274320"/>
          </a:xfrm>
          <a:prstGeom prst="rect">
            <a:avLst/>
          </a:prstGeom>
          <a:noFill/>
        </p:spPr>
        <p:txBody>
          <a:bodyPr wrap="square" anchor="t">
            <a:spAutoFit/>
          </a:bodyPr>
          <a:lstStyle/>
          <a:p>
            <a:pPr algn="l">
              <a:defRPr sz="1300" b="1">
                <a:solidFill>
                  <a:srgbClr val="22C55E"/>
                </a:solidFill>
                <a:latin typeface="Calibri"/>
              </a:defRPr>
            </a:pPr>
            <a:r>
              <a:t>polygon_accuracy</a:t>
            </a:r>
          </a:p>
        </p:txBody>
      </p:sp>
      <p:sp>
        <p:nvSpPr>
          <p:cNvPr id="7" name="TextBox 6"/>
          <p:cNvSpPr txBox="1"/>
          <p:nvPr/>
        </p:nvSpPr>
        <p:spPr>
          <a:xfrm>
            <a:off x="3840480" y="1399032"/>
            <a:ext cx="2011680" cy="274320"/>
          </a:xfrm>
          <a:prstGeom prst="rect">
            <a:avLst/>
          </a:prstGeom>
          <a:noFill/>
        </p:spPr>
        <p:txBody>
          <a:bodyPr wrap="square" anchor="t">
            <a:spAutoFit/>
          </a:bodyPr>
          <a:lstStyle/>
          <a:p>
            <a:pPr algn="r">
              <a:defRPr sz="1100" b="1">
                <a:solidFill>
                  <a:srgbClr val="FFFFFF"/>
                </a:solidFill>
                <a:latin typeface="Calibri"/>
              </a:defRPr>
            </a:pPr>
            <a:r>
              <a:t>Weight: 20%  |  Min: 0.80</a:t>
            </a:r>
          </a:p>
        </p:txBody>
      </p:sp>
      <p:sp>
        <p:nvSpPr>
          <p:cNvPr id="8" name="TextBox 7"/>
          <p:cNvSpPr txBox="1"/>
          <p:nvPr/>
        </p:nvSpPr>
        <p:spPr>
          <a:xfrm>
            <a:off x="868680" y="1709928"/>
            <a:ext cx="4983480" cy="457200"/>
          </a:xfrm>
          <a:prstGeom prst="rect">
            <a:avLst/>
          </a:prstGeom>
          <a:noFill/>
        </p:spPr>
        <p:txBody>
          <a:bodyPr wrap="square" anchor="t">
            <a:spAutoFit/>
          </a:bodyPr>
          <a:lstStyle/>
          <a:p>
            <a:pPr algn="l">
              <a:defRPr sz="1100" b="0">
                <a:solidFill>
                  <a:srgbClr val="E2E8F0"/>
                </a:solidFill>
                <a:latin typeface="Calibri"/>
              </a:defRPr>
            </a:pPr>
            <a:r>
              <a:t>Alert polygon accurately bounds hazard without over/under coverage</a:t>
            </a:r>
          </a:p>
        </p:txBody>
      </p:sp>
      <p:sp>
        <p:nvSpPr>
          <p:cNvPr id="9" name="Rectangle 8"/>
          <p:cNvSpPr/>
          <p:nvPr/>
        </p:nvSpPr>
        <p:spPr>
          <a:xfrm>
            <a:off x="6172200" y="1325880"/>
            <a:ext cx="5257800" cy="896112"/>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399032"/>
            <a:ext cx="2926080" cy="274320"/>
          </a:xfrm>
          <a:prstGeom prst="rect">
            <a:avLst/>
          </a:prstGeom>
          <a:noFill/>
        </p:spPr>
        <p:txBody>
          <a:bodyPr wrap="square" anchor="t">
            <a:spAutoFit/>
          </a:bodyPr>
          <a:lstStyle/>
          <a:p>
            <a:pPr algn="l">
              <a:defRPr sz="1300" b="1">
                <a:solidFill>
                  <a:srgbClr val="3B82F6"/>
                </a:solidFill>
                <a:latin typeface="Calibri"/>
              </a:defRPr>
            </a:pPr>
            <a:r>
              <a:t>alert_timeliness</a:t>
            </a:r>
          </a:p>
        </p:txBody>
      </p:sp>
      <p:sp>
        <p:nvSpPr>
          <p:cNvPr id="11" name="TextBox 10"/>
          <p:cNvSpPr txBox="1"/>
          <p:nvPr/>
        </p:nvSpPr>
        <p:spPr>
          <a:xfrm>
            <a:off x="9281160" y="1399032"/>
            <a:ext cx="2011680" cy="274320"/>
          </a:xfrm>
          <a:prstGeom prst="rect">
            <a:avLst/>
          </a:prstGeom>
          <a:noFill/>
        </p:spPr>
        <p:txBody>
          <a:bodyPr wrap="square" anchor="t">
            <a:spAutoFit/>
          </a:bodyPr>
          <a:lstStyle/>
          <a:p>
            <a:pPr algn="r">
              <a:defRPr sz="1100" b="1">
                <a:solidFill>
                  <a:srgbClr val="FFFFFF"/>
                </a:solidFill>
                <a:latin typeface="Calibri"/>
              </a:defRPr>
            </a:pPr>
            <a:r>
              <a:t>Weight: 20%  |  Min: 0.80</a:t>
            </a:r>
          </a:p>
        </p:txBody>
      </p:sp>
      <p:sp>
        <p:nvSpPr>
          <p:cNvPr id="12" name="TextBox 11"/>
          <p:cNvSpPr txBox="1"/>
          <p:nvPr/>
        </p:nvSpPr>
        <p:spPr>
          <a:xfrm>
            <a:off x="6309360" y="1709928"/>
            <a:ext cx="4983480" cy="457200"/>
          </a:xfrm>
          <a:prstGeom prst="rect">
            <a:avLst/>
          </a:prstGeom>
          <a:noFill/>
        </p:spPr>
        <p:txBody>
          <a:bodyPr wrap="square" anchor="t">
            <a:spAutoFit/>
          </a:bodyPr>
          <a:lstStyle/>
          <a:p>
            <a:pPr algn="l">
              <a:defRPr sz="1100" b="0">
                <a:solidFill>
                  <a:srgbClr val="E2E8F0"/>
                </a:solidFill>
                <a:latin typeface="Calibri"/>
              </a:defRPr>
            </a:pPr>
            <a:r>
              <a:t>Alerts dispatched within 180s Dead-Man Switch SLA</a:t>
            </a:r>
          </a:p>
        </p:txBody>
      </p:sp>
      <p:sp>
        <p:nvSpPr>
          <p:cNvPr id="13" name="Rectangle 12"/>
          <p:cNvSpPr/>
          <p:nvPr/>
        </p:nvSpPr>
        <p:spPr>
          <a:xfrm>
            <a:off x="731520" y="2313432"/>
            <a:ext cx="5257800" cy="896112"/>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386584"/>
            <a:ext cx="2926080" cy="274320"/>
          </a:xfrm>
          <a:prstGeom prst="rect">
            <a:avLst/>
          </a:prstGeom>
          <a:noFill/>
        </p:spPr>
        <p:txBody>
          <a:bodyPr wrap="square" anchor="t">
            <a:spAutoFit/>
          </a:bodyPr>
          <a:lstStyle/>
          <a:p>
            <a:pPr algn="l">
              <a:defRPr sz="1300" b="1">
                <a:solidFill>
                  <a:srgbClr val="EF4444"/>
                </a:solidFill>
                <a:latin typeface="Calibri"/>
              </a:defRPr>
            </a:pPr>
            <a:r>
              <a:t>contradiction_caught</a:t>
            </a:r>
          </a:p>
        </p:txBody>
      </p:sp>
      <p:sp>
        <p:nvSpPr>
          <p:cNvPr id="15" name="TextBox 14"/>
          <p:cNvSpPr txBox="1"/>
          <p:nvPr/>
        </p:nvSpPr>
        <p:spPr>
          <a:xfrm>
            <a:off x="3840480" y="2386584"/>
            <a:ext cx="2011680" cy="274320"/>
          </a:xfrm>
          <a:prstGeom prst="rect">
            <a:avLst/>
          </a:prstGeom>
          <a:noFill/>
        </p:spPr>
        <p:txBody>
          <a:bodyPr wrap="square" anchor="t">
            <a:spAutoFit/>
          </a:bodyPr>
          <a:lstStyle/>
          <a:p>
            <a:pPr algn="r">
              <a:defRPr sz="1100" b="1">
                <a:solidFill>
                  <a:srgbClr val="FFFFFF"/>
                </a:solidFill>
                <a:latin typeface="Calibri"/>
              </a:defRPr>
            </a:pPr>
            <a:r>
              <a:t>Weight: 20%  |  Min: 0.95</a:t>
            </a:r>
          </a:p>
        </p:txBody>
      </p:sp>
      <p:sp>
        <p:nvSpPr>
          <p:cNvPr id="16" name="TextBox 15"/>
          <p:cNvSpPr txBox="1"/>
          <p:nvPr/>
        </p:nvSpPr>
        <p:spPr>
          <a:xfrm>
            <a:off x="868680" y="2697480"/>
            <a:ext cx="4983480" cy="457200"/>
          </a:xfrm>
          <a:prstGeom prst="rect">
            <a:avLst/>
          </a:prstGeom>
          <a:noFill/>
        </p:spPr>
        <p:txBody>
          <a:bodyPr wrap="square" anchor="t">
            <a:spAutoFit/>
          </a:bodyPr>
          <a:lstStyle/>
          <a:p>
            <a:pPr algn="l">
              <a:defRPr sz="1100" b="0">
                <a:solidFill>
                  <a:srgbClr val="E2E8F0"/>
                </a:solidFill>
                <a:latin typeface="Calibri"/>
              </a:defRPr>
            </a:pPr>
            <a:r>
              <a:t>Contradictory orders (curfew in flood zone) blocked &amp; explained</a:t>
            </a:r>
          </a:p>
        </p:txBody>
      </p:sp>
      <p:sp>
        <p:nvSpPr>
          <p:cNvPr id="17" name="Rectangle 16"/>
          <p:cNvSpPr/>
          <p:nvPr/>
        </p:nvSpPr>
        <p:spPr>
          <a:xfrm>
            <a:off x="6172200" y="2313432"/>
            <a:ext cx="5257800" cy="896112"/>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86584"/>
            <a:ext cx="2926080" cy="274320"/>
          </a:xfrm>
          <a:prstGeom prst="rect">
            <a:avLst/>
          </a:prstGeom>
          <a:noFill/>
        </p:spPr>
        <p:txBody>
          <a:bodyPr wrap="square" anchor="t">
            <a:spAutoFit/>
          </a:bodyPr>
          <a:lstStyle/>
          <a:p>
            <a:pPr algn="l">
              <a:defRPr sz="1300" b="1">
                <a:solidFill>
                  <a:srgbClr val="F97316"/>
                </a:solidFill>
                <a:latin typeface="Calibri"/>
              </a:defRPr>
            </a:pPr>
            <a:r>
              <a:t>polygon_precision</a:t>
            </a:r>
          </a:p>
        </p:txBody>
      </p:sp>
      <p:sp>
        <p:nvSpPr>
          <p:cNvPr id="19" name="TextBox 18"/>
          <p:cNvSpPr txBox="1"/>
          <p:nvPr/>
        </p:nvSpPr>
        <p:spPr>
          <a:xfrm>
            <a:off x="9281160" y="2386584"/>
            <a:ext cx="2011680" cy="274320"/>
          </a:xfrm>
          <a:prstGeom prst="rect">
            <a:avLst/>
          </a:prstGeom>
          <a:noFill/>
        </p:spPr>
        <p:txBody>
          <a:bodyPr wrap="square" anchor="t">
            <a:spAutoFit/>
          </a:bodyPr>
          <a:lstStyle/>
          <a:p>
            <a:pPr algn="r">
              <a:defRPr sz="1100" b="1">
                <a:solidFill>
                  <a:srgbClr val="FFFFFF"/>
                </a:solidFill>
                <a:latin typeface="Calibri"/>
              </a:defRPr>
            </a:pPr>
            <a:r>
              <a:t>Weight: 15%  |  Min: 0.80</a:t>
            </a:r>
          </a:p>
        </p:txBody>
      </p:sp>
      <p:sp>
        <p:nvSpPr>
          <p:cNvPr id="20" name="TextBox 19"/>
          <p:cNvSpPr txBox="1"/>
          <p:nvPr/>
        </p:nvSpPr>
        <p:spPr>
          <a:xfrm>
            <a:off x="6309360" y="2697480"/>
            <a:ext cx="4983480" cy="457200"/>
          </a:xfrm>
          <a:prstGeom prst="rect">
            <a:avLst/>
          </a:prstGeom>
          <a:noFill/>
        </p:spPr>
        <p:txBody>
          <a:bodyPr wrap="square" anchor="t">
            <a:spAutoFit/>
          </a:bodyPr>
          <a:lstStyle/>
          <a:p>
            <a:pPr algn="l">
              <a:defRPr sz="1100" b="0">
                <a:solidFill>
                  <a:srgbClr val="E2E8F0"/>
                </a:solidFill>
                <a:latin typeface="Calibri"/>
              </a:defRPr>
            </a:pPr>
            <a:r>
              <a:t>Blocks county-wide blasts &gt;5x actual hazard footprint</a:t>
            </a:r>
          </a:p>
        </p:txBody>
      </p:sp>
      <p:sp>
        <p:nvSpPr>
          <p:cNvPr id="21" name="Rectangle 20"/>
          <p:cNvSpPr/>
          <p:nvPr/>
        </p:nvSpPr>
        <p:spPr>
          <a:xfrm>
            <a:off x="731520" y="3300984"/>
            <a:ext cx="5257800" cy="896112"/>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374136"/>
            <a:ext cx="2926080" cy="274320"/>
          </a:xfrm>
          <a:prstGeom prst="rect">
            <a:avLst/>
          </a:prstGeom>
          <a:noFill/>
        </p:spPr>
        <p:txBody>
          <a:bodyPr wrap="square" anchor="t">
            <a:spAutoFit/>
          </a:bodyPr>
          <a:lstStyle/>
          <a:p>
            <a:pPr algn="l">
              <a:defRPr sz="1300" b="1">
                <a:solidFill>
                  <a:srgbClr val="A855F7"/>
                </a:solidFill>
                <a:latin typeface="Calibri"/>
              </a:defRPr>
            </a:pPr>
            <a:r>
              <a:t>vulnerable_coverage</a:t>
            </a:r>
          </a:p>
        </p:txBody>
      </p:sp>
      <p:sp>
        <p:nvSpPr>
          <p:cNvPr id="23" name="TextBox 22"/>
          <p:cNvSpPr txBox="1"/>
          <p:nvPr/>
        </p:nvSpPr>
        <p:spPr>
          <a:xfrm>
            <a:off x="3840480" y="3374136"/>
            <a:ext cx="2011680" cy="274320"/>
          </a:xfrm>
          <a:prstGeom prst="rect">
            <a:avLst/>
          </a:prstGeom>
          <a:noFill/>
        </p:spPr>
        <p:txBody>
          <a:bodyPr wrap="square" anchor="t">
            <a:spAutoFit/>
          </a:bodyPr>
          <a:lstStyle/>
          <a:p>
            <a:pPr algn="r">
              <a:defRPr sz="1100" b="1">
                <a:solidFill>
                  <a:srgbClr val="FFFFFF"/>
                </a:solidFill>
                <a:latin typeface="Calibri"/>
              </a:defRPr>
            </a:pPr>
            <a:r>
              <a:t>Weight: 15%  |  Min: 0.90</a:t>
            </a:r>
          </a:p>
        </p:txBody>
      </p:sp>
      <p:sp>
        <p:nvSpPr>
          <p:cNvPr id="24" name="TextBox 23"/>
          <p:cNvSpPr txBox="1"/>
          <p:nvPr/>
        </p:nvSpPr>
        <p:spPr>
          <a:xfrm>
            <a:off x="868680" y="3685032"/>
            <a:ext cx="4983480" cy="457200"/>
          </a:xfrm>
          <a:prstGeom prst="rect">
            <a:avLst/>
          </a:prstGeom>
          <a:noFill/>
        </p:spPr>
        <p:txBody>
          <a:bodyPr wrap="square" anchor="t">
            <a:spAutoFit/>
          </a:bodyPr>
          <a:lstStyle/>
          <a:p>
            <a:pPr algn="l">
              <a:defRPr sz="1100" b="0">
                <a:solidFill>
                  <a:srgbClr val="E2E8F0"/>
                </a:solidFill>
                <a:latin typeface="Calibri"/>
              </a:defRPr>
            </a:pPr>
            <a:r>
              <a:t>Prioritizes elderly, schools, hospitals, underground parking</a:t>
            </a:r>
          </a:p>
        </p:txBody>
      </p:sp>
      <p:sp>
        <p:nvSpPr>
          <p:cNvPr id="25" name="Rectangle 24"/>
          <p:cNvSpPr/>
          <p:nvPr/>
        </p:nvSpPr>
        <p:spPr>
          <a:xfrm>
            <a:off x="6172200" y="3300984"/>
            <a:ext cx="5257800" cy="896112"/>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3374136"/>
            <a:ext cx="2926080" cy="274320"/>
          </a:xfrm>
          <a:prstGeom prst="rect">
            <a:avLst/>
          </a:prstGeom>
          <a:noFill/>
        </p:spPr>
        <p:txBody>
          <a:bodyPr wrap="square" anchor="t">
            <a:spAutoFit/>
          </a:bodyPr>
          <a:lstStyle/>
          <a:p>
            <a:pPr algn="l">
              <a:defRPr sz="1300" b="1">
                <a:solidFill>
                  <a:srgbClr val="06B6D4"/>
                </a:solidFill>
                <a:latin typeface="Calibri"/>
              </a:defRPr>
            </a:pPr>
            <a:r>
              <a:t>dispatch_appropriateness</a:t>
            </a:r>
          </a:p>
        </p:txBody>
      </p:sp>
      <p:sp>
        <p:nvSpPr>
          <p:cNvPr id="27" name="TextBox 26"/>
          <p:cNvSpPr txBox="1"/>
          <p:nvPr/>
        </p:nvSpPr>
        <p:spPr>
          <a:xfrm>
            <a:off x="9281160" y="3374136"/>
            <a:ext cx="2011680" cy="274320"/>
          </a:xfrm>
          <a:prstGeom prst="rect">
            <a:avLst/>
          </a:prstGeom>
          <a:noFill/>
        </p:spPr>
        <p:txBody>
          <a:bodyPr wrap="square" anchor="t">
            <a:spAutoFit/>
          </a:bodyPr>
          <a:lstStyle/>
          <a:p>
            <a:pPr algn="r">
              <a:defRPr sz="1100" b="1">
                <a:solidFill>
                  <a:srgbClr val="FFFFFF"/>
                </a:solidFill>
                <a:latin typeface="Calibri"/>
              </a:defRPr>
            </a:pPr>
            <a:r>
              <a:t>Weight: 15%  |  Min: 0.80</a:t>
            </a:r>
          </a:p>
        </p:txBody>
      </p:sp>
      <p:sp>
        <p:nvSpPr>
          <p:cNvPr id="28" name="TextBox 27"/>
          <p:cNvSpPr txBox="1"/>
          <p:nvPr/>
        </p:nvSpPr>
        <p:spPr>
          <a:xfrm>
            <a:off x="6309360" y="3685032"/>
            <a:ext cx="4983480" cy="457200"/>
          </a:xfrm>
          <a:prstGeom prst="rect">
            <a:avLst/>
          </a:prstGeom>
          <a:noFill/>
        </p:spPr>
        <p:txBody>
          <a:bodyPr wrap="square" anchor="t">
            <a:spAutoFit/>
          </a:bodyPr>
          <a:lstStyle/>
          <a:p>
            <a:pPr algn="l">
              <a:defRPr sz="1100" b="0">
                <a:solidFill>
                  <a:srgbClr val="E2E8F0"/>
                </a:solidFill>
                <a:latin typeface="Calibri"/>
              </a:defRPr>
            </a:pPr>
            <a:r>
              <a:t>Dispatches capability-matched assets to verified terrain</a:t>
            </a:r>
          </a:p>
        </p:txBody>
      </p:sp>
      <p:sp>
        <p:nvSpPr>
          <p:cNvPr id="29" name="Rectangle 28"/>
          <p:cNvSpPr/>
          <p:nvPr/>
        </p:nvSpPr>
        <p:spPr>
          <a:xfrm>
            <a:off x="731520" y="4288536"/>
            <a:ext cx="5257800" cy="896112"/>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361688"/>
            <a:ext cx="2926080" cy="274320"/>
          </a:xfrm>
          <a:prstGeom prst="rect">
            <a:avLst/>
          </a:prstGeom>
          <a:noFill/>
        </p:spPr>
        <p:txBody>
          <a:bodyPr wrap="square" anchor="t">
            <a:spAutoFit/>
          </a:bodyPr>
          <a:lstStyle/>
          <a:p>
            <a:pPr algn="l">
              <a:defRPr sz="1300" b="1">
                <a:solidFill>
                  <a:srgbClr val="22C55E"/>
                </a:solidFill>
                <a:latin typeface="Calibri"/>
              </a:defRPr>
            </a:pPr>
            <a:r>
              <a:t>route_viability</a:t>
            </a:r>
          </a:p>
        </p:txBody>
      </p:sp>
      <p:sp>
        <p:nvSpPr>
          <p:cNvPr id="31" name="TextBox 30"/>
          <p:cNvSpPr txBox="1"/>
          <p:nvPr/>
        </p:nvSpPr>
        <p:spPr>
          <a:xfrm>
            <a:off x="3840480" y="4361688"/>
            <a:ext cx="2011680" cy="274320"/>
          </a:xfrm>
          <a:prstGeom prst="rect">
            <a:avLst/>
          </a:prstGeom>
          <a:noFill/>
        </p:spPr>
        <p:txBody>
          <a:bodyPr wrap="square" anchor="t">
            <a:spAutoFit/>
          </a:bodyPr>
          <a:lstStyle/>
          <a:p>
            <a:pPr algn="r">
              <a:defRPr sz="1100" b="1">
                <a:solidFill>
                  <a:srgbClr val="FFFFFF"/>
                </a:solidFill>
                <a:latin typeface="Calibri"/>
              </a:defRPr>
            </a:pPr>
            <a:r>
              <a:t>Weight: 10%  |  Min: 0.70</a:t>
            </a:r>
          </a:p>
        </p:txBody>
      </p:sp>
      <p:sp>
        <p:nvSpPr>
          <p:cNvPr id="32" name="TextBox 31"/>
          <p:cNvSpPr txBox="1"/>
          <p:nvPr/>
        </p:nvSpPr>
        <p:spPr>
          <a:xfrm>
            <a:off x="868680" y="4672584"/>
            <a:ext cx="4983480" cy="457200"/>
          </a:xfrm>
          <a:prstGeom prst="rect">
            <a:avLst/>
          </a:prstGeom>
          <a:noFill/>
        </p:spPr>
        <p:txBody>
          <a:bodyPr wrap="square" anchor="t">
            <a:spAutoFit/>
          </a:bodyPr>
          <a:lstStyle/>
          <a:p>
            <a:pPr algn="l">
              <a:defRPr sz="1100" b="0">
                <a:solidFill>
                  <a:srgbClr val="E2E8F0"/>
                </a:solidFill>
                <a:latin typeface="Calibri"/>
              </a:defRPr>
            </a:pPr>
            <a:r>
              <a:t>Validates that designated evacuation routes are not submerged</a:t>
            </a:r>
          </a:p>
        </p:txBody>
      </p:sp>
      <p:sp>
        <p:nvSpPr>
          <p:cNvPr id="33" name="Rectangle 32"/>
          <p:cNvSpPr/>
          <p:nvPr/>
        </p:nvSpPr>
        <p:spPr>
          <a:xfrm>
            <a:off x="6172200" y="4288536"/>
            <a:ext cx="5257800" cy="896112"/>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4361688"/>
            <a:ext cx="2926080" cy="274320"/>
          </a:xfrm>
          <a:prstGeom prst="rect">
            <a:avLst/>
          </a:prstGeom>
          <a:noFill/>
        </p:spPr>
        <p:txBody>
          <a:bodyPr wrap="square" anchor="t">
            <a:spAutoFit/>
          </a:bodyPr>
          <a:lstStyle/>
          <a:p>
            <a:pPr algn="l">
              <a:defRPr sz="1300" b="1">
                <a:solidFill>
                  <a:srgbClr val="3B82F6"/>
                </a:solidFill>
                <a:latin typeface="Calibri"/>
              </a:defRPr>
            </a:pPr>
            <a:r>
              <a:t>multilingual_coverage</a:t>
            </a:r>
          </a:p>
        </p:txBody>
      </p:sp>
      <p:sp>
        <p:nvSpPr>
          <p:cNvPr id="35" name="TextBox 34"/>
          <p:cNvSpPr txBox="1"/>
          <p:nvPr/>
        </p:nvSpPr>
        <p:spPr>
          <a:xfrm>
            <a:off x="9281160" y="4361688"/>
            <a:ext cx="2011680" cy="274320"/>
          </a:xfrm>
          <a:prstGeom prst="rect">
            <a:avLst/>
          </a:prstGeom>
          <a:noFill/>
        </p:spPr>
        <p:txBody>
          <a:bodyPr wrap="square" anchor="t">
            <a:spAutoFit/>
          </a:bodyPr>
          <a:lstStyle/>
          <a:p>
            <a:pPr algn="r">
              <a:defRPr sz="1100" b="1">
                <a:solidFill>
                  <a:srgbClr val="FFFFFF"/>
                </a:solidFill>
                <a:latin typeface="Calibri"/>
              </a:defRPr>
            </a:pPr>
            <a:r>
              <a:t>Weight: 10%  |  Min: 0.80</a:t>
            </a:r>
          </a:p>
        </p:txBody>
      </p:sp>
      <p:sp>
        <p:nvSpPr>
          <p:cNvPr id="36" name="TextBox 35"/>
          <p:cNvSpPr txBox="1"/>
          <p:nvPr/>
        </p:nvSpPr>
        <p:spPr>
          <a:xfrm>
            <a:off x="6309360" y="4672584"/>
            <a:ext cx="4983480" cy="457200"/>
          </a:xfrm>
          <a:prstGeom prst="rect">
            <a:avLst/>
          </a:prstGeom>
          <a:noFill/>
        </p:spPr>
        <p:txBody>
          <a:bodyPr wrap="square" anchor="t">
            <a:spAutoFit/>
          </a:bodyPr>
          <a:lstStyle/>
          <a:p>
            <a:pPr algn="l">
              <a:defRPr sz="1100" b="0">
                <a:solidFill>
                  <a:srgbClr val="E2E8F0"/>
                </a:solidFill>
                <a:latin typeface="Calibri"/>
              </a:defRPr>
            </a:pPr>
            <a:r>
              <a:t>Alerts translated into demographic languages (Ne/Es/Vi/En)</a:t>
            </a:r>
          </a:p>
        </p:txBody>
      </p:sp>
      <p:sp>
        <p:nvSpPr>
          <p:cNvPr id="37" name="Rectangle 36"/>
          <p:cNvSpPr/>
          <p:nvPr/>
        </p:nvSpPr>
        <p:spPr>
          <a:xfrm>
            <a:off x="731520" y="5276088"/>
            <a:ext cx="5257800" cy="896112"/>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349240"/>
            <a:ext cx="2926080" cy="274320"/>
          </a:xfrm>
          <a:prstGeom prst="rect">
            <a:avLst/>
          </a:prstGeom>
          <a:noFill/>
        </p:spPr>
        <p:txBody>
          <a:bodyPr wrap="square" anchor="t">
            <a:spAutoFit/>
          </a:bodyPr>
          <a:lstStyle/>
          <a:p>
            <a:pPr algn="l">
              <a:defRPr sz="1300" b="1">
                <a:solidFill>
                  <a:srgbClr val="F97316"/>
                </a:solidFill>
                <a:latin typeface="Calibri"/>
              </a:defRPr>
            </a:pPr>
            <a:r>
              <a:t>asset_match_quality</a:t>
            </a:r>
          </a:p>
        </p:txBody>
      </p:sp>
      <p:sp>
        <p:nvSpPr>
          <p:cNvPr id="39" name="TextBox 38"/>
          <p:cNvSpPr txBox="1"/>
          <p:nvPr/>
        </p:nvSpPr>
        <p:spPr>
          <a:xfrm>
            <a:off x="3840480" y="5349240"/>
            <a:ext cx="2011680" cy="274320"/>
          </a:xfrm>
          <a:prstGeom prst="rect">
            <a:avLst/>
          </a:prstGeom>
          <a:noFill/>
        </p:spPr>
        <p:txBody>
          <a:bodyPr wrap="square" anchor="t">
            <a:spAutoFit/>
          </a:bodyPr>
          <a:lstStyle/>
          <a:p>
            <a:pPr algn="r">
              <a:defRPr sz="1100" b="1">
                <a:solidFill>
                  <a:srgbClr val="FFFFFF"/>
                </a:solidFill>
                <a:latin typeface="Calibri"/>
              </a:defRPr>
            </a:pPr>
            <a:r>
              <a:t>Weight: 10%  |  Min: 0.75</a:t>
            </a:r>
          </a:p>
        </p:txBody>
      </p:sp>
      <p:sp>
        <p:nvSpPr>
          <p:cNvPr id="40" name="TextBox 39"/>
          <p:cNvSpPr txBox="1"/>
          <p:nvPr/>
        </p:nvSpPr>
        <p:spPr>
          <a:xfrm>
            <a:off x="868680" y="5660136"/>
            <a:ext cx="4983480" cy="457200"/>
          </a:xfrm>
          <a:prstGeom prst="rect">
            <a:avLst/>
          </a:prstGeom>
          <a:noFill/>
        </p:spPr>
        <p:txBody>
          <a:bodyPr wrap="square" anchor="t">
            <a:spAutoFit/>
          </a:bodyPr>
          <a:lstStyle/>
          <a:p>
            <a:pPr algn="l">
              <a:defRPr sz="1100" b="0">
                <a:solidFill>
                  <a:srgbClr val="E2E8F0"/>
                </a:solidFill>
                <a:latin typeface="Calibri"/>
              </a:defRPr>
            </a:pPr>
            <a:r>
              <a:t>Equipment specs match physical disaster mechanics</a:t>
            </a:r>
          </a:p>
        </p:txBody>
      </p:sp>
      <p:sp>
        <p:nvSpPr>
          <p:cNvPr id="41" name="Rectangle 40"/>
          <p:cNvSpPr/>
          <p:nvPr/>
        </p:nvSpPr>
        <p:spPr>
          <a:xfrm>
            <a:off x="6172200" y="5276088"/>
            <a:ext cx="5257800" cy="896112"/>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5349240"/>
            <a:ext cx="2926080" cy="274320"/>
          </a:xfrm>
          <a:prstGeom prst="rect">
            <a:avLst/>
          </a:prstGeom>
          <a:noFill/>
        </p:spPr>
        <p:txBody>
          <a:bodyPr wrap="square" anchor="t">
            <a:spAutoFit/>
          </a:bodyPr>
          <a:lstStyle/>
          <a:p>
            <a:pPr algn="l">
              <a:defRPr sz="1300" b="1">
                <a:solidFill>
                  <a:srgbClr val="A855F7"/>
                </a:solidFill>
                <a:latin typeface="Calibri"/>
              </a:defRPr>
            </a:pPr>
            <a:r>
              <a:t>sop_compliance</a:t>
            </a:r>
          </a:p>
        </p:txBody>
      </p:sp>
      <p:sp>
        <p:nvSpPr>
          <p:cNvPr id="43" name="TextBox 42"/>
          <p:cNvSpPr txBox="1"/>
          <p:nvPr/>
        </p:nvSpPr>
        <p:spPr>
          <a:xfrm>
            <a:off x="9281160" y="5349240"/>
            <a:ext cx="2011680" cy="274320"/>
          </a:xfrm>
          <a:prstGeom prst="rect">
            <a:avLst/>
          </a:prstGeom>
          <a:noFill/>
        </p:spPr>
        <p:txBody>
          <a:bodyPr wrap="square" anchor="t">
            <a:spAutoFit/>
          </a:bodyPr>
          <a:lstStyle/>
          <a:p>
            <a:pPr algn="r">
              <a:defRPr sz="1100" b="1">
                <a:solidFill>
                  <a:srgbClr val="FFFFFF"/>
                </a:solidFill>
                <a:latin typeface="Calibri"/>
              </a:defRPr>
            </a:pPr>
            <a:r>
              <a:t>Weight: 10%  |  Min: 0.85</a:t>
            </a:r>
          </a:p>
        </p:txBody>
      </p:sp>
      <p:sp>
        <p:nvSpPr>
          <p:cNvPr id="44" name="TextBox 43"/>
          <p:cNvSpPr txBox="1"/>
          <p:nvPr/>
        </p:nvSpPr>
        <p:spPr>
          <a:xfrm>
            <a:off x="6309360" y="5660136"/>
            <a:ext cx="4983480" cy="457200"/>
          </a:xfrm>
          <a:prstGeom prst="rect">
            <a:avLst/>
          </a:prstGeom>
          <a:noFill/>
        </p:spPr>
        <p:txBody>
          <a:bodyPr wrap="square" anchor="t">
            <a:spAutoFit/>
          </a:bodyPr>
          <a:lstStyle/>
          <a:p>
            <a:pPr algn="l">
              <a:defRPr sz="1100" b="0">
                <a:solidFill>
                  <a:srgbClr val="E2E8F0"/>
                </a:solidFill>
                <a:latin typeface="Calibri"/>
              </a:defRPr>
            </a:pPr>
            <a:r>
              <a:t>Adheres to inter-jurisdictional legal mandates in H-Mem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Technology Stack &amp; Auditable Telemetry</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Meterless Distributed Tracing  •  LangGraph Checkpointers  •  FastAPI  •  React GIS</a:t>
            </a:r>
          </a:p>
        </p:txBody>
      </p:sp>
      <p:sp>
        <p:nvSpPr>
          <p:cNvPr id="5" name="Rectangle 4"/>
          <p:cNvSpPr/>
          <p:nvPr/>
        </p:nvSpPr>
        <p:spPr>
          <a:xfrm>
            <a:off x="731520" y="1325880"/>
            <a:ext cx="10698480" cy="2926080"/>
          </a:xfrm>
          <a:prstGeom prst="rect">
            <a:avLst/>
          </a:prstGeom>
          <a:solidFill>
            <a:srgbClr val="0F172A"/>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320040"/>
          </a:xfrm>
          <a:prstGeom prst="rect">
            <a:avLst/>
          </a:prstGeom>
          <a:noFill/>
        </p:spPr>
        <p:txBody>
          <a:bodyPr wrap="square" anchor="t">
            <a:spAutoFit/>
          </a:bodyPr>
          <a:lstStyle/>
          <a:p>
            <a:pPr algn="l">
              <a:defRPr sz="1400" b="1">
                <a:solidFill>
                  <a:srgbClr val="06B6D4"/>
                </a:solidFill>
                <a:latin typeface="Calibri"/>
              </a:defRPr>
            </a:pPr>
            <a:r>
              <a:t>Meterless Distributed Trace Telemetry (Zero Black-Box Execution)</a:t>
            </a:r>
          </a:p>
        </p:txBody>
      </p:sp>
      <p:sp>
        <p:nvSpPr>
          <p:cNvPr id="7" name="TextBox 6"/>
          <p:cNvSpPr txBox="1"/>
          <p:nvPr/>
        </p:nvSpPr>
        <p:spPr>
          <a:xfrm>
            <a:off x="914400" y="1874519"/>
            <a:ext cx="10332720" cy="2286000"/>
          </a:xfrm>
          <a:prstGeom prst="rect">
            <a:avLst/>
          </a:prstGeom>
          <a:noFill/>
        </p:spPr>
        <p:txBody>
          <a:bodyPr wrap="square" anchor="t">
            <a:spAutoFit/>
          </a:bodyPr>
          <a:lstStyle/>
          <a:p>
            <a:pPr algn="l">
              <a:defRPr sz="1000" b="0">
                <a:solidFill>
                  <a:srgbClr val="22C55E"/>
                </a:solidFill>
                <a:latin typeface="Consolas"/>
              </a:defRPr>
            </a:pPr>
            <a:r>
              <a:t>[METERLESS] 🟢 Agent:planner            | Op:execute | Trace:f41b7d5d | EXPLAIN: Armed 180s deadman switch for Sector B</a:t>
            </a:r>
            <a:br/>
            <a:r>
              <a:t>[METERLESS] 🟢 Agent:format_detector    | Op:execute | Trace:edf58804 | EXPLAIN: Classified river gauge CSV + Sentinel-1 SAR</a:t>
            </a:r>
            <a:br/>
            <a:r>
              <a:t>[METERLESS] 🟢 Agent:ingestion_executor | Op:execute | Trace:aae5c90b | EXPLAIN: Normalized coordinates via Zetaris Semantic Layer</a:t>
            </a:r>
            <a:br/>
            <a:r>
              <a:t>[METERLESS] 🟢 Agent:world_model_sim    | Op:execute | Trace:77b0567e | EXPLAIN: Simulated Guadalupe River surge vector (+12ft/hr)</a:t>
            </a:r>
            <a:br/>
            <a:r>
              <a:t>[METERLESS] 🟢 Agent:markovian_router   | Op:execute | Trace:19d7c2f8 | EXPLAIN: Supervisor timeout reached; autonomous bypass executed</a:t>
            </a:r>
            <a:br/>
            <a:r>
              <a:t>[METERLESS] 🟢 Agent:risk_dispatch      | Op:execute | Trace:1a065bc3 | EXPLAIN: Generated 3 cell alerts (En/Es/Vi); matched 4 shallow boats</a:t>
            </a:r>
            <a:br/>
            <a:r>
              <a:t>[METERLESS] 🟢 Agent:evaluator          | Op:execute | Trace:c4d37faa | EXPLAIN: Validated against 10 safety criteria; Score: 0.92 (PASS)</a:t>
            </a:r>
            <a:br/>
            <a:r>
              <a:t>[METERLESS] 🟢 Agent:reporter           | Op:execute | Trace:93566604 | EXPLAIN: Produced Causal Provenance Audit Report</a:t>
            </a:r>
            <a:br/>
            <a:r>
              <a:t>[METERLESS] ✅ PIPELINE COMPLETED: Total Latency: 0.016s | 10 Scenarios Passing | Zero Black-Box Decisions</a:t>
            </a:r>
          </a:p>
        </p:txBody>
      </p:sp>
      <p:sp>
        <p:nvSpPr>
          <p:cNvPr id="8" name="Rectangle 7"/>
          <p:cNvSpPr/>
          <p:nvPr/>
        </p:nvSpPr>
        <p:spPr>
          <a:xfrm>
            <a:off x="731520" y="4434840"/>
            <a:ext cx="2578608" cy="192024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4572000"/>
            <a:ext cx="2359152" cy="365760"/>
          </a:xfrm>
          <a:prstGeom prst="rect">
            <a:avLst/>
          </a:prstGeom>
          <a:noFill/>
        </p:spPr>
        <p:txBody>
          <a:bodyPr wrap="square" anchor="t">
            <a:spAutoFit/>
          </a:bodyPr>
          <a:lstStyle/>
          <a:p>
            <a:pPr algn="l">
              <a:defRPr sz="1400" b="1">
                <a:solidFill>
                  <a:srgbClr val="3B82F6"/>
                </a:solidFill>
                <a:latin typeface="Calibri"/>
              </a:defRPr>
            </a:pPr>
            <a:r>
              <a:t>Meterless Tracing</a:t>
            </a:r>
          </a:p>
        </p:txBody>
      </p:sp>
      <p:sp>
        <p:nvSpPr>
          <p:cNvPr id="10" name="TextBox 9"/>
          <p:cNvSpPr txBox="1"/>
          <p:nvPr/>
        </p:nvSpPr>
        <p:spPr>
          <a:xfrm>
            <a:off x="841248" y="5029200"/>
            <a:ext cx="2359152" cy="1188720"/>
          </a:xfrm>
          <a:prstGeom prst="rect">
            <a:avLst/>
          </a:prstGeom>
          <a:noFill/>
        </p:spPr>
        <p:txBody>
          <a:bodyPr wrap="square" anchor="t">
            <a:spAutoFit/>
          </a:bodyPr>
          <a:lstStyle/>
          <a:p>
            <a:pPr algn="l">
              <a:defRPr sz="1100" b="0">
                <a:solidFill>
                  <a:srgbClr val="E2E8F0"/>
                </a:solidFill>
                <a:latin typeface="Calibri"/>
              </a:defRPr>
            </a:pPr>
            <a:r>
              <a:t>@trace_agent decorators on all 9 agents provide millisecond audit trails.</a:t>
            </a:r>
          </a:p>
        </p:txBody>
      </p:sp>
      <p:sp>
        <p:nvSpPr>
          <p:cNvPr id="11" name="Rectangle 10"/>
          <p:cNvSpPr/>
          <p:nvPr/>
        </p:nvSpPr>
        <p:spPr>
          <a:xfrm>
            <a:off x="3456432" y="4434840"/>
            <a:ext cx="2578608" cy="1920240"/>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4572000"/>
            <a:ext cx="2359152" cy="365760"/>
          </a:xfrm>
          <a:prstGeom prst="rect">
            <a:avLst/>
          </a:prstGeom>
          <a:noFill/>
        </p:spPr>
        <p:txBody>
          <a:bodyPr wrap="square" anchor="t">
            <a:spAutoFit/>
          </a:bodyPr>
          <a:lstStyle/>
          <a:p>
            <a:pPr algn="l">
              <a:defRPr sz="1400" b="1">
                <a:solidFill>
                  <a:srgbClr val="22C55E"/>
                </a:solidFill>
                <a:latin typeface="Calibri"/>
              </a:defRPr>
            </a:pPr>
            <a:r>
              <a:t>SQLite State Memory</a:t>
            </a:r>
          </a:p>
        </p:txBody>
      </p:sp>
      <p:sp>
        <p:nvSpPr>
          <p:cNvPr id="13" name="TextBox 12"/>
          <p:cNvSpPr txBox="1"/>
          <p:nvPr/>
        </p:nvSpPr>
        <p:spPr>
          <a:xfrm>
            <a:off x="3566160" y="5029200"/>
            <a:ext cx="2359152" cy="1188720"/>
          </a:xfrm>
          <a:prstGeom prst="rect">
            <a:avLst/>
          </a:prstGeom>
          <a:noFill/>
        </p:spPr>
        <p:txBody>
          <a:bodyPr wrap="square" anchor="t">
            <a:spAutoFit/>
          </a:bodyPr>
          <a:lstStyle/>
          <a:p>
            <a:pPr algn="l">
              <a:defRPr sz="1100" b="0">
                <a:solidFill>
                  <a:srgbClr val="E2E8F0"/>
                </a:solidFill>
                <a:latin typeface="Calibri"/>
              </a:defRPr>
            </a:pPr>
            <a:r>
              <a:t>AsyncSqliteSaver ensures full state checkpoints can be audited post-crisis.</a:t>
            </a:r>
          </a:p>
        </p:txBody>
      </p:sp>
      <p:sp>
        <p:nvSpPr>
          <p:cNvPr id="14" name="Rectangle 13"/>
          <p:cNvSpPr/>
          <p:nvPr/>
        </p:nvSpPr>
        <p:spPr>
          <a:xfrm>
            <a:off x="6181344" y="4434840"/>
            <a:ext cx="2578608" cy="192024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572000"/>
            <a:ext cx="2359152" cy="365760"/>
          </a:xfrm>
          <a:prstGeom prst="rect">
            <a:avLst/>
          </a:prstGeom>
          <a:noFill/>
        </p:spPr>
        <p:txBody>
          <a:bodyPr wrap="square" anchor="t">
            <a:spAutoFit/>
          </a:bodyPr>
          <a:lstStyle/>
          <a:p>
            <a:pPr algn="l">
              <a:defRPr sz="1400" b="1">
                <a:solidFill>
                  <a:srgbClr val="EF4444"/>
                </a:solidFill>
                <a:latin typeface="Calibri"/>
              </a:defRPr>
            </a:pPr>
            <a:r>
              <a:t>Zetaris Federation</a:t>
            </a:r>
          </a:p>
        </p:txBody>
      </p:sp>
      <p:sp>
        <p:nvSpPr>
          <p:cNvPr id="16" name="TextBox 15"/>
          <p:cNvSpPr txBox="1"/>
          <p:nvPr/>
        </p:nvSpPr>
        <p:spPr>
          <a:xfrm>
            <a:off x="6291072" y="5029200"/>
            <a:ext cx="2359152" cy="1188720"/>
          </a:xfrm>
          <a:prstGeom prst="rect">
            <a:avLst/>
          </a:prstGeom>
          <a:noFill/>
        </p:spPr>
        <p:txBody>
          <a:bodyPr wrap="square" anchor="t">
            <a:spAutoFit/>
          </a:bodyPr>
          <a:lstStyle/>
          <a:p>
            <a:pPr algn="l">
              <a:defRPr sz="1100" b="0">
                <a:solidFill>
                  <a:srgbClr val="E2E8F0"/>
                </a:solidFill>
                <a:latin typeface="Calibri"/>
              </a:defRPr>
            </a:pPr>
            <a:r>
              <a:t>Maintains end-to-end data lineage from raw sensor schema to phone alert.</a:t>
            </a:r>
          </a:p>
        </p:txBody>
      </p:sp>
      <p:sp>
        <p:nvSpPr>
          <p:cNvPr id="17" name="Rectangle 16"/>
          <p:cNvSpPr/>
          <p:nvPr/>
        </p:nvSpPr>
        <p:spPr>
          <a:xfrm>
            <a:off x="8906256" y="4434840"/>
            <a:ext cx="2578608" cy="1920240"/>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5984" y="4572000"/>
            <a:ext cx="2359152" cy="365760"/>
          </a:xfrm>
          <a:prstGeom prst="rect">
            <a:avLst/>
          </a:prstGeom>
          <a:noFill/>
        </p:spPr>
        <p:txBody>
          <a:bodyPr wrap="square" anchor="t">
            <a:spAutoFit/>
          </a:bodyPr>
          <a:lstStyle/>
          <a:p>
            <a:pPr algn="l">
              <a:defRPr sz="1400" b="1">
                <a:solidFill>
                  <a:srgbClr val="F97316"/>
                </a:solidFill>
                <a:latin typeface="Calibri"/>
              </a:defRPr>
            </a:pPr>
            <a:r>
              <a:t>NVIDIA Acceleration</a:t>
            </a:r>
          </a:p>
        </p:txBody>
      </p:sp>
      <p:sp>
        <p:nvSpPr>
          <p:cNvPr id="19" name="TextBox 18"/>
          <p:cNvSpPr txBox="1"/>
          <p:nvPr/>
        </p:nvSpPr>
        <p:spPr>
          <a:xfrm>
            <a:off x="9015984" y="5029200"/>
            <a:ext cx="2359152" cy="1188720"/>
          </a:xfrm>
          <a:prstGeom prst="rect">
            <a:avLst/>
          </a:prstGeom>
          <a:noFill/>
        </p:spPr>
        <p:txBody>
          <a:bodyPr wrap="square" anchor="t">
            <a:spAutoFit/>
          </a:bodyPr>
          <a:lstStyle/>
          <a:p>
            <a:pPr algn="l">
              <a:defRPr sz="1100" b="0">
                <a:solidFill>
                  <a:srgbClr val="E2E8F0"/>
                </a:solidFill>
                <a:latin typeface="Calibri"/>
              </a:defRPr>
            </a:pPr>
            <a:r>
              <a:t>CUDA embeddings enable sub-15s survivor deduplication across registries.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Submission Checklist &amp; Verification ✅</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Open Agent Hackathon 2026  •  Track: The Agent That Can Explain Why</a:t>
            </a:r>
          </a:p>
        </p:txBody>
      </p:sp>
      <p:sp>
        <p:nvSpPr>
          <p:cNvPr id="5" name="TextBox 4"/>
          <p:cNvSpPr txBox="1"/>
          <p:nvPr/>
        </p:nvSpPr>
        <p:spPr>
          <a:xfrm>
            <a:off x="731520" y="1325880"/>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6" name="TextBox 5"/>
          <p:cNvSpPr txBox="1"/>
          <p:nvPr/>
        </p:nvSpPr>
        <p:spPr>
          <a:xfrm>
            <a:off x="1234440" y="1325880"/>
            <a:ext cx="2926080" cy="384048"/>
          </a:xfrm>
          <a:prstGeom prst="rect">
            <a:avLst/>
          </a:prstGeom>
          <a:noFill/>
        </p:spPr>
        <p:txBody>
          <a:bodyPr wrap="square" anchor="t">
            <a:spAutoFit/>
          </a:bodyPr>
          <a:lstStyle/>
          <a:p>
            <a:pPr algn="l">
              <a:defRPr sz="1400" b="1">
                <a:solidFill>
                  <a:srgbClr val="FFFFFF"/>
                </a:solidFill>
                <a:latin typeface="Calibri"/>
              </a:defRPr>
            </a:pPr>
            <a:r>
              <a:t>Explainability Documentation</a:t>
            </a:r>
          </a:p>
        </p:txBody>
      </p:sp>
      <p:sp>
        <p:nvSpPr>
          <p:cNvPr id="7" name="TextBox 6"/>
          <p:cNvSpPr txBox="1"/>
          <p:nvPr/>
        </p:nvSpPr>
        <p:spPr>
          <a:xfrm>
            <a:off x="4251960" y="1325880"/>
            <a:ext cx="7132320" cy="384048"/>
          </a:xfrm>
          <a:prstGeom prst="rect">
            <a:avLst/>
          </a:prstGeom>
          <a:noFill/>
        </p:spPr>
        <p:txBody>
          <a:bodyPr wrap="square" anchor="t">
            <a:spAutoFit/>
          </a:bodyPr>
          <a:lstStyle/>
          <a:p>
            <a:pPr algn="l">
              <a:defRPr sz="1200" b="0">
                <a:solidFill>
                  <a:srgbClr val="E2E8F0"/>
                </a:solidFill>
                <a:latin typeface="Calibri"/>
              </a:defRPr>
            </a:pPr>
            <a:r>
              <a:t>Full EXPLAINABILITY.md published detailing the causal decision engine.</a:t>
            </a:r>
          </a:p>
        </p:txBody>
      </p:sp>
      <p:sp>
        <p:nvSpPr>
          <p:cNvPr id="8" name="TextBox 7"/>
          <p:cNvSpPr txBox="1"/>
          <p:nvPr/>
        </p:nvSpPr>
        <p:spPr>
          <a:xfrm>
            <a:off x="731520" y="1773936"/>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9" name="TextBox 8"/>
          <p:cNvSpPr txBox="1"/>
          <p:nvPr/>
        </p:nvSpPr>
        <p:spPr>
          <a:xfrm>
            <a:off x="1234440" y="1773936"/>
            <a:ext cx="2926080" cy="384048"/>
          </a:xfrm>
          <a:prstGeom prst="rect">
            <a:avLst/>
          </a:prstGeom>
          <a:noFill/>
        </p:spPr>
        <p:txBody>
          <a:bodyPr wrap="square" anchor="t">
            <a:spAutoFit/>
          </a:bodyPr>
          <a:lstStyle/>
          <a:p>
            <a:pPr algn="l">
              <a:defRPr sz="1400" b="1">
                <a:solidFill>
                  <a:srgbClr val="FFFFFF"/>
                </a:solidFill>
                <a:latin typeface="Calibri"/>
              </a:defRPr>
            </a:pPr>
            <a:r>
              <a:t>Demo Video Walkthrough</a:t>
            </a:r>
          </a:p>
        </p:txBody>
      </p:sp>
      <p:sp>
        <p:nvSpPr>
          <p:cNvPr id="10" name="TextBox 9"/>
          <p:cNvSpPr txBox="1"/>
          <p:nvPr/>
        </p:nvSpPr>
        <p:spPr>
          <a:xfrm>
            <a:off x="4251960" y="1773936"/>
            <a:ext cx="7132320" cy="384048"/>
          </a:xfrm>
          <a:prstGeom prst="rect">
            <a:avLst/>
          </a:prstGeom>
          <a:noFill/>
        </p:spPr>
        <p:txBody>
          <a:bodyPr wrap="square" anchor="t">
            <a:spAutoFit/>
          </a:bodyPr>
          <a:lstStyle/>
          <a:p>
            <a:pPr algn="l">
              <a:defRPr sz="1200" b="0">
                <a:solidFill>
                  <a:srgbClr val="E2E8F0"/>
                </a:solidFill>
                <a:latin typeface="Calibri"/>
              </a:defRPr>
            </a:pPr>
            <a:r>
              <a:t>Complete recorded walkthrough demonstrating live scenario execution.</a:t>
            </a:r>
          </a:p>
        </p:txBody>
      </p:sp>
      <p:sp>
        <p:nvSpPr>
          <p:cNvPr id="11" name="TextBox 10"/>
          <p:cNvSpPr txBox="1"/>
          <p:nvPr/>
        </p:nvSpPr>
        <p:spPr>
          <a:xfrm>
            <a:off x="731520" y="2221991"/>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12" name="TextBox 11"/>
          <p:cNvSpPr txBox="1"/>
          <p:nvPr/>
        </p:nvSpPr>
        <p:spPr>
          <a:xfrm>
            <a:off x="1234440" y="2221991"/>
            <a:ext cx="2926080" cy="384048"/>
          </a:xfrm>
          <a:prstGeom prst="rect">
            <a:avLst/>
          </a:prstGeom>
          <a:noFill/>
        </p:spPr>
        <p:txBody>
          <a:bodyPr wrap="square" anchor="t">
            <a:spAutoFit/>
          </a:bodyPr>
          <a:lstStyle/>
          <a:p>
            <a:pPr algn="l">
              <a:defRPr sz="1400" b="1">
                <a:solidFill>
                  <a:srgbClr val="FFFFFF"/>
                </a:solidFill>
                <a:latin typeface="Calibri"/>
              </a:defRPr>
            </a:pPr>
            <a:r>
              <a:t>Dedicated Pitch Deck</a:t>
            </a:r>
          </a:p>
        </p:txBody>
      </p:sp>
      <p:sp>
        <p:nvSpPr>
          <p:cNvPr id="13" name="TextBox 12"/>
          <p:cNvSpPr txBox="1"/>
          <p:nvPr/>
        </p:nvSpPr>
        <p:spPr>
          <a:xfrm>
            <a:off x="4251960" y="2221991"/>
            <a:ext cx="7132320" cy="384048"/>
          </a:xfrm>
          <a:prstGeom prst="rect">
            <a:avLst/>
          </a:prstGeom>
          <a:noFill/>
        </p:spPr>
        <p:txBody>
          <a:bodyPr wrap="square" anchor="t">
            <a:spAutoFit/>
          </a:bodyPr>
          <a:lstStyle/>
          <a:p>
            <a:pPr algn="l">
              <a:defRPr sz="1200" b="0">
                <a:solidFill>
                  <a:srgbClr val="E2E8F0"/>
                </a:solidFill>
                <a:latin typeface="Calibri"/>
              </a:defRPr>
            </a:pPr>
            <a:r>
              <a:t>10-slide presentation analyzing the 4 explainability pillars &amp; architecture.</a:t>
            </a:r>
          </a:p>
        </p:txBody>
      </p:sp>
      <p:sp>
        <p:nvSpPr>
          <p:cNvPr id="14" name="TextBox 13"/>
          <p:cNvSpPr txBox="1"/>
          <p:nvPr/>
        </p:nvSpPr>
        <p:spPr>
          <a:xfrm>
            <a:off x="731520" y="2670048"/>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15" name="TextBox 14"/>
          <p:cNvSpPr txBox="1"/>
          <p:nvPr/>
        </p:nvSpPr>
        <p:spPr>
          <a:xfrm>
            <a:off x="1234440" y="2670048"/>
            <a:ext cx="2926080" cy="384048"/>
          </a:xfrm>
          <a:prstGeom prst="rect">
            <a:avLst/>
          </a:prstGeom>
          <a:noFill/>
        </p:spPr>
        <p:txBody>
          <a:bodyPr wrap="square" anchor="t">
            <a:spAutoFit/>
          </a:bodyPr>
          <a:lstStyle/>
          <a:p>
            <a:pPr algn="l">
              <a:defRPr sz="1400" b="1">
                <a:solidFill>
                  <a:srgbClr val="FFFFFF"/>
                </a:solidFill>
                <a:latin typeface="Calibri"/>
              </a:defRPr>
            </a:pPr>
            <a:r>
              <a:t>10 Failure Archetype Solved</a:t>
            </a:r>
          </a:p>
        </p:txBody>
      </p:sp>
      <p:sp>
        <p:nvSpPr>
          <p:cNvPr id="16" name="TextBox 15"/>
          <p:cNvSpPr txBox="1"/>
          <p:nvPr/>
        </p:nvSpPr>
        <p:spPr>
          <a:xfrm>
            <a:off x="4251960" y="2670048"/>
            <a:ext cx="7132320" cy="384048"/>
          </a:xfrm>
          <a:prstGeom prst="rect">
            <a:avLst/>
          </a:prstGeom>
          <a:noFill/>
        </p:spPr>
        <p:txBody>
          <a:bodyPr wrap="square" anchor="t">
            <a:spAutoFit/>
          </a:bodyPr>
          <a:lstStyle/>
          <a:p>
            <a:pPr algn="l">
              <a:defRPr sz="1200" b="0">
                <a:solidFill>
                  <a:srgbClr val="E2E8F0"/>
                </a:solidFill>
                <a:latin typeface="Calibri"/>
              </a:defRPr>
            </a:pPr>
            <a:r>
              <a:t>10/10 disaster benchmark scenarios passing with auditable outputs.</a:t>
            </a:r>
          </a:p>
        </p:txBody>
      </p:sp>
      <p:sp>
        <p:nvSpPr>
          <p:cNvPr id="17" name="TextBox 16"/>
          <p:cNvSpPr txBox="1"/>
          <p:nvPr/>
        </p:nvSpPr>
        <p:spPr>
          <a:xfrm>
            <a:off x="731520" y="3118104"/>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18" name="TextBox 17"/>
          <p:cNvSpPr txBox="1"/>
          <p:nvPr/>
        </p:nvSpPr>
        <p:spPr>
          <a:xfrm>
            <a:off x="1234440" y="3118104"/>
            <a:ext cx="2926080" cy="384048"/>
          </a:xfrm>
          <a:prstGeom prst="rect">
            <a:avLst/>
          </a:prstGeom>
          <a:noFill/>
        </p:spPr>
        <p:txBody>
          <a:bodyPr wrap="square" anchor="t">
            <a:spAutoFit/>
          </a:bodyPr>
          <a:lstStyle/>
          <a:p>
            <a:pPr algn="l">
              <a:defRPr sz="1400" b="1">
                <a:solidFill>
                  <a:srgbClr val="FFFFFF"/>
                </a:solidFill>
                <a:latin typeface="Calibri"/>
              </a:defRPr>
            </a:pPr>
            <a:r>
              <a:t>Contradiction Resolution Engine</a:t>
            </a:r>
          </a:p>
        </p:txBody>
      </p:sp>
      <p:sp>
        <p:nvSpPr>
          <p:cNvPr id="19" name="TextBox 18"/>
          <p:cNvSpPr txBox="1"/>
          <p:nvPr/>
        </p:nvSpPr>
        <p:spPr>
          <a:xfrm>
            <a:off x="4251960" y="3118104"/>
            <a:ext cx="7132320" cy="384048"/>
          </a:xfrm>
          <a:prstGeom prst="rect">
            <a:avLst/>
          </a:prstGeom>
          <a:noFill/>
        </p:spPr>
        <p:txBody>
          <a:bodyPr wrap="square" anchor="t">
            <a:spAutoFit/>
          </a:bodyPr>
          <a:lstStyle/>
          <a:p>
            <a:pPr algn="l">
              <a:defRPr sz="1200" b="0">
                <a:solidFill>
                  <a:srgbClr val="E2E8F0"/>
                </a:solidFill>
                <a:latin typeface="Calibri"/>
              </a:defRPr>
            </a:pPr>
            <a:r>
              <a:t>Mathematically catches &amp; explains official message conflicts.</a:t>
            </a:r>
          </a:p>
        </p:txBody>
      </p:sp>
      <p:sp>
        <p:nvSpPr>
          <p:cNvPr id="20" name="TextBox 19"/>
          <p:cNvSpPr txBox="1"/>
          <p:nvPr/>
        </p:nvSpPr>
        <p:spPr>
          <a:xfrm>
            <a:off x="731520" y="3566160"/>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21" name="TextBox 20"/>
          <p:cNvSpPr txBox="1"/>
          <p:nvPr/>
        </p:nvSpPr>
        <p:spPr>
          <a:xfrm>
            <a:off x="1234440" y="3566160"/>
            <a:ext cx="2926080" cy="384048"/>
          </a:xfrm>
          <a:prstGeom prst="rect">
            <a:avLst/>
          </a:prstGeom>
          <a:noFill/>
        </p:spPr>
        <p:txBody>
          <a:bodyPr wrap="square" anchor="t">
            <a:spAutoFit/>
          </a:bodyPr>
          <a:lstStyle/>
          <a:p>
            <a:pPr algn="l">
              <a:defRPr sz="1400" b="1">
                <a:solidFill>
                  <a:srgbClr val="FFFFFF"/>
                </a:solidFill>
                <a:latin typeface="Calibri"/>
              </a:defRPr>
            </a:pPr>
            <a:r>
              <a:t>180s Dead-Man Switch</a:t>
            </a:r>
          </a:p>
        </p:txBody>
      </p:sp>
      <p:sp>
        <p:nvSpPr>
          <p:cNvPr id="22" name="TextBox 21"/>
          <p:cNvSpPr txBox="1"/>
          <p:nvPr/>
        </p:nvSpPr>
        <p:spPr>
          <a:xfrm>
            <a:off x="4251960" y="3566160"/>
            <a:ext cx="7132320" cy="384048"/>
          </a:xfrm>
          <a:prstGeom prst="rect">
            <a:avLst/>
          </a:prstGeom>
          <a:noFill/>
        </p:spPr>
        <p:txBody>
          <a:bodyPr wrap="square" anchor="t">
            <a:spAutoFit/>
          </a:bodyPr>
          <a:lstStyle/>
          <a:p>
            <a:pPr algn="l">
              <a:defRPr sz="1200" b="0">
                <a:solidFill>
                  <a:srgbClr val="E2E8F0"/>
                </a:solidFill>
                <a:latin typeface="Calibri"/>
              </a:defRPr>
            </a:pPr>
            <a:r>
              <a:t>Autonomously bypasses delays with full statutory SOP attribution.</a:t>
            </a:r>
          </a:p>
        </p:txBody>
      </p:sp>
      <p:sp>
        <p:nvSpPr>
          <p:cNvPr id="23" name="TextBox 22"/>
          <p:cNvSpPr txBox="1"/>
          <p:nvPr/>
        </p:nvSpPr>
        <p:spPr>
          <a:xfrm>
            <a:off x="731520" y="4014215"/>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24" name="TextBox 23"/>
          <p:cNvSpPr txBox="1"/>
          <p:nvPr/>
        </p:nvSpPr>
        <p:spPr>
          <a:xfrm>
            <a:off x="1234440" y="4014215"/>
            <a:ext cx="2926080" cy="384048"/>
          </a:xfrm>
          <a:prstGeom prst="rect">
            <a:avLst/>
          </a:prstGeom>
          <a:noFill/>
        </p:spPr>
        <p:txBody>
          <a:bodyPr wrap="square" anchor="t">
            <a:spAutoFit/>
          </a:bodyPr>
          <a:lstStyle/>
          <a:p>
            <a:pPr algn="l">
              <a:defRPr sz="1400" b="1">
                <a:solidFill>
                  <a:srgbClr val="FFFFFF"/>
                </a:solidFill>
                <a:latin typeface="Calibri"/>
              </a:defRPr>
            </a:pPr>
            <a:r>
              <a:t>Meterless Trace Telemetry</a:t>
            </a:r>
          </a:p>
        </p:txBody>
      </p:sp>
      <p:sp>
        <p:nvSpPr>
          <p:cNvPr id="25" name="TextBox 24"/>
          <p:cNvSpPr txBox="1"/>
          <p:nvPr/>
        </p:nvSpPr>
        <p:spPr>
          <a:xfrm>
            <a:off x="4251960" y="4014215"/>
            <a:ext cx="7132320" cy="384048"/>
          </a:xfrm>
          <a:prstGeom prst="rect">
            <a:avLst/>
          </a:prstGeom>
          <a:noFill/>
        </p:spPr>
        <p:txBody>
          <a:bodyPr wrap="square" anchor="t">
            <a:spAutoFit/>
          </a:bodyPr>
          <a:lstStyle/>
          <a:p>
            <a:pPr algn="l">
              <a:defRPr sz="1200" b="0">
                <a:solidFill>
                  <a:srgbClr val="E2E8F0"/>
                </a:solidFill>
                <a:latin typeface="Calibri"/>
              </a:defRPr>
            </a:pPr>
            <a:r>
              <a:t>Millisecond distributed tracing across all 9 agent state transitions.</a:t>
            </a:r>
          </a:p>
        </p:txBody>
      </p:sp>
      <p:sp>
        <p:nvSpPr>
          <p:cNvPr id="26" name="TextBox 25"/>
          <p:cNvSpPr txBox="1"/>
          <p:nvPr/>
        </p:nvSpPr>
        <p:spPr>
          <a:xfrm>
            <a:off x="731520" y="4462272"/>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27" name="TextBox 26"/>
          <p:cNvSpPr txBox="1"/>
          <p:nvPr/>
        </p:nvSpPr>
        <p:spPr>
          <a:xfrm>
            <a:off x="1234440" y="4462272"/>
            <a:ext cx="2926080" cy="384048"/>
          </a:xfrm>
          <a:prstGeom prst="rect">
            <a:avLst/>
          </a:prstGeom>
          <a:noFill/>
        </p:spPr>
        <p:txBody>
          <a:bodyPr wrap="square" anchor="t">
            <a:spAutoFit/>
          </a:bodyPr>
          <a:lstStyle/>
          <a:p>
            <a:pPr algn="l">
              <a:defRPr sz="1400" b="1">
                <a:solidFill>
                  <a:srgbClr val="FFFFFF"/>
                </a:solidFill>
                <a:latin typeface="Calibri"/>
              </a:defRPr>
            </a:pPr>
            <a:r>
              <a:t>100% Offline Resilience</a:t>
            </a:r>
          </a:p>
        </p:txBody>
      </p:sp>
      <p:sp>
        <p:nvSpPr>
          <p:cNvPr id="28" name="TextBox 27"/>
          <p:cNvSpPr txBox="1"/>
          <p:nvPr/>
        </p:nvSpPr>
        <p:spPr>
          <a:xfrm>
            <a:off x="4251960" y="4462272"/>
            <a:ext cx="7132320" cy="384048"/>
          </a:xfrm>
          <a:prstGeom prst="rect">
            <a:avLst/>
          </a:prstGeom>
          <a:noFill/>
        </p:spPr>
        <p:txBody>
          <a:bodyPr wrap="square" anchor="t">
            <a:spAutoFit/>
          </a:bodyPr>
          <a:lstStyle/>
          <a:p>
            <a:pPr algn="l">
              <a:defRPr sz="1200" b="0">
                <a:solidFill>
                  <a:srgbClr val="E2E8F0"/>
                </a:solidFill>
                <a:latin typeface="Calibri"/>
              </a:defRPr>
            </a:pPr>
            <a:r>
              <a:t>SAMPLE_MODE=true runs offline with zero external runtime dependencies.</a:t>
            </a:r>
          </a:p>
        </p:txBody>
      </p:sp>
      <p:sp>
        <p:nvSpPr>
          <p:cNvPr id="29" name="TextBox 28"/>
          <p:cNvSpPr txBox="1"/>
          <p:nvPr/>
        </p:nvSpPr>
        <p:spPr>
          <a:xfrm>
            <a:off x="731520" y="4910328"/>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30" name="TextBox 29"/>
          <p:cNvSpPr txBox="1"/>
          <p:nvPr/>
        </p:nvSpPr>
        <p:spPr>
          <a:xfrm>
            <a:off x="1234440" y="4910328"/>
            <a:ext cx="2926080" cy="384048"/>
          </a:xfrm>
          <a:prstGeom prst="rect">
            <a:avLst/>
          </a:prstGeom>
          <a:noFill/>
        </p:spPr>
        <p:txBody>
          <a:bodyPr wrap="square" anchor="t">
            <a:spAutoFit/>
          </a:bodyPr>
          <a:lstStyle/>
          <a:p>
            <a:pPr algn="l">
              <a:defRPr sz="1400" b="1">
                <a:solidFill>
                  <a:srgbClr val="FFFFFF"/>
                </a:solidFill>
                <a:latin typeface="Calibri"/>
              </a:defRPr>
            </a:pPr>
            <a:r>
              <a:t>Security &amp; Secrets Clean</a:t>
            </a:r>
          </a:p>
        </p:txBody>
      </p:sp>
      <p:sp>
        <p:nvSpPr>
          <p:cNvPr id="31" name="TextBox 30"/>
          <p:cNvSpPr txBox="1"/>
          <p:nvPr/>
        </p:nvSpPr>
        <p:spPr>
          <a:xfrm>
            <a:off x="4251960" y="4910328"/>
            <a:ext cx="7132320" cy="384048"/>
          </a:xfrm>
          <a:prstGeom prst="rect">
            <a:avLst/>
          </a:prstGeom>
          <a:noFill/>
        </p:spPr>
        <p:txBody>
          <a:bodyPr wrap="square" anchor="t">
            <a:spAutoFit/>
          </a:bodyPr>
          <a:lstStyle/>
          <a:p>
            <a:pPr algn="l">
              <a:defRPr sz="1200" b="0">
                <a:solidFill>
                  <a:srgbClr val="E2E8F0"/>
                </a:solidFill>
                <a:latin typeface="Calibri"/>
              </a:defRPr>
            </a:pPr>
            <a:r>
              <a:t>Zero hardcoded keys; complete .env.example configuration.</a:t>
            </a:r>
          </a:p>
        </p:txBody>
      </p:sp>
      <p:sp>
        <p:nvSpPr>
          <p:cNvPr id="32" name="TextBox 31"/>
          <p:cNvSpPr txBox="1"/>
          <p:nvPr/>
        </p:nvSpPr>
        <p:spPr>
          <a:xfrm>
            <a:off x="731520" y="5358384"/>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33" name="TextBox 32"/>
          <p:cNvSpPr txBox="1"/>
          <p:nvPr/>
        </p:nvSpPr>
        <p:spPr>
          <a:xfrm>
            <a:off x="1234440" y="5358384"/>
            <a:ext cx="2926080" cy="384048"/>
          </a:xfrm>
          <a:prstGeom prst="rect">
            <a:avLst/>
          </a:prstGeom>
          <a:noFill/>
        </p:spPr>
        <p:txBody>
          <a:bodyPr wrap="square" anchor="t">
            <a:spAutoFit/>
          </a:bodyPr>
          <a:lstStyle/>
          <a:p>
            <a:pPr algn="l">
              <a:defRPr sz="1400" b="1">
                <a:solidFill>
                  <a:srgbClr val="FFFFFF"/>
                </a:solidFill>
                <a:latin typeface="Calibri"/>
              </a:defRPr>
            </a:pPr>
            <a:r>
              <a:t>MIT Open Source License</a:t>
            </a:r>
          </a:p>
        </p:txBody>
      </p:sp>
      <p:sp>
        <p:nvSpPr>
          <p:cNvPr id="34" name="TextBox 33"/>
          <p:cNvSpPr txBox="1"/>
          <p:nvPr/>
        </p:nvSpPr>
        <p:spPr>
          <a:xfrm>
            <a:off x="4251960" y="5358384"/>
            <a:ext cx="7132320" cy="384048"/>
          </a:xfrm>
          <a:prstGeom prst="rect">
            <a:avLst/>
          </a:prstGeom>
          <a:noFill/>
        </p:spPr>
        <p:txBody>
          <a:bodyPr wrap="square" anchor="t">
            <a:spAutoFit/>
          </a:bodyPr>
          <a:lstStyle/>
          <a:p>
            <a:pPr algn="l">
              <a:defRPr sz="1200" b="0">
                <a:solidFill>
                  <a:srgbClr val="E2E8F0"/>
                </a:solidFill>
                <a:latin typeface="Calibri"/>
              </a:defRPr>
            </a:pPr>
            <a:r>
              <a:t>Publicly accessible on GitHub at github.com/mukuntheverquest/crisismesh.</a:t>
            </a:r>
          </a:p>
        </p:txBody>
      </p:sp>
      <p:sp>
        <p:nvSpPr>
          <p:cNvPr id="35" name="Rectangle 34"/>
          <p:cNvSpPr/>
          <p:nvPr/>
        </p:nvSpPr>
        <p:spPr>
          <a:xfrm>
            <a:off x="731520" y="5897880"/>
            <a:ext cx="10698480" cy="59436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989320"/>
            <a:ext cx="10515600" cy="411480"/>
          </a:xfrm>
          <a:prstGeom prst="rect">
            <a:avLst/>
          </a:prstGeom>
          <a:noFill/>
        </p:spPr>
        <p:txBody>
          <a:bodyPr wrap="square" anchor="t">
            <a:spAutoFit/>
          </a:bodyPr>
          <a:lstStyle/>
          <a:p>
            <a:pPr algn="ctr">
              <a:defRPr sz="1300" b="1">
                <a:solidFill>
                  <a:srgbClr val="FFFFFF"/>
                </a:solidFill>
                <a:latin typeface="Calibri"/>
              </a:defRPr>
            </a:pPr>
            <a:r>
              <a:t>Repository: https://github.com/mukuntheverquest/crisismesh   •   Local Demo: http://localhost:5173   •   Lead: Mukunth (mukuntheverquest)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