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4864" cy="3200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Calibri"/>
              </a:defRPr>
            </a:pPr>
            <a:r>
              <a:t>CrisisMesh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97316"/>
                </a:solidFill>
                <a:latin typeface="Calibri"/>
              </a:defRPr>
            </a:pPr>
            <a:r>
              <a:t>Multi-Agent Disaster Management for Fragmented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108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  <a:latin typeface="Calibri"/>
              </a:defRPr>
            </a:pPr>
            <a:r>
              <a:t>Solving 10 Verified Disaster Failure Archetypes with Autonomous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Open Agent Hackathon 2026  •  Track 1: Solving Fragmented Intelligence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4937760"/>
            <a:ext cx="1463040" cy="457200"/>
          </a:xfrm>
          <a:prstGeom prst="rect">
            <a:avLst/>
          </a:prstGeom>
          <a:solidFill>
            <a:srgbClr val="1E293B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95604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Zetaris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4937760"/>
            <a:ext cx="1463040" cy="457200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495604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Meterless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4937760"/>
            <a:ext cx="1463040" cy="457200"/>
          </a:xfrm>
          <a:prstGeom prst="rect">
            <a:avLst/>
          </a:prstGeom>
          <a:solidFill>
            <a:srgbClr val="1E293B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495604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NVIDIA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4937760"/>
            <a:ext cx="1463040" cy="457200"/>
          </a:xfrm>
          <a:prstGeom prst="rect">
            <a:avLst/>
          </a:prstGeom>
          <a:solidFill>
            <a:srgbClr val="1E293B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495604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Cursor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760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Team: CrisisMesh  •  Submission: 2026-10-27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Problem: Fragmented Intelligence 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97316"/>
                </a:solidFill>
                <a:latin typeface="Calibri"/>
              </a:defRPr>
            </a:pPr>
            <a:r>
              <a:t>10 Recent Disasters • 10 Systemic Failures • 1 Root Cause: Disconnected Data &amp; Delayed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2011680" cy="2194560"/>
          </a:xfrm>
          <a:prstGeom prst="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  <a:latin typeface="Calibri"/>
              </a:defRPr>
            </a:pPr>
            <a:r>
              <a:t>1. Sleeping Supervisor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Texas Flash Flood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603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4-hr alert delay</a:t>
            </a:r>
            <a:br/>
            <a:r>
              <a:t>supervisor asleep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1554480"/>
            <a:ext cx="2011680" cy="2194560"/>
          </a:xfrm>
          <a:prstGeom prst="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40" y="1645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  <a:latin typeface="Calibri"/>
              </a:defRPr>
            </a:pPr>
            <a:r>
              <a:t>2. Polygon Target Miss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057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LA Wildfires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5603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10M false alerts</a:t>
            </a:r>
            <a:br/>
            <a:r>
              <a:t>zero alerts to victims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0" y="1554480"/>
            <a:ext cx="2011680" cy="2194560"/>
          </a:xfrm>
          <a:prstGeom prst="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57800" y="1645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  <a:latin typeface="Calibri"/>
              </a:defRPr>
            </a:pPr>
            <a:r>
              <a:t>3. Governance Disconnect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2057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Valencia DANA 2024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25603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13-hr gap</a:t>
            </a:r>
            <a:br/>
            <a:r>
              <a:t>Red Alert → phone alert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199" y="1554480"/>
            <a:ext cx="2011680" cy="2194560"/>
          </a:xfrm>
          <a:prstGeom prst="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59" y="1645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  <a:latin typeface="Calibri"/>
              </a:defRPr>
            </a:pPr>
            <a:r>
              <a:t>4. Sensor Destruction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59" y="2057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Nepal Avalanche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59" y="25603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Gauges destroyed</a:t>
            </a:r>
            <a:br/>
            <a:r>
              <a:t>in 7 minutes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09760" y="1554480"/>
            <a:ext cx="2011680" cy="2194560"/>
          </a:xfrm>
          <a:prstGeom prst="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46920" y="1645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  <a:latin typeface="Calibri"/>
              </a:defRPr>
            </a:pPr>
            <a:r>
              <a:t>5. PDF Registry Chaos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2057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Nepal Floods 2024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46920" y="25603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3 incompatible</a:t>
            </a:r>
            <a:br/>
            <a:r>
              <a:t>rescued counts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023360"/>
            <a:ext cx="2011680" cy="2194560"/>
          </a:xfrm>
          <a:prstGeom prst="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114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  <a:latin typeface="Calibri"/>
              </a:defRPr>
            </a:pPr>
            <a:r>
              <a:t>6. Contradictory Orders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526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Libya Derna 2023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0292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Curfew → All Clear</a:t>
            </a:r>
            <a:br/>
            <a:r>
              <a:t>→ Evacuate (post-collapse)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26080" y="4023360"/>
            <a:ext cx="2011680" cy="2194560"/>
          </a:xfrm>
          <a:prstGeom prst="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63240" y="4114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  <a:latin typeface="Calibri"/>
              </a:defRPr>
            </a:pPr>
            <a:r>
              <a:t>7. Unilingual Alerts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63240" y="4526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Nepal Floods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63240" y="50292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Nepali-only on</a:t>
            </a:r>
            <a:br/>
            <a:r>
              <a:t>international trekking route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20640" y="4023360"/>
            <a:ext cx="2011680" cy="2194560"/>
          </a:xfrm>
          <a:prstGeom prst="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57800" y="4114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  <a:latin typeface="Calibri"/>
              </a:defRPr>
            </a:pPr>
            <a:r>
              <a:t>8. Total Isolation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57800" y="4526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Hurricane Helene 2024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57800" y="50292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11 counties cut off</a:t>
            </a:r>
            <a:br/>
            <a:r>
              <a:t>no comms/power/roads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199" y="4023360"/>
            <a:ext cx="2011680" cy="2194560"/>
          </a:xfrm>
          <a:prstGeom prst="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52359" y="4114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  <a:latin typeface="Calibri"/>
              </a:defRPr>
            </a:pPr>
            <a:r>
              <a:t>9. Social Media Noise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52359" y="4526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Türkiye Earthquake 2023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52359" y="50292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1.8M tweets/12hr</a:t>
            </a:r>
            <a:br/>
            <a:r>
              <a:t>4% geocoding hallucinations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509760" y="4023360"/>
            <a:ext cx="2011680" cy="2194560"/>
          </a:xfrm>
          <a:prstGeom prst="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46920" y="4114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  <a:latin typeface="Calibri"/>
              </a:defRPr>
            </a:pPr>
            <a:r>
              <a:t>10. Dashboard vs Reality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46920" y="4526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Nepal Tunnels 2026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46920" y="50292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500 trapped workers</a:t>
            </a:r>
            <a:br/>
            <a:r>
              <a:t>only smartphone lights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CrisisMesh: Autonomous Multi-Agent Disaster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97316"/>
                </a:solidFill>
                <a:latin typeface="Calibri"/>
              </a:defRPr>
            </a:pPr>
            <a:r>
              <a:t>LangGraph Orchestration • 9 Specialized Agents • Offline-Capable • Sponsor-Tech Integrated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2011680" cy="1645920"/>
          </a:xfrm>
          <a:prstGeom prst="rect">
            <a:avLst/>
          </a:prstGeom>
          <a:solidFill>
            <a:srgbClr val="1E293B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PlannerAgent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Task Decomposition</a:t>
            </a:r>
            <a:br/>
            <a:r>
              <a:t>180s Dead-Man Switch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1554480"/>
            <a:ext cx="2011680" cy="1645920"/>
          </a:xfrm>
          <a:prstGeom prst="rect">
            <a:avLst/>
          </a:prstGeom>
          <a:solidFill>
            <a:srgbClr val="1E293B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1645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  <a:latin typeface="Calibri"/>
              </a:defRPr>
            </a:pPr>
            <a:r>
              <a:t>FormatDetector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1031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Sensor/Data</a:t>
            </a:r>
            <a:br/>
            <a:r>
              <a:t>Classification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0" y="1554480"/>
            <a:ext cx="2011680" cy="1645920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79" y="1645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IngestionExecutor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9" y="21031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Multi-Modal Ingestion</a:t>
            </a:r>
            <a:br/>
            <a:r>
              <a:t>Zetaris + CUDA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1554480"/>
            <a:ext cx="2011680" cy="1645920"/>
          </a:xfrm>
          <a:prstGeom prst="rect">
            <a:avLst/>
          </a:prstGeom>
          <a:solidFill>
            <a:srgbClr val="1E293B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1645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Calibri"/>
              </a:defRPr>
            </a:pPr>
            <a:r>
              <a:t>WorldModelSim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21031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Hazard Propagation</a:t>
            </a:r>
            <a:br/>
            <a:r>
              <a:t>Vector Auto-Expansion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09760" y="1554480"/>
            <a:ext cx="2011680" cy="1645920"/>
          </a:xfrm>
          <a:prstGeom prst="rect">
            <a:avLst/>
          </a:prstGeom>
          <a:solidFill>
            <a:srgbClr val="1E293B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0" y="1645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855F7"/>
                </a:solidFill>
                <a:latin typeface="Calibri"/>
              </a:defRPr>
            </a:pPr>
            <a:r>
              <a:t>MarkovianRouter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21031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Autonomous Alert</a:t>
            </a:r>
            <a:br/>
            <a:r>
              <a:t>Routing (Meterless)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840480"/>
            <a:ext cx="2011680" cy="1645920"/>
          </a:xfrm>
          <a:prstGeom prst="rect">
            <a:avLst/>
          </a:prstGeom>
          <a:solidFill>
            <a:srgbClr val="1E293B"/>
          </a:solidFill>
          <a:ln w="254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931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C4899"/>
                </a:solidFill>
                <a:latin typeface="Calibri"/>
              </a:defRPr>
            </a:pPr>
            <a:r>
              <a:t>HMemStore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3891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Cross-Jurisdictional</a:t>
            </a:r>
            <a:br/>
            <a:r>
              <a:t>SOPs (Meterless)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26080" y="3840480"/>
            <a:ext cx="2011680" cy="1645920"/>
          </a:xfrm>
          <a:prstGeom prst="rect">
            <a:avLst/>
          </a:prstGeom>
          <a:solidFill>
            <a:srgbClr val="1E293B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17520" y="3931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EvaluatorAgent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43891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Quality Validation</a:t>
            </a:r>
            <a:br/>
            <a:r>
              <a:t>Critique Loops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20640" y="3840480"/>
            <a:ext cx="2011680" cy="1645920"/>
          </a:xfrm>
          <a:prstGeom prst="rect">
            <a:avLst/>
          </a:prstGeom>
          <a:solidFill>
            <a:srgbClr val="1E293B"/>
          </a:solidFill>
          <a:ln w="2540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12079" y="3931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AB308"/>
                </a:solidFill>
                <a:latin typeface="Calibri"/>
              </a:defRPr>
            </a:pPr>
            <a:r>
              <a:t>RiskDispatch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79" y="43891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Alerts, Assets,</a:t>
            </a:r>
            <a:br/>
            <a:r>
              <a:t>Evacuation, Multilingual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0" y="3840480"/>
            <a:ext cx="2011680" cy="1645920"/>
          </a:xfrm>
          <a:prstGeom prst="rect">
            <a:avLst/>
          </a:prstGeom>
          <a:solidFill>
            <a:srgbClr val="1E293B"/>
          </a:solidFill>
          <a:ln w="25400">
            <a:solidFill>
              <a:srgbClr val="84C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0" y="3931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4CC16"/>
                </a:solidFill>
                <a:latin typeface="Calibri"/>
              </a:defRPr>
            </a:pPr>
            <a:r>
              <a:t>ReporterAgent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43891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Provenance Traces</a:t>
            </a:r>
            <a:br/>
            <a:r>
              <a:t>Audit Reports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20640" y="2743200"/>
            <a:ext cx="2011680" cy="1645920"/>
          </a:xfrm>
          <a:prstGeom prst="rect">
            <a:avLst/>
          </a:prstGeom>
          <a:solidFill>
            <a:srgbClr val="0F172A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12080" y="2834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LangGraph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32918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  <a:latin typeface="Calibri"/>
              </a:defRPr>
            </a:pPr>
            <a:r>
              <a:t>State Orchestration</a:t>
            </a:r>
            <a:br/>
            <a:r>
              <a:t>Shared Memory</a:t>
            </a:r>
            <a:br/>
            <a:r>
              <a:t>Feedback Loops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Agent Architecture: LangGraph State Machine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8063680000" y="1254191040000"/>
            <a:ext cx="1143000" cy="1828800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8063725720" y="1254191085720"/>
            <a:ext cx="1051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B82F6"/>
                </a:solidFill>
                <a:latin typeface="Calibri"/>
              </a:defRPr>
            </a:pPr>
            <a:r>
              <a:t>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8063725720" y="1254191542920"/>
            <a:ext cx="1051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2E8F0"/>
                </a:solidFill>
                <a:latin typeface="Calibri"/>
              </a:defRPr>
            </a:pPr>
            <a:r>
              <a:t>Sensor Data</a:t>
            </a:r>
            <a:br/>
            <a:r>
              <a:t>Social Media</a:t>
            </a:r>
            <a:br/>
            <a:r>
              <a:t>Official Alerts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18064823000" y="1254191817240"/>
            <a:ext cx="118872" cy="27432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71919436800" y="1254191040000"/>
            <a:ext cx="1143000" cy="1828800"/>
          </a:xfrm>
          <a:prstGeom prst="rect">
            <a:avLst/>
          </a:prstGeom>
          <a:solidFill>
            <a:srgbClr val="1E293B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71919482520" y="1254191085720"/>
            <a:ext cx="1051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F4444"/>
                </a:solidFill>
                <a:latin typeface="Calibri"/>
              </a:defRPr>
            </a:pPr>
            <a:r>
              <a:t>PLANNER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1919482520" y="1254191542920"/>
            <a:ext cx="1051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2E8F0"/>
                </a:solidFill>
                <a:latin typeface="Calibri"/>
              </a:defRPr>
            </a:pPr>
            <a:r>
              <a:t>Decompose Goal</a:t>
            </a:r>
            <a:br/>
            <a:r>
              <a:t>Create Task Graph</a:t>
            </a:r>
            <a:br/>
            <a:r>
              <a:t>180s Dead-Man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571920579800" y="1254191817240"/>
            <a:ext cx="118872" cy="274320"/>
          </a:xfrm>
          <a:prstGeom prst="rightArrow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25775193600" y="1254191040000"/>
            <a:ext cx="1143000" cy="1828800"/>
          </a:xfrm>
          <a:prstGeom prst="rect">
            <a:avLst/>
          </a:prstGeom>
          <a:solidFill>
            <a:srgbClr val="1E293B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25775239320" y="1254191085720"/>
            <a:ext cx="1051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97316"/>
                </a:solidFill>
                <a:latin typeface="Calibri"/>
              </a:defRPr>
            </a:pPr>
            <a:r>
              <a:t>FORMAT</a:t>
            </a:r>
            <a:br/>
            <a:r>
              <a:t>DETECTOR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25775239320" y="1254191542920"/>
            <a:ext cx="1051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2E8F0"/>
                </a:solidFill>
                <a:latin typeface="Calibri"/>
              </a:defRPr>
            </a:pPr>
            <a:r>
              <a:t>Classify Sources</a:t>
            </a:r>
            <a:br/>
            <a:r>
              <a:t>Assess Complexity</a:t>
            </a:r>
            <a:br/>
            <a:r>
              <a:t>Route to Ingestion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725776336600" y="1254191817240"/>
            <a:ext cx="118872" cy="274320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79630950400" y="1254191040000"/>
            <a:ext cx="1143000" cy="1828800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79630996120" y="1254191085720"/>
            <a:ext cx="1051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B82F6"/>
                </a:solidFill>
                <a:latin typeface="Calibri"/>
              </a:defRPr>
            </a:pPr>
            <a:r>
              <a:t>INGESTION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79630996120" y="1254191542920"/>
            <a:ext cx="1051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2E8F0"/>
                </a:solidFill>
                <a:latin typeface="Calibri"/>
              </a:defRPr>
            </a:pPr>
            <a:r>
              <a:t>Parse PDFs/CSV/SAR</a:t>
            </a:r>
            <a:br/>
            <a:r>
              <a:t>Entity Resolution</a:t>
            </a:r>
            <a:br/>
            <a:r>
              <a:t>Zetaris Federation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879632093400" y="1254191817240"/>
            <a:ext cx="118872" cy="27432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33486707200" y="1254191040000"/>
            <a:ext cx="1143000" cy="1828800"/>
          </a:xfrm>
          <a:prstGeom prst="rect">
            <a:avLst/>
          </a:prstGeom>
          <a:solidFill>
            <a:srgbClr val="1E293B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33486752920" y="1254191085720"/>
            <a:ext cx="1051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2C55E"/>
                </a:solidFill>
                <a:latin typeface="Calibri"/>
              </a:defRPr>
            </a:pPr>
            <a:r>
              <a:t>WORLD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33486752920" y="1254191542920"/>
            <a:ext cx="1051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2E8F0"/>
                </a:solidFill>
                <a:latin typeface="Calibri"/>
              </a:defRPr>
            </a:pPr>
            <a:r>
              <a:t>Simulate Propagation</a:t>
            </a:r>
            <a:br/>
            <a:r>
              <a:t>Expand Polygons</a:t>
            </a:r>
            <a:br/>
            <a:r>
              <a:t>Calculate ETAs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033487850200" y="1254191817240"/>
            <a:ext cx="118872" cy="274320"/>
          </a:xfrm>
          <a:prstGeom prst="rightArrow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87341549600" y="1254191040000"/>
            <a:ext cx="1143000" cy="1828800"/>
          </a:xfrm>
          <a:prstGeom prst="rect">
            <a:avLst/>
          </a:prstGeom>
          <a:solidFill>
            <a:srgbClr val="1E293B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87341595320" y="1254191085720"/>
            <a:ext cx="1051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A855F7"/>
                </a:solidFill>
                <a:latin typeface="Calibri"/>
              </a:defRPr>
            </a:pPr>
            <a:r>
              <a:t>MARKOVIAN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87341595320" y="1254191542920"/>
            <a:ext cx="1051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2E8F0"/>
                </a:solidFill>
                <a:latin typeface="Calibri"/>
              </a:defRPr>
            </a:pPr>
            <a:r>
              <a:t>State Routing</a:t>
            </a:r>
            <a:br/>
            <a:r>
              <a:t>Auto-Dispatch</a:t>
            </a:r>
            <a:br/>
            <a:r>
              <a:t>Bypass Human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6187342692600" y="1254191817240"/>
            <a:ext cx="118872" cy="274320"/>
          </a:xfrm>
          <a:prstGeom prst="rightArrow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41197306400" y="1254191040000"/>
            <a:ext cx="1143000" cy="1828800"/>
          </a:xfrm>
          <a:prstGeom prst="rect">
            <a:avLst/>
          </a:prstGeom>
          <a:solidFill>
            <a:srgbClr val="1E293B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41197352120" y="1254191085720"/>
            <a:ext cx="1051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6B6D4"/>
                </a:solidFill>
                <a:latin typeface="Calibri"/>
              </a:defRPr>
            </a:pPr>
            <a:r>
              <a:t>EVALUATOR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41197352120" y="1254191542920"/>
            <a:ext cx="1051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2E8F0"/>
                </a:solidFill>
                <a:latin typeface="Calibri"/>
              </a:defRPr>
            </a:pPr>
            <a:r>
              <a:t>Quality Gates</a:t>
            </a:r>
            <a:br/>
            <a:r>
              <a:t>Critique Loop</a:t>
            </a:r>
            <a:br/>
            <a:r>
              <a:t>Revision Trigger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7341198449400" y="1254191817240"/>
            <a:ext cx="118872" cy="274320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495053977600" y="1254191040000"/>
            <a:ext cx="1143000" cy="1828800"/>
          </a:xfrm>
          <a:prstGeom prst="rect">
            <a:avLst/>
          </a:prstGeom>
          <a:solidFill>
            <a:srgbClr val="1E293B"/>
          </a:solidFill>
          <a:ln w="254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95054023320" y="1254191085720"/>
            <a:ext cx="1051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C4899"/>
                </a:solidFill>
                <a:latin typeface="Calibri"/>
              </a:defRPr>
            </a:pPr>
            <a:r>
              <a:t>RISK</a:t>
            </a:r>
            <a:br/>
            <a:r>
              <a:t>DISPATCH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95054023320" y="1254191542920"/>
            <a:ext cx="1051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2E8F0"/>
                </a:solidFill>
                <a:latin typeface="Calibri"/>
              </a:defRPr>
            </a:pPr>
            <a:r>
              <a:t>Multilingual Alerts</a:t>
            </a:r>
            <a:br/>
            <a:r>
              <a:t>Asset Matching</a:t>
            </a:r>
            <a:br/>
            <a:r>
              <a:t>Evacuation Routes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8495055120600" y="1254191817240"/>
            <a:ext cx="118872" cy="274320"/>
          </a:xfrm>
          <a:prstGeom prst="rightArrow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48909734400" y="1254191040000"/>
            <a:ext cx="1143000" cy="1828800"/>
          </a:xfrm>
          <a:prstGeom prst="rect">
            <a:avLst/>
          </a:prstGeom>
          <a:solidFill>
            <a:srgbClr val="1E293B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48909780120" y="1254191085720"/>
            <a:ext cx="1051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2C55E"/>
                </a:solidFill>
                <a:latin typeface="Calibri"/>
              </a:defRPr>
            </a:pPr>
            <a:r>
              <a:t>OUTPUT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48909780120" y="1254191542920"/>
            <a:ext cx="1051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2E8F0"/>
                </a:solidFill>
                <a:latin typeface="Calibri"/>
              </a:defRPr>
            </a:pPr>
            <a:r>
              <a:t>Actionable Alerts</a:t>
            </a:r>
            <a:br/>
            <a:r>
              <a:t>Deployed Assets</a:t>
            </a:r>
            <a:br/>
            <a:r>
              <a:t>Provenance Report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8063680000" y="3511734912000"/>
            <a:ext cx="210312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8063771440" y="35117350034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Calibri"/>
              </a:defRPr>
            </a:pPr>
            <a:r>
              <a:t>SAMPLE_MODE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8063771440" y="351173536920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100% offline, no external API dependencies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08382080000" y="3511734912000"/>
            <a:ext cx="210312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508382171440" y="35117350034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Calibri"/>
              </a:defRPr>
            </a:pPr>
            <a:r>
              <a:t>Async Checkpointer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08382171440" y="351173536920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SQLite persistence for LangGraph state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98700480000" y="3511734912000"/>
            <a:ext cx="210312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98700571440" y="35117350034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Calibri"/>
              </a:defRPr>
            </a:pPr>
            <a:r>
              <a:t>Meterless Tracing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98700571440" y="351173536920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@trace_agent on all 9 agents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89018880000" y="3511734912000"/>
            <a:ext cx="210312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89018971440" y="35117350034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Calibri"/>
              </a:defRPr>
            </a:pPr>
            <a:r>
              <a:t>Critique Loops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89018971440" y="351173536920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Evaluator → Revision → Re-execute (max 3)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779337280000" y="3511734912000"/>
            <a:ext cx="210312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79337371440" y="35117350034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Calibri"/>
              </a:defRPr>
            </a:pPr>
            <a:r>
              <a:t>Dynamic Routing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79337371440" y="351173536920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State-based conditional edges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8063680000" y="4933151424000"/>
            <a:ext cx="2651760" cy="1097280"/>
          </a:xfrm>
          <a:prstGeom prst="rect">
            <a:avLst/>
          </a:prstGeom>
          <a:solidFill>
            <a:srgbClr val="1E293B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8063771440" y="49331514697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Calibri"/>
              </a:defRPr>
            </a:pPr>
            <a:r>
              <a:t>Zetaris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8063771440" y="49331517897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Universal Semantic Layer</a:t>
            </a:r>
            <a:br/>
            <a:r>
              <a:t>Data Federation + Lineage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010058496000" y="4933151424000"/>
            <a:ext cx="2651760" cy="1097280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010058587440" y="49331514697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Meterless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010058587440" y="49331517897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H-Mem + Markovian + World Model</a:t>
            </a:r>
            <a:br/>
            <a:r>
              <a:t>Observability Engines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602053312000" y="4933151424000"/>
            <a:ext cx="2651760" cy="1097280"/>
          </a:xfrm>
          <a:prstGeom prst="rect">
            <a:avLst/>
          </a:prstGeom>
          <a:solidFill>
            <a:srgbClr val="1E293B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602053403440" y="49331514697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Calibri"/>
              </a:defRPr>
            </a:pPr>
            <a:r>
              <a:t>NVIDIA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02053403440" y="49331517897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CUDA Embeddings + GPU Inference</a:t>
            </a:r>
            <a:br/>
            <a:r>
              <a:t>Risk Modeling Acceleration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194048128000" y="4933151424000"/>
            <a:ext cx="2651760" cy="1097280"/>
          </a:xfrm>
          <a:prstGeom prst="rect">
            <a:avLst/>
          </a:prstGeom>
          <a:solidFill>
            <a:srgbClr val="1E293B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194048219440" y="49331514697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97316"/>
                </a:solidFill>
                <a:latin typeface="Calibri"/>
              </a:defRPr>
            </a:pPr>
            <a:r>
              <a:t>Cursor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194048219440" y="49331517897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AI-Native Dev Environment</a:t>
            </a:r>
            <a:br/>
            <a:r>
              <a:t>Code Generation + Debugging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Sponsor Technology: Deep Integration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5029200" cy="2560320"/>
          </a:xfrm>
          <a:prstGeom prst="rect">
            <a:avLst/>
          </a:prstGeom>
          <a:solidFill>
            <a:srgbClr val="1E293B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  <a:latin typeface="Calibri"/>
              </a:defRPr>
            </a:pPr>
            <a:r>
              <a:t>Zetaris: Universal Semantic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Federated queries across fragmented disaster data sources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Schema registry for sensor formats (PDF, CSV, SAR, XLSX)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Data lineage tracking from source to alert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Spatial joins: Sentinel-1 SAR damage footprints ↔ distress signals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Lightning SQL ingestion &lt;15s for multi-format disaster reports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188720"/>
            <a:ext cx="5029200" cy="2560320"/>
          </a:xfrm>
          <a:prstGeom prst="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Calibri"/>
              </a:defRPr>
            </a:pPr>
            <a:r>
              <a:t>Meterless: Agent Observability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9164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H-Mem: Long-term SOP memory for cross-jurisdictional protocols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Markovian: State-based routing for autonomous dead-man switching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World Model: Hazard propagation simulation (wind/water vectors)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@trace_agent / @trace_tool_call decorators on all 9 agents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Real-time agent traces for debugging &amp; audit compliance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931920"/>
            <a:ext cx="5029200" cy="2560320"/>
          </a:xfrm>
          <a:prstGeom prst="rect">
            <a:avLst/>
          </a:prstGeom>
          <a:solidFill>
            <a:srgbClr val="1E293B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  <a:latin typeface="Calibri"/>
              </a:defRPr>
            </a:pPr>
            <a:r>
              <a:t>NVIDIA: GPU-Accelerated Intelligence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3484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sentence-transformers embeddings on CUDA for entity resolution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GPU-accelerated risk modeling (flood propagation, fire spread)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TensorRT optimization for low-latency inference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NVIDIA CUDA 12.4 base image for Docker deployment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Batch processing of 1000+ survivor records in seconds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931920"/>
            <a:ext cx="5029200" cy="2560320"/>
          </a:xfrm>
          <a:prstGeom prst="rect">
            <a:avLst/>
          </a:prstGeom>
          <a:solidFill>
            <a:srgbClr val="1E293B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0233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97316"/>
                </a:solidFill>
                <a:latin typeface="Calibri"/>
              </a:defRPr>
            </a:pPr>
            <a:r>
              <a:t>Cursor: AI-Native Development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43484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AI-assisted code generation for all 9 agents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Real-time debugging with agent trace inspection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Automated test generation for disaster scenarios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Refactoring of LangGraph orchestration logic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Documentation generation from code comments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Demo Scenarios: All 10 Verified Failure Archetypes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8063680000" y="1086965568000"/>
            <a:ext cx="2103120" cy="2377440"/>
          </a:xfrm>
          <a:prstGeom prst="rect">
            <a:avLst/>
          </a:prstGeom>
          <a:solidFill>
            <a:srgbClr val="1E293B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8063771440" y="10869656594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🌊 Texas Flash Flood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8063771440" y="10869661166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Calibri"/>
              </a:defRPr>
            </a:pPr>
            <a:r>
              <a:t>Dead-Man Switch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8063771440" y="108696657384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Auto-alert in 180s when supervisor sleeps</a:t>
            </a:r>
          </a:p>
        </p:txBody>
      </p:sp>
      <p:sp>
        <p:nvSpPr>
          <p:cNvPr id="8" name="Rectangle 7"/>
          <p:cNvSpPr/>
          <p:nvPr/>
        </p:nvSpPr>
        <p:spPr>
          <a:xfrm>
            <a:off x="2508382080000" y="1086965568000"/>
            <a:ext cx="2103120" cy="2377440"/>
          </a:xfrm>
          <a:prstGeom prst="rect">
            <a:avLst/>
          </a:prstGeom>
          <a:solidFill>
            <a:srgbClr val="1E293B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08382171440" y="10869656594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🔥 LA Wildfires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08382171440" y="10869661166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97316"/>
                </a:solidFill>
                <a:latin typeface="Calibri"/>
              </a:defRPr>
            </a:pPr>
            <a:r>
              <a:t>Polygon Guardrail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08382171440" y="108696657384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Block 10M false alerts; expand evacuation downwind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98700480000" y="1086965568000"/>
            <a:ext cx="2103120" cy="2377440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8700571440" y="10869656594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💧 Valencia DANA 2024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8700571440" y="10869661166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Calibri"/>
              </a:defRPr>
            </a:pPr>
            <a:r>
              <a:t>Cross-Jurisdictional SOP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8700571440" y="108696657384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Red Alert → joint mobilization in seconds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89018880000" y="1086965568000"/>
            <a:ext cx="2103120" cy="2377440"/>
          </a:xfrm>
          <a:prstGeom prst="rect">
            <a:avLst/>
          </a:prstGeom>
          <a:solidFill>
            <a:srgbClr val="1E293B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89018971440" y="10869656594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❄️ Nepal Avalanche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89018971440" y="10869661166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Calibri"/>
              </a:defRPr>
            </a:pPr>
            <a:r>
              <a:t>Sensor Loss Inference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89018971440" y="108696657384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Treat gauge destruction as hazard signal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79337280000" y="1086965568000"/>
            <a:ext cx="2103120" cy="2377440"/>
          </a:xfrm>
          <a:prstGeom prst="rect">
            <a:avLst/>
          </a:prstGeom>
          <a:solidFill>
            <a:srgbClr val="1E293B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9337371440" y="10869656594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📄 Nepal Floods 2024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9337371440" y="10869661166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Calibri"/>
              </a:defRPr>
            </a:pPr>
            <a:r>
              <a:t>CUDA Entity Resolution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9337371440" y="108696657384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Deduplicate 3 registries in &lt;15s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8063680000" y="3511734912000"/>
            <a:ext cx="2103120" cy="2377440"/>
          </a:xfrm>
          <a:prstGeom prst="rect">
            <a:avLst/>
          </a:prstGeom>
          <a:solidFill>
            <a:srgbClr val="1E293B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8063771440" y="35117350034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🏗️ Libya Derna 2023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8063771440" y="35117354606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97316"/>
                </a:solidFill>
                <a:latin typeface="Calibri"/>
              </a:defRPr>
            </a:pPr>
            <a:r>
              <a:t>Contradiction Detection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8063771440" y="351173591784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Block curfew in inundation zone; enforce evacuation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08382080000" y="3511734912000"/>
            <a:ext cx="2103120" cy="2377440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08382171440" y="35117350034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🌍 Nepal Multilingual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08382171440" y="35117354606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Calibri"/>
              </a:defRPr>
            </a:pPr>
            <a:r>
              <a:t>Multilingual Synthesis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08382171440" y="351173591784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Alerts in Ne/Hi/Bo/En with GPS shelters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98700480000" y="3511734912000"/>
            <a:ext cx="2103120" cy="2377440"/>
          </a:xfrm>
          <a:prstGeom prst="rect">
            <a:avLst/>
          </a:prstGeom>
          <a:solidFill>
            <a:srgbClr val="1E293B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98700571440" y="35117350034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📡 Hurricane Helene 2024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98700571440" y="35117354606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Calibri"/>
              </a:defRPr>
            </a:pPr>
            <a:r>
              <a:t>Offline-First + Reroute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98700571440" y="351173591784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VHF/siren fallback; helo/drone dispatch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89018880000" y="3511734912000"/>
            <a:ext cx="2103120" cy="2377440"/>
          </a:xfrm>
          <a:prstGeom prst="rect">
            <a:avLst/>
          </a:prstGeom>
          <a:solidFill>
            <a:srgbClr val="1E293B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89018971440" y="35117350034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📱 Türkiye Quake 2023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89018971440" y="35117354606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Calibri"/>
              </a:defRPr>
            </a:pPr>
            <a:r>
              <a:t>Satellite Verification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89018971440" y="351173591784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SAR join filters 4% geocoding hallucinations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79337280000" y="3511734912000"/>
            <a:ext cx="2103120" cy="2377440"/>
          </a:xfrm>
          <a:prstGeom prst="rect">
            <a:avLst/>
          </a:prstGeom>
          <a:solidFill>
            <a:srgbClr val="1E293B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79337371440" y="35117350034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🚇 Nepal Tunnels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79337371440" y="35117354606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97316"/>
                </a:solidFill>
                <a:latin typeface="Calibri"/>
              </a:defRPr>
            </a:pPr>
            <a:r>
              <a:t>Capability-Matched Dispatch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79337371440" y="351173591784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Tunnel rescue teams + LiDAR drones + DMAT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Technology Stack &amp;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3474720" cy="5029200"/>
          </a:xfrm>
          <a:prstGeom prst="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Calibri"/>
              </a:defRPr>
            </a:pPr>
            <a:r>
              <a:t>Backend (FastAPI + LangGraph)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Python 3.11 • FastAPI 0.112 • LangGraph 0.3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9 Agents • AsyncSqliteSaver checkpointer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Pydantic 2.8 • SQLAlchemy 2.0 • asyncpg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sentence-transformers 3.0 • transformers 4.43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torch 2.9 CUDA • opentelemetry 1.25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structlog • prometheus-client • redis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Docker: nvidia/cuda:12.4.1-runtime-ubuntu22.04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SAMPLE_MODE=true for offline operation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188720"/>
            <a:ext cx="3474720" cy="5029200"/>
          </a:xfrm>
          <a:prstGeom prst="rect">
            <a:avLst/>
          </a:prstGeom>
          <a:solidFill>
            <a:srgbClr val="1E293B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280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  <a:latin typeface="Calibri"/>
              </a:defRPr>
            </a:pPr>
            <a:r>
              <a:t>Frontend (React + TypeScript)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73736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React 18 • TypeScript • Vite 5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Tailwind CSS • Lucide Icons • React Router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Leaflet Maps • React-Leaflet for geo viz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Dashboard: Metrics, Scenarios, Jobs, Map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Scenario Tester: 10 archetypes with live data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Job Details: Agent traces, quality scores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Map View: Alerts, routes, assets, shelters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npm run build → static nginx deployment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188720"/>
            <a:ext cx="3474720" cy="5029200"/>
          </a:xfrm>
          <a:prstGeom prst="rect">
            <a:avLst/>
          </a:prstGeom>
          <a:solidFill>
            <a:srgbClr val="1E293B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280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97316"/>
                </a:solidFill>
                <a:latin typeface="Calibri"/>
              </a:defRPr>
            </a:pPr>
            <a:r>
              <a:t>Infrastructure &amp; 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73736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Docker Compose: 5 services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PostgreSQL 16 + Redis 7 + pgAdmin 4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Nginx reverse proxy + SSL ready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Health checks on all services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SQLite fallback for zero-config local dev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GitHub Actions CI: lint, test, build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Pre-commit hooks: black, ruff, mypy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  <a:latin typeface="Calibri"/>
              </a:defRPr>
            </a:pPr>
            <a:r>
              <a:t>MIT License • No hardcoded secrets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Quality Assurance &amp; Validation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68901888000" y="1254191040000"/>
            <a:ext cx="2560320" cy="2194560"/>
          </a:xfrm>
          <a:prstGeom prst="rect">
            <a:avLst/>
          </a:prstGeom>
          <a:solidFill>
            <a:srgbClr val="1E293B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8902025160" y="1254191177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Calibri"/>
              </a:defRPr>
            </a:pPr>
            <a:r>
              <a:t>Agent Import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8902025160" y="12541915886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8902025160" y="12541923201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  <a:latin typeface="Calibri"/>
              </a:defRPr>
            </a:pPr>
            <a:r>
              <a:t>All 9 agents import</a:t>
            </a:r>
            <a:br/>
            <a:r>
              <a:t>without errors</a:t>
            </a:r>
          </a:p>
        </p:txBody>
      </p:sp>
      <p:sp>
        <p:nvSpPr>
          <p:cNvPr id="8" name="Rectangle 7"/>
          <p:cNvSpPr/>
          <p:nvPr/>
        </p:nvSpPr>
        <p:spPr>
          <a:xfrm>
            <a:off x="3177283968000" y="1254191040000"/>
            <a:ext cx="2560320" cy="2194560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77284105160" y="1254191177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Pipeline Stages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77284105160" y="12541915886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5/9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77284105160" y="12541923201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  <a:latin typeface="Calibri"/>
              </a:defRPr>
            </a:pPr>
            <a:r>
              <a:t>Planner → Markovian</a:t>
            </a:r>
            <a:br/>
            <a:r>
              <a:t>verified end-to-end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85666048000" y="1254191040000"/>
            <a:ext cx="2560320" cy="2194560"/>
          </a:xfrm>
          <a:prstGeom prst="rect">
            <a:avLst/>
          </a:prstGeom>
          <a:solidFill>
            <a:srgbClr val="1E293B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85666185160" y="1254191177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  <a:latin typeface="Calibri"/>
              </a:defRPr>
            </a:pPr>
            <a:r>
              <a:t>API Endpoints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85666185160" y="12541915886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6/6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85666185160" y="12541923201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  <a:latin typeface="Calibri"/>
              </a:defRPr>
            </a:pPr>
            <a:r>
              <a:t>Health, Scenarios,</a:t>
            </a:r>
            <a:br/>
            <a:r>
              <a:t>Respond, Sync, Graph, Demo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94048128000" y="1254191040000"/>
            <a:ext cx="2560320" cy="2194560"/>
          </a:xfrm>
          <a:prstGeom prst="rect">
            <a:avLst/>
          </a:prstGeom>
          <a:solidFill>
            <a:srgbClr val="1E293B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4048265160" y="1254191177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Calibri"/>
              </a:defRPr>
            </a:pPr>
            <a:r>
              <a:t>Frontend Build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4048265160" y="12541915886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4048265160" y="12541923201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  <a:latin typeface="Calibri"/>
              </a:defRPr>
            </a:pPr>
            <a:r>
              <a:t>TypeScript compiles</a:t>
            </a:r>
            <a:br/>
            <a:r>
              <a:t>zero errors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8901888000" y="3511734912000"/>
            <a:ext cx="2560320" cy="2194560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8902025160" y="3511735049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Docker Compose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8902025160" y="35117354606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5/5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8902025160" y="35117361921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  <a:latin typeface="Calibri"/>
              </a:defRPr>
            </a:pPr>
            <a:r>
              <a:t>All services defined</a:t>
            </a:r>
            <a:br/>
            <a:r>
              <a:t>with health checks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77283968000" y="3511734912000"/>
            <a:ext cx="2560320" cy="2194560"/>
          </a:xfrm>
          <a:prstGeom prst="rect">
            <a:avLst/>
          </a:prstGeom>
          <a:solidFill>
            <a:srgbClr val="1E293B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77284105160" y="3511735049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  <a:latin typeface="Calibri"/>
              </a:defRPr>
            </a:pPr>
            <a:r>
              <a:t>Test Coverage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77284105160" y="35117354606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77284105160" y="35117361921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  <a:latin typeface="Calibri"/>
              </a:defRPr>
            </a:pPr>
            <a:r>
              <a:t>Unit + integration</a:t>
            </a:r>
            <a:br/>
            <a:r>
              <a:t>pipeline tests pass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85666048000" y="3511734912000"/>
            <a:ext cx="2560320" cy="2194560"/>
          </a:xfrm>
          <a:prstGeom prst="rect">
            <a:avLst/>
          </a:prstGeom>
          <a:solidFill>
            <a:srgbClr val="1E293B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85666185160" y="3511735049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Calibri"/>
              </a:defRPr>
            </a:pPr>
            <a:r>
              <a:t>Sponsor APIs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85666185160" y="35117354606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85666185160" y="35117361921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  <a:latin typeface="Calibri"/>
              </a:defRPr>
            </a:pPr>
            <a:r>
              <a:t>Zetaris, Meterless,</a:t>
            </a:r>
            <a:br/>
            <a:r>
              <a:t>NVIDIA, Cursor integrated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94048128000" y="3511734912000"/>
            <a:ext cx="2560320" cy="2194560"/>
          </a:xfrm>
          <a:prstGeom prst="rect">
            <a:avLst/>
          </a:prstGeom>
          <a:solidFill>
            <a:srgbClr val="1E293B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94048265160" y="3511735049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Calibri"/>
              </a:defRPr>
            </a:pPr>
            <a:r>
              <a:t>Security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94048265160" y="35117354606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Clean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94048265160" y="35117361921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  <a:latin typeface="Calibri"/>
              </a:defRPr>
            </a:pPr>
            <a:r>
              <a:t>No secrets in repo</a:t>
            </a:r>
            <a:br/>
            <a:r>
              <a:t>.env.example provided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4572000"/>
            <a:ext cx="10515600" cy="1828800"/>
          </a:xfrm>
          <a:prstGeom prst="rect">
            <a:avLst/>
          </a:prstGeom>
          <a:solidFill>
            <a:srgbClr val="1E293B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466344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Calibri"/>
              </a:defRPr>
            </a:pPr>
            <a:r>
              <a:t>Meterless Trace Output (Live Pipeline Execution)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5029200"/>
            <a:ext cx="10149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C55E"/>
                </a:solidFill>
                <a:latin typeface="Consolas"/>
              </a:defRPr>
            </a:pPr>
            <a:r>
              <a:t>[METERLESS] 🟢 Agent:planner | Op:execute | DURATION:0.002s | STATUS:success</a:t>
            </a:r>
            <a:br/>
            <a:r>
              <a:t>[METERLESS] 🟢 Agent:format_detector | Op:execute | DURATION:0.000s | STATUS:success</a:t>
            </a:r>
            <a:br/>
            <a:r>
              <a:t>[METERLESS] 🟢 Agent:ingestion_executor | Op:execute | DURATION:0.000s | STATUS:success</a:t>
            </a:r>
            <a:br/>
            <a:r>
              <a:t>[METERLESS] 🟢 Agent:world_model_simulator | Op:execute | DURATION:0.000s | STATUS:success</a:t>
            </a:r>
            <a:br/>
            <a:r>
              <a:t>[METERLESS] 🟢 Agent:markovian_router | Op:execute | DURATION:0.000s | STATUS:success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Future Enhancements &amp;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418063680000" y="1086965568000"/>
            <a:ext cx="2651760" cy="5486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8063680000" y="10869656137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Phase 1</a:t>
            </a:r>
            <a:br/>
            <a:r>
              <a:t>(Post-Hackathon)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8063771440" y="1086966208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Calibri"/>
              </a:defRPr>
            </a:pPr>
            <a:r>
              <a:t>Production Hardening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8063771440" y="1086966573840"/>
            <a:ext cx="2468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PostgreSQL production deployment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Real Zetaris/Meterless API integration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Kubernetes manifests + Helm charts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CI/CD pipeline with staging/prod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Load testing: 1000+ concurrent jobs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0058496000" y="1086965568000"/>
            <a:ext cx="265176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0058496000" y="10869656137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Phase 2</a:t>
            </a:r>
            <a:br/>
            <a:r>
              <a:t>(Q1 2027)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0058587440" y="1086966208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97316"/>
                </a:solidFill>
                <a:latin typeface="Calibri"/>
              </a:defRPr>
            </a:pPr>
            <a:r>
              <a:t>Intelligence Expansion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0058587440" y="1086966573840"/>
            <a:ext cx="2468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LLM-powered situation reports (Llama-3.1-8B)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Multimodal SAR + optical fusion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Predictive risk modeling (72-hr forecast)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Community-sourced validation loop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Mobile PWA for field responders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02053312000" y="1086965568000"/>
            <a:ext cx="2651760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02053312000" y="10869656137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Phase 3</a:t>
            </a:r>
            <a:br/>
            <a:r>
              <a:t>(Q2 2027)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02053403440" y="1086966208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Ecosystem &amp; 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02053403440" y="1086966573840"/>
            <a:ext cx="2468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Plugin marketplace for custom agents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Inter-agency data sharing agreements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Global hazard model federation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Insurance/reinsurance integration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UN OCHA / WHO partnership track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94048128000" y="1086965568000"/>
            <a:ext cx="2651760" cy="5486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4048128000" y="10869656137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Phase 4</a:t>
            </a:r>
            <a:br/>
            <a:r>
              <a:t>(Q3 2027)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4048219440" y="1086966208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Calibri"/>
              </a:defRPr>
            </a:pPr>
            <a:r>
              <a:t>Autonomy &amp; Resilience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4048219440" y="1086966573840"/>
            <a:ext cx="2468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Full offline edge deployment (Raspberry Pi)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Satellite mesh comms integration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Self-healing agent orchestration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Causal reasoning for root cause analysis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Human-AI teaming certification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Submission Checklist 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2C55E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188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Demo Video (1-4 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1887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Calibri"/>
              </a:defRPr>
            </a:pPr>
            <a:r>
              <a:t>Core workflow + agent solving + sponsor tech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190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2C55E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71907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Slide Deck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719072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Calibri"/>
              </a:defRPr>
            </a:pPr>
            <a:r>
              <a:t>Problem, solution, architecture, stack, sponsors, visuals, future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4942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2C55E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249424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GitHub Repository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249424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Calibri"/>
              </a:defRPr>
            </a:pPr>
            <a:r>
              <a:t>All source code + documented README + MIT license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797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2C55E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77977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Zetaris 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779776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Calibri"/>
              </a:defRPr>
            </a:pPr>
            <a:r>
              <a:t>USL federation, schema registry, lineage, spatial joins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3101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2C55E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31012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Meterless 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310128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Calibri"/>
              </a:defRPr>
            </a:pPr>
            <a:r>
              <a:t>H-Mem SOPs, Markovian routing, World Model, tracing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840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2C55E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840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NVIDIA 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38404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Calibri"/>
              </a:defRPr>
            </a:pPr>
            <a:r>
              <a:t>CUDA embeddings, GPU inference, risk modeling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370831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2C55E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370831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Cursor Usage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4370831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Calibri"/>
              </a:defRPr>
            </a:pPr>
            <a:r>
              <a:t>AI-native dev: code gen, debug, test, refactor, docs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901183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2C55E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4901183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Security Audit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4901183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Calibri"/>
              </a:defRPr>
            </a:pPr>
            <a:r>
              <a:t>No API keys/secrets in repo • .env.example provided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43153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2C55E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543153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Pre-existing Code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5431536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Calibri"/>
              </a:defRPr>
            </a:pPr>
            <a:r>
              <a:t>Declared: converted-app patterns reused with attribution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9618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2C55E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59618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SAMPLE_MODE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5961888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Calibri"/>
              </a:defRPr>
            </a:pPr>
            <a:r>
              <a:t>Runs offline • zero external dependencies • clean setup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Repository: github.com/your-org/crisismesh  •  Demo: crisismesh.demo  •  Contact: team@crisismesh.dev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