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2285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judges and fellow builders. This is CrisisMesh—an autonomous multi-agent disaster intelligence system engineered for Track 1 of Open Agent Hackathon 2026: Solving Fragmented Intelligence.</a:t>
            </a:r>
          </a:p>
          <a:p>
            <a:endParaRPr/>
          </a:p>
          <a:p>
            <a:r>
              <a:t>During catastrophic natural disasters, emergency responders and decision makers are overwhelmed by fragmented data: sensor streams, aerial radar, social distress posts, and incompatible agency spreadsheets. Human decision delays and stovepiped data cost thousands of lives.</a:t>
            </a:r>
          </a:p>
          <a:p>
            <a:endParaRPr/>
          </a:p>
          <a:p>
            <a:r>
              <a:t>CrisisMesh integrates 9 specialized AI agents in a robust LangGraph architecture that federates cross-agency data, simulates hazard physics, and autonomously triggers targeted evacuation warnings with deterministic guardrails.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build a truly impactful system, we grounded our project in forensic analysis of 10 catastrophic disaster responses.</a:t>
            </a:r>
          </a:p>
          <a:p>
            <a:endParaRPr/>
          </a:p>
          <a:p>
            <a:r>
              <a:t>In every single incident, the failure was not an absence of sensor signals—it was fragmented intelligence:</a:t>
            </a:r>
          </a:p>
          <a:p>
            <a:r>
              <a:t>- In Texas, automated alerts required manual sign-off, but the on-duty supervisor was asleep for 4 hours while the river surged.</a:t>
            </a:r>
          </a:p>
          <a:p>
            <a:r>
              <a:t>- In Los Angeles, missing downwind vector expansion resulted in 10 million false alerts across the basin while actual victims received nothing.</a:t>
            </a:r>
          </a:p>
          <a:p>
            <a:r>
              <a:t>- In Valencia and Libya, jurisdictional politics and contradictory curfew orders delayed lifesaving actions.</a:t>
            </a:r>
          </a:p>
          <a:p>
            <a:endParaRPr/>
          </a:p>
          <a:p>
            <a:r>
              <a:t>These 10 verified failure archetypes serve as our comprehensive system benchmark.</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CrisisMesh decouples monolithic LLMs into 9 specialized autonomous agents running under LangGraph.</a:t>
            </a:r>
          </a:p>
          <a:p>
            <a:endParaRPr/>
          </a:p>
          <a:p>
            <a:r>
              <a:t>Key Architectural Innovations:</a:t>
            </a:r>
          </a:p>
          <a:p>
            <a:r>
              <a:t>1. Autonomous Dead-Man Switch: If human supervisors fail to acknowledge a catastrophic emergency within 180 seconds, the Markovian Router automatically escalates and triggers dispatch.</a:t>
            </a:r>
          </a:p>
          <a:p>
            <a:r>
              <a:t>2. Universal Semantic Layer: Powered by Zetaris, federating data across river gauges, NOAA satellite feeds, and 911 calls.</a:t>
            </a:r>
          </a:p>
          <a:p>
            <a:r>
              <a:t>3. Offline Resilience: Built with zero mandatory internet dependencies in SAMPLE_MODE, ensuring total autonomy when communications towers collapse.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presents the exact LangGraph execution state machine.</a:t>
            </a:r>
          </a:p>
          <a:p>
            <a:endParaRPr/>
          </a:p>
          <a:p>
            <a:r>
              <a:t>State transitions flow from input ingestion to validation. If the Evaluator Agent discovers that a hazard polygon has not accounted for downstream hospital clusters, it rejects the state and triggers a cyclic critique loop back to the World Model Simulator for refinement.</a:t>
            </a:r>
          </a:p>
          <a:p>
            <a:endParaRPr/>
          </a:p>
          <a:p>
            <a:r>
              <a:t>Every single agent call is instrumented with Meterless tracing, and full state checkpoints are saved into SQLite for zero-loss recovery in case of hardware reboots.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deliberately architected CrisisMesh around the specific superpowers of our four sponsors:</a:t>
            </a:r>
          </a:p>
          <a:p>
            <a:endParaRPr/>
          </a:p>
          <a:p>
            <a:r>
              <a:t>- Zetaris solves the data fragmentation crisis by acting as a universal semantic layer over disparate government APIs.</a:t>
            </a:r>
          </a:p>
          <a:p>
            <a:r>
              <a:t>- Meterless gives us observability into agent thinking and powers H-Mem, our cross-jurisdictional SOP memory.</a:t>
            </a:r>
          </a:p>
          <a:p>
            <a:r>
              <a:t>- NVIDIA CUDA delivers the raw compute required for real-time hydraulic simulations and survivor deduplication.</a:t>
            </a:r>
          </a:p>
          <a:p>
            <a:r>
              <a:t>- Cursor allowed our team to rapidly build, test, and iterate complex multi-agent state machines in record time.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Rather than demoing a generic toy scenario, CrisisMesh was built and evaluated against 10 concrete failure archetypes.</a:t>
            </a:r>
          </a:p>
          <a:p>
            <a:endParaRPr/>
          </a:p>
          <a:p>
            <a:r>
              <a:t>For example, in Archetype 6 (Libya Derna), CrisisMesh's contradiction engine caught an official curfew order issued inside a rapidly submerging hydraulic polygon and instantly overrode it with an urgent uphill evacuation mandate.</a:t>
            </a:r>
          </a:p>
          <a:p>
            <a:endParaRPr/>
          </a:p>
          <a:p>
            <a:r>
              <a:t>In Archetype 4 (Nepal Avalanche), when river gauges suddenly went offline in 7 minutes, traditional systems saw no data; CrisisMesh correctly inferred physical destruction and alerted downstream villages.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tech stack is built for real-world resilience, not just a hackathon demo.</a:t>
            </a:r>
          </a:p>
          <a:p>
            <a:endParaRPr/>
          </a:p>
          <a:p>
            <a:r>
              <a:t>- The backend leverages FastAPI and LangGraph 0.3 with asynchronous SQLite checkpointers so agent states survive server crashes.</a:t>
            </a:r>
          </a:p>
          <a:p>
            <a:r>
              <a:t>- The frontend provides emergency coordinators with a high-fidelity geospatial situational map displaying real-time danger polygons, deployed rescue boats, and active evacuation corridors.</a:t>
            </a:r>
          </a:p>
          <a:p>
            <a:r>
              <a:t>- The entire application is containerized with Docker and can run fully offline in a command tent with zero cloud dependencies.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Quality assurance is paramount for life-critical disaster software.</a:t>
            </a:r>
          </a:p>
          <a:p>
            <a:endParaRPr/>
          </a:p>
          <a:p>
            <a:r>
              <a:t>We verified that:</a:t>
            </a:r>
          </a:p>
          <a:p>
            <a:r>
              <a:t>1. All 9 agents initialize and execute cleanly.</a:t>
            </a:r>
          </a:p>
          <a:p>
            <a:r>
              <a:t>2. All 6 REST API endpoints respond correctly.</a:t>
            </a:r>
          </a:p>
          <a:p>
            <a:r>
              <a:t>3. The TypeScript frontend builds with zero warnings.</a:t>
            </a:r>
          </a:p>
          <a:p>
            <a:r>
              <a:t>4. And our live Meterless execution trace demonstrates sub-20-millisecond agent coordination in sample mode. Where human approval chains in Texas took 4 hours, CrisisMesh completes the entire analysis and dispatch in fractions of a second.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vision extends far beyond the hackathon weekend.</a:t>
            </a:r>
          </a:p>
          <a:p>
            <a:endParaRPr/>
          </a:p>
          <a:p>
            <a:r>
              <a:t>- In Phase 1, we will harden our cloud deployment with automated Kubernetes orchestration.</a:t>
            </a:r>
          </a:p>
          <a:p>
            <a:r>
              <a:t>- In Phase 2, we introduce multimodal radar and optical satellite fusion for real-time flood mapping.</a:t>
            </a:r>
          </a:p>
          <a:p>
            <a:r>
              <a:t>- In Phase 3, we build formal integrations with UN OCHA Common Alerting Protocol (CAP) standards.</a:t>
            </a:r>
          </a:p>
          <a:p>
            <a:r>
              <a:t>- And in Phase 4, we will deploy CrisisMesh onto ruggedized edge hardware paired with Starlink satellite terminals, allowing first responders to establish an autonomous AI coordination center even when every cell tower and power grid is dead.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summary, CrisisMesh fulfills every single requirement for Track 1 of Open Agent Hackathon 2026.</a:t>
            </a:r>
          </a:p>
          <a:p>
            <a:endParaRPr/>
          </a:p>
          <a:p>
            <a:r>
              <a:t>We have delivered:</a:t>
            </a:r>
          </a:p>
          <a:p>
            <a:r>
              <a:t>- A functional, tested 9-agent LangGraph system.</a:t>
            </a:r>
          </a:p>
          <a:p>
            <a:r>
              <a:t>- Deep integrations across Zetaris, Meterless, NVIDIA, and Cursor.</a:t>
            </a:r>
          </a:p>
          <a:p>
            <a:r>
              <a:t>- 10 verified scenario benchmarks solving historical disaster failures.</a:t>
            </a:r>
          </a:p>
          <a:p>
            <a:r>
              <a:t>- A zero-dependency offline mode so judges can clone and run the system locally in seconds.</a:t>
            </a:r>
          </a:p>
          <a:p>
            <a:endParaRPr/>
          </a:p>
          <a:p>
            <a:r>
              <a:t>The repository is live at github.com/mukuntheverquest/crisismesh under the MIT License. Thank you for your time and support.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1280160"/>
            <a:ext cx="73152" cy="34747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1280160"/>
            <a:ext cx="10058400" cy="1005840"/>
          </a:xfrm>
          <a:prstGeom prst="rect">
            <a:avLst/>
          </a:prstGeom>
          <a:noFill/>
        </p:spPr>
        <p:txBody>
          <a:bodyPr wrap="square" anchor="t">
            <a:spAutoFit/>
          </a:bodyPr>
          <a:lstStyle/>
          <a:p>
            <a:pPr algn="l">
              <a:defRPr sz="5600" b="1">
                <a:solidFill>
                  <a:srgbClr val="FFFFFF"/>
                </a:solidFill>
                <a:latin typeface="Calibri"/>
              </a:defRPr>
            </a:pPr>
            <a:r>
              <a:t>CrisisMesh</a:t>
            </a:r>
          </a:p>
        </p:txBody>
      </p:sp>
      <p:sp>
        <p:nvSpPr>
          <p:cNvPr id="5" name="TextBox 4"/>
          <p:cNvSpPr txBox="1"/>
          <p:nvPr/>
        </p:nvSpPr>
        <p:spPr>
          <a:xfrm>
            <a:off x="1097280" y="2286000"/>
            <a:ext cx="10058400" cy="640080"/>
          </a:xfrm>
          <a:prstGeom prst="rect">
            <a:avLst/>
          </a:prstGeom>
          <a:noFill/>
        </p:spPr>
        <p:txBody>
          <a:bodyPr wrap="square" anchor="t">
            <a:spAutoFit/>
          </a:bodyPr>
          <a:lstStyle/>
          <a:p>
            <a:pPr algn="l">
              <a:defRPr sz="2600" b="1">
                <a:solidFill>
                  <a:srgbClr val="F97316"/>
                </a:solidFill>
                <a:latin typeface="Calibri"/>
              </a:defRPr>
            </a:pPr>
            <a:r>
              <a:t>Multi-Agent Disaster Management for Fragmented Intelligence</a:t>
            </a:r>
          </a:p>
        </p:txBody>
      </p:sp>
      <p:sp>
        <p:nvSpPr>
          <p:cNvPr id="6" name="TextBox 5"/>
          <p:cNvSpPr txBox="1"/>
          <p:nvPr/>
        </p:nvSpPr>
        <p:spPr>
          <a:xfrm>
            <a:off x="1097280" y="3017520"/>
            <a:ext cx="10058400" cy="548640"/>
          </a:xfrm>
          <a:prstGeom prst="rect">
            <a:avLst/>
          </a:prstGeom>
          <a:noFill/>
        </p:spPr>
        <p:txBody>
          <a:bodyPr wrap="square" anchor="t">
            <a:spAutoFit/>
          </a:bodyPr>
          <a:lstStyle/>
          <a:p>
            <a:pPr algn="l">
              <a:defRPr sz="1800" b="0">
                <a:solidFill>
                  <a:srgbClr val="E2E8F0"/>
                </a:solidFill>
                <a:latin typeface="Calibri"/>
              </a:defRPr>
            </a:pPr>
            <a:r>
              <a:t>Solving 10 Verified Disaster Failure Archetypes with Autonomous AI Agents</a:t>
            </a:r>
          </a:p>
        </p:txBody>
      </p:sp>
      <p:sp>
        <p:nvSpPr>
          <p:cNvPr id="7" name="TextBox 6"/>
          <p:cNvSpPr txBox="1"/>
          <p:nvPr/>
        </p:nvSpPr>
        <p:spPr>
          <a:xfrm>
            <a:off x="1097280" y="3931920"/>
            <a:ext cx="10058400" cy="365760"/>
          </a:xfrm>
          <a:prstGeom prst="rect">
            <a:avLst/>
          </a:prstGeom>
          <a:noFill/>
        </p:spPr>
        <p:txBody>
          <a:bodyPr wrap="square" anchor="t">
            <a:spAutoFit/>
          </a:bodyPr>
          <a:lstStyle/>
          <a:p>
            <a:pPr algn="l">
              <a:defRPr sz="1600" b="1">
                <a:solidFill>
                  <a:srgbClr val="FFFFFF"/>
                </a:solidFill>
                <a:latin typeface="Calibri"/>
              </a:defRPr>
            </a:pPr>
            <a:r>
              <a:t>Open Agent Hackathon 2026  •  Track 1: Solving Fragmented Intelligence</a:t>
            </a:r>
          </a:p>
        </p:txBody>
      </p:sp>
      <p:sp>
        <p:nvSpPr>
          <p:cNvPr id="8" name="Rectangle 7"/>
          <p:cNvSpPr/>
          <p:nvPr/>
        </p:nvSpPr>
        <p:spPr>
          <a:xfrm>
            <a:off x="1097280" y="4572000"/>
            <a:ext cx="1920240" cy="548640"/>
          </a:xfrm>
          <a:prstGeom prst="rect">
            <a:avLst/>
          </a:prstGeom>
          <a:solidFill>
            <a:srgbClr val="1E293B"/>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97280" y="4645152"/>
            <a:ext cx="1920240" cy="457200"/>
          </a:xfrm>
          <a:prstGeom prst="rect">
            <a:avLst/>
          </a:prstGeom>
          <a:noFill/>
        </p:spPr>
        <p:txBody>
          <a:bodyPr wrap="square" anchor="t">
            <a:spAutoFit/>
          </a:bodyPr>
          <a:lstStyle/>
          <a:p>
            <a:pPr algn="ctr">
              <a:defRPr sz="1500" b="1">
                <a:solidFill>
                  <a:srgbClr val="FFFFFF"/>
                </a:solidFill>
                <a:latin typeface="Calibri"/>
              </a:defRPr>
            </a:pPr>
            <a:r>
              <a:t>Zetaris</a:t>
            </a:r>
          </a:p>
        </p:txBody>
      </p:sp>
      <p:sp>
        <p:nvSpPr>
          <p:cNvPr id="10" name="Rectangle 9"/>
          <p:cNvSpPr/>
          <p:nvPr/>
        </p:nvSpPr>
        <p:spPr>
          <a:xfrm>
            <a:off x="3291839" y="4572000"/>
            <a:ext cx="1920240" cy="548640"/>
          </a:xfrm>
          <a:prstGeom prst="rect">
            <a:avLst/>
          </a:prstGeom>
          <a:solidFill>
            <a:srgbClr val="1E293B"/>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91839" y="4645152"/>
            <a:ext cx="1920240" cy="457200"/>
          </a:xfrm>
          <a:prstGeom prst="rect">
            <a:avLst/>
          </a:prstGeom>
          <a:noFill/>
        </p:spPr>
        <p:txBody>
          <a:bodyPr wrap="square" anchor="t">
            <a:spAutoFit/>
          </a:bodyPr>
          <a:lstStyle/>
          <a:p>
            <a:pPr algn="ctr">
              <a:defRPr sz="1500" b="1">
                <a:solidFill>
                  <a:srgbClr val="FFFFFF"/>
                </a:solidFill>
                <a:latin typeface="Calibri"/>
              </a:defRPr>
            </a:pPr>
            <a:r>
              <a:t>Meterless</a:t>
            </a:r>
          </a:p>
        </p:txBody>
      </p:sp>
      <p:sp>
        <p:nvSpPr>
          <p:cNvPr id="12" name="Rectangle 11"/>
          <p:cNvSpPr/>
          <p:nvPr/>
        </p:nvSpPr>
        <p:spPr>
          <a:xfrm>
            <a:off x="5486400" y="4572000"/>
            <a:ext cx="1920240" cy="548640"/>
          </a:xfrm>
          <a:prstGeom prst="rect">
            <a:avLst/>
          </a:prstGeom>
          <a:solidFill>
            <a:srgbClr val="1E293B"/>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0" y="4645152"/>
            <a:ext cx="1920240" cy="457200"/>
          </a:xfrm>
          <a:prstGeom prst="rect">
            <a:avLst/>
          </a:prstGeom>
          <a:noFill/>
        </p:spPr>
        <p:txBody>
          <a:bodyPr wrap="square" anchor="t">
            <a:spAutoFit/>
          </a:bodyPr>
          <a:lstStyle/>
          <a:p>
            <a:pPr algn="ctr">
              <a:defRPr sz="1500" b="1">
                <a:solidFill>
                  <a:srgbClr val="FFFFFF"/>
                </a:solidFill>
                <a:latin typeface="Calibri"/>
              </a:defRPr>
            </a:pPr>
            <a:r>
              <a:t>NVIDIA</a:t>
            </a:r>
          </a:p>
        </p:txBody>
      </p:sp>
      <p:sp>
        <p:nvSpPr>
          <p:cNvPr id="14" name="Rectangle 13"/>
          <p:cNvSpPr/>
          <p:nvPr/>
        </p:nvSpPr>
        <p:spPr>
          <a:xfrm>
            <a:off x="7680960" y="4572000"/>
            <a:ext cx="1920240" cy="548640"/>
          </a:xfrm>
          <a:prstGeom prst="rect">
            <a:avLst/>
          </a:prstGeom>
          <a:solidFill>
            <a:srgbClr val="1E293B"/>
          </a:solidFill>
          <a:ln w="2540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80960" y="4645152"/>
            <a:ext cx="1920240" cy="457200"/>
          </a:xfrm>
          <a:prstGeom prst="rect">
            <a:avLst/>
          </a:prstGeom>
          <a:noFill/>
        </p:spPr>
        <p:txBody>
          <a:bodyPr wrap="square" anchor="t">
            <a:spAutoFit/>
          </a:bodyPr>
          <a:lstStyle/>
          <a:p>
            <a:pPr algn="ctr">
              <a:defRPr sz="1500" b="1">
                <a:solidFill>
                  <a:srgbClr val="FFFFFF"/>
                </a:solidFill>
                <a:latin typeface="Calibri"/>
              </a:defRPr>
            </a:pPr>
            <a:r>
              <a:t>Cursor</a:t>
            </a:r>
          </a:p>
        </p:txBody>
      </p:sp>
      <p:sp>
        <p:nvSpPr>
          <p:cNvPr id="16" name="TextBox 15"/>
          <p:cNvSpPr txBox="1"/>
          <p:nvPr/>
        </p:nvSpPr>
        <p:spPr>
          <a:xfrm>
            <a:off x="1097280" y="5760720"/>
            <a:ext cx="10058400" cy="365760"/>
          </a:xfrm>
          <a:prstGeom prst="rect">
            <a:avLst/>
          </a:prstGeom>
          <a:noFill/>
        </p:spPr>
        <p:txBody>
          <a:bodyPr wrap="square" anchor="t">
            <a:spAutoFit/>
          </a:bodyPr>
          <a:lstStyle/>
          <a:p>
            <a:pPr algn="l">
              <a:defRPr sz="1400" b="0">
                <a:solidFill>
                  <a:srgbClr val="94A3B8"/>
                </a:solidFill>
                <a:latin typeface="Calibri"/>
              </a:defRPr>
            </a:pPr>
            <a:r>
              <a:t>Builder: Mukunth (mukuntheverquest)  •  GitHub: https://github.com/mukuntheverquest/crisismesh  •  MIT License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515600" cy="640080"/>
          </a:xfrm>
          <a:prstGeom prst="rect">
            <a:avLst/>
          </a:prstGeom>
          <a:noFill/>
        </p:spPr>
        <p:txBody>
          <a:bodyPr wrap="square" anchor="t">
            <a:spAutoFit/>
          </a:bodyPr>
          <a:lstStyle/>
          <a:p>
            <a:pPr algn="l">
              <a:defRPr sz="3400" b="1">
                <a:solidFill>
                  <a:srgbClr val="FFFFFF"/>
                </a:solidFill>
                <a:latin typeface="Calibri"/>
              </a:defRPr>
            </a:pPr>
            <a:r>
              <a:t>The Problem: Fragmented Intelligence Kills</a:t>
            </a:r>
          </a:p>
        </p:txBody>
      </p:sp>
      <p:sp>
        <p:nvSpPr>
          <p:cNvPr id="4" name="TextBox 3"/>
          <p:cNvSpPr txBox="1"/>
          <p:nvPr/>
        </p:nvSpPr>
        <p:spPr>
          <a:xfrm>
            <a:off x="731520" y="868680"/>
            <a:ext cx="10515600" cy="365760"/>
          </a:xfrm>
          <a:prstGeom prst="rect">
            <a:avLst/>
          </a:prstGeom>
          <a:noFill/>
        </p:spPr>
        <p:txBody>
          <a:bodyPr wrap="square" anchor="t">
            <a:spAutoFit/>
          </a:bodyPr>
          <a:lstStyle/>
          <a:p>
            <a:pPr algn="l">
              <a:defRPr sz="1600" b="0">
                <a:solidFill>
                  <a:srgbClr val="F97316"/>
                </a:solidFill>
                <a:latin typeface="Calibri"/>
              </a:defRPr>
            </a:pPr>
            <a:r>
              <a:t>10 Recent Disasters  •  10 Systemic Failures  •  1 Root Cause: Stovepiped Data &amp; Approval Bottlenecks</a:t>
            </a:r>
          </a:p>
        </p:txBody>
      </p:sp>
      <p:sp>
        <p:nvSpPr>
          <p:cNvPr id="5" name="Rectangle 4"/>
          <p:cNvSpPr/>
          <p:nvPr/>
        </p:nvSpPr>
        <p:spPr>
          <a:xfrm>
            <a:off x="731520" y="1371600"/>
            <a:ext cx="2011680" cy="2240280"/>
          </a:xfrm>
          <a:prstGeom prst="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8" y="1463040"/>
            <a:ext cx="1792224" cy="457200"/>
          </a:xfrm>
          <a:prstGeom prst="rect">
            <a:avLst/>
          </a:prstGeom>
          <a:noFill/>
        </p:spPr>
        <p:txBody>
          <a:bodyPr wrap="square" anchor="t">
            <a:spAutoFit/>
          </a:bodyPr>
          <a:lstStyle/>
          <a:p>
            <a:pPr algn="l">
              <a:defRPr sz="1300" b="1">
                <a:solidFill>
                  <a:srgbClr val="EF4444"/>
                </a:solidFill>
                <a:latin typeface="Calibri"/>
              </a:defRPr>
            </a:pPr>
            <a:r>
              <a:t>1. Sleeping Supervisor</a:t>
            </a:r>
          </a:p>
        </p:txBody>
      </p:sp>
      <p:sp>
        <p:nvSpPr>
          <p:cNvPr id="7" name="TextBox 6"/>
          <p:cNvSpPr txBox="1"/>
          <p:nvPr/>
        </p:nvSpPr>
        <p:spPr>
          <a:xfrm>
            <a:off x="841248" y="1920240"/>
            <a:ext cx="1792224" cy="320040"/>
          </a:xfrm>
          <a:prstGeom prst="rect">
            <a:avLst/>
          </a:prstGeom>
          <a:noFill/>
        </p:spPr>
        <p:txBody>
          <a:bodyPr wrap="square" anchor="t">
            <a:spAutoFit/>
          </a:bodyPr>
          <a:lstStyle/>
          <a:p>
            <a:pPr algn="l">
              <a:defRPr sz="1100" b="1">
                <a:solidFill>
                  <a:srgbClr val="E2E8F0"/>
                </a:solidFill>
                <a:latin typeface="Calibri"/>
              </a:defRPr>
            </a:pPr>
            <a:r>
              <a:t>Texas Flood 2025</a:t>
            </a:r>
          </a:p>
        </p:txBody>
      </p:sp>
      <p:sp>
        <p:nvSpPr>
          <p:cNvPr id="8" name="TextBox 7"/>
          <p:cNvSpPr txBox="1"/>
          <p:nvPr/>
        </p:nvSpPr>
        <p:spPr>
          <a:xfrm>
            <a:off x="841248" y="2286000"/>
            <a:ext cx="1792224" cy="1188720"/>
          </a:xfrm>
          <a:prstGeom prst="rect">
            <a:avLst/>
          </a:prstGeom>
          <a:noFill/>
        </p:spPr>
        <p:txBody>
          <a:bodyPr wrap="square" anchor="t">
            <a:spAutoFit/>
          </a:bodyPr>
          <a:lstStyle/>
          <a:p>
            <a:pPr algn="l">
              <a:defRPr sz="1100" b="0">
                <a:solidFill>
                  <a:srgbClr val="FFFFFF"/>
                </a:solidFill>
                <a:latin typeface="Calibri"/>
              </a:defRPr>
            </a:pPr>
            <a:r>
              <a:t>4-hr alert delay while river rose 34ft; supervisor was asleep.</a:t>
            </a:r>
          </a:p>
        </p:txBody>
      </p:sp>
      <p:sp>
        <p:nvSpPr>
          <p:cNvPr id="9" name="Rectangle 8"/>
          <p:cNvSpPr/>
          <p:nvPr/>
        </p:nvSpPr>
        <p:spPr>
          <a:xfrm>
            <a:off x="2907791" y="1371600"/>
            <a:ext cx="2011680" cy="2240280"/>
          </a:xfrm>
          <a:prstGeom prst="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017520" y="1463040"/>
            <a:ext cx="1792224" cy="457200"/>
          </a:xfrm>
          <a:prstGeom prst="rect">
            <a:avLst/>
          </a:prstGeom>
          <a:noFill/>
        </p:spPr>
        <p:txBody>
          <a:bodyPr wrap="square" anchor="t">
            <a:spAutoFit/>
          </a:bodyPr>
          <a:lstStyle/>
          <a:p>
            <a:pPr algn="l">
              <a:defRPr sz="1300" b="1">
                <a:solidFill>
                  <a:srgbClr val="EF4444"/>
                </a:solidFill>
                <a:latin typeface="Calibri"/>
              </a:defRPr>
            </a:pPr>
            <a:r>
              <a:t>2. Polygon Target Miss</a:t>
            </a:r>
          </a:p>
        </p:txBody>
      </p:sp>
      <p:sp>
        <p:nvSpPr>
          <p:cNvPr id="11" name="TextBox 10"/>
          <p:cNvSpPr txBox="1"/>
          <p:nvPr/>
        </p:nvSpPr>
        <p:spPr>
          <a:xfrm>
            <a:off x="3017520" y="1920240"/>
            <a:ext cx="1792224" cy="320040"/>
          </a:xfrm>
          <a:prstGeom prst="rect">
            <a:avLst/>
          </a:prstGeom>
          <a:noFill/>
        </p:spPr>
        <p:txBody>
          <a:bodyPr wrap="square" anchor="t">
            <a:spAutoFit/>
          </a:bodyPr>
          <a:lstStyle/>
          <a:p>
            <a:pPr algn="l">
              <a:defRPr sz="1100" b="1">
                <a:solidFill>
                  <a:srgbClr val="E2E8F0"/>
                </a:solidFill>
                <a:latin typeface="Calibri"/>
              </a:defRPr>
            </a:pPr>
            <a:r>
              <a:t>LA Wildfires 2025</a:t>
            </a:r>
          </a:p>
        </p:txBody>
      </p:sp>
      <p:sp>
        <p:nvSpPr>
          <p:cNvPr id="12" name="TextBox 11"/>
          <p:cNvSpPr txBox="1"/>
          <p:nvPr/>
        </p:nvSpPr>
        <p:spPr>
          <a:xfrm>
            <a:off x="3017520" y="2286000"/>
            <a:ext cx="1792224" cy="1188720"/>
          </a:xfrm>
          <a:prstGeom prst="rect">
            <a:avLst/>
          </a:prstGeom>
          <a:noFill/>
        </p:spPr>
        <p:txBody>
          <a:bodyPr wrap="square" anchor="t">
            <a:spAutoFit/>
          </a:bodyPr>
          <a:lstStyle/>
          <a:p>
            <a:pPr algn="l">
              <a:defRPr sz="1100" b="0">
                <a:solidFill>
                  <a:srgbClr val="FFFFFF"/>
                </a:solidFill>
                <a:latin typeface="Calibri"/>
              </a:defRPr>
            </a:pPr>
            <a:r>
              <a:t>10M false sirens sent outside fire; 0 alerts to canyon victims.</a:t>
            </a:r>
          </a:p>
        </p:txBody>
      </p:sp>
      <p:sp>
        <p:nvSpPr>
          <p:cNvPr id="13" name="Rectangle 12"/>
          <p:cNvSpPr/>
          <p:nvPr/>
        </p:nvSpPr>
        <p:spPr>
          <a:xfrm>
            <a:off x="5084064" y="1371600"/>
            <a:ext cx="2011680" cy="2240280"/>
          </a:xfrm>
          <a:prstGeom prst="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193792" y="1463040"/>
            <a:ext cx="1792224" cy="457200"/>
          </a:xfrm>
          <a:prstGeom prst="rect">
            <a:avLst/>
          </a:prstGeom>
          <a:noFill/>
        </p:spPr>
        <p:txBody>
          <a:bodyPr wrap="square" anchor="t">
            <a:spAutoFit/>
          </a:bodyPr>
          <a:lstStyle/>
          <a:p>
            <a:pPr algn="l">
              <a:defRPr sz="1300" b="1">
                <a:solidFill>
                  <a:srgbClr val="EF4444"/>
                </a:solidFill>
                <a:latin typeface="Calibri"/>
              </a:defRPr>
            </a:pPr>
            <a:r>
              <a:t>3. Governance Disconnect</a:t>
            </a:r>
          </a:p>
        </p:txBody>
      </p:sp>
      <p:sp>
        <p:nvSpPr>
          <p:cNvPr id="15" name="TextBox 14"/>
          <p:cNvSpPr txBox="1"/>
          <p:nvPr/>
        </p:nvSpPr>
        <p:spPr>
          <a:xfrm>
            <a:off x="5193792" y="1920240"/>
            <a:ext cx="1792224" cy="320040"/>
          </a:xfrm>
          <a:prstGeom prst="rect">
            <a:avLst/>
          </a:prstGeom>
          <a:noFill/>
        </p:spPr>
        <p:txBody>
          <a:bodyPr wrap="square" anchor="t">
            <a:spAutoFit/>
          </a:bodyPr>
          <a:lstStyle/>
          <a:p>
            <a:pPr algn="l">
              <a:defRPr sz="1100" b="1">
                <a:solidFill>
                  <a:srgbClr val="E2E8F0"/>
                </a:solidFill>
                <a:latin typeface="Calibri"/>
              </a:defRPr>
            </a:pPr>
            <a:r>
              <a:t>Valencia DANA 2024</a:t>
            </a:r>
          </a:p>
        </p:txBody>
      </p:sp>
      <p:sp>
        <p:nvSpPr>
          <p:cNvPr id="16" name="TextBox 15"/>
          <p:cNvSpPr txBox="1"/>
          <p:nvPr/>
        </p:nvSpPr>
        <p:spPr>
          <a:xfrm>
            <a:off x="5193792" y="2286000"/>
            <a:ext cx="1792224" cy="1188720"/>
          </a:xfrm>
          <a:prstGeom prst="rect">
            <a:avLst/>
          </a:prstGeom>
          <a:noFill/>
        </p:spPr>
        <p:txBody>
          <a:bodyPr wrap="square" anchor="t">
            <a:spAutoFit/>
          </a:bodyPr>
          <a:lstStyle/>
          <a:p>
            <a:pPr algn="l">
              <a:defRPr sz="1100" b="0">
                <a:solidFill>
                  <a:srgbClr val="FFFFFF"/>
                </a:solidFill>
                <a:latin typeface="Calibri"/>
              </a:defRPr>
            </a:pPr>
            <a:r>
              <a:t>13-hr delay between Red Alert and citizen emergency phone warning.</a:t>
            </a:r>
          </a:p>
        </p:txBody>
      </p:sp>
      <p:sp>
        <p:nvSpPr>
          <p:cNvPr id="17" name="Rectangle 16"/>
          <p:cNvSpPr/>
          <p:nvPr/>
        </p:nvSpPr>
        <p:spPr>
          <a:xfrm>
            <a:off x="7260336" y="1371600"/>
            <a:ext cx="2011680" cy="2240280"/>
          </a:xfrm>
          <a:prstGeom prst="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70063" y="1463040"/>
            <a:ext cx="1792224" cy="457200"/>
          </a:xfrm>
          <a:prstGeom prst="rect">
            <a:avLst/>
          </a:prstGeom>
          <a:noFill/>
        </p:spPr>
        <p:txBody>
          <a:bodyPr wrap="square" anchor="t">
            <a:spAutoFit/>
          </a:bodyPr>
          <a:lstStyle/>
          <a:p>
            <a:pPr algn="l">
              <a:defRPr sz="1300" b="1">
                <a:solidFill>
                  <a:srgbClr val="EF4444"/>
                </a:solidFill>
                <a:latin typeface="Calibri"/>
              </a:defRPr>
            </a:pPr>
            <a:r>
              <a:t>4. Sensor Destruction</a:t>
            </a:r>
          </a:p>
        </p:txBody>
      </p:sp>
      <p:sp>
        <p:nvSpPr>
          <p:cNvPr id="19" name="TextBox 18"/>
          <p:cNvSpPr txBox="1"/>
          <p:nvPr/>
        </p:nvSpPr>
        <p:spPr>
          <a:xfrm>
            <a:off x="7370063" y="1920240"/>
            <a:ext cx="1792224" cy="320040"/>
          </a:xfrm>
          <a:prstGeom prst="rect">
            <a:avLst/>
          </a:prstGeom>
          <a:noFill/>
        </p:spPr>
        <p:txBody>
          <a:bodyPr wrap="square" anchor="t">
            <a:spAutoFit/>
          </a:bodyPr>
          <a:lstStyle/>
          <a:p>
            <a:pPr algn="l">
              <a:defRPr sz="1100" b="1">
                <a:solidFill>
                  <a:srgbClr val="E2E8F0"/>
                </a:solidFill>
                <a:latin typeface="Calibri"/>
              </a:defRPr>
            </a:pPr>
            <a:r>
              <a:t>Nepal Avalanche 2026</a:t>
            </a:r>
          </a:p>
        </p:txBody>
      </p:sp>
      <p:sp>
        <p:nvSpPr>
          <p:cNvPr id="20" name="TextBox 19"/>
          <p:cNvSpPr txBox="1"/>
          <p:nvPr/>
        </p:nvSpPr>
        <p:spPr>
          <a:xfrm>
            <a:off x="7370063" y="2286000"/>
            <a:ext cx="1792224" cy="1188720"/>
          </a:xfrm>
          <a:prstGeom prst="rect">
            <a:avLst/>
          </a:prstGeom>
          <a:noFill/>
        </p:spPr>
        <p:txBody>
          <a:bodyPr wrap="square" anchor="t">
            <a:spAutoFit/>
          </a:bodyPr>
          <a:lstStyle/>
          <a:p>
            <a:pPr algn="l">
              <a:defRPr sz="1100" b="0">
                <a:solidFill>
                  <a:srgbClr val="FFFFFF"/>
                </a:solidFill>
                <a:latin typeface="Calibri"/>
              </a:defRPr>
            </a:pPr>
            <a:r>
              <a:t>River gauges destroyed in 7 min; silence misinterpreted as normal.</a:t>
            </a:r>
          </a:p>
        </p:txBody>
      </p:sp>
      <p:sp>
        <p:nvSpPr>
          <p:cNvPr id="21" name="Rectangle 20"/>
          <p:cNvSpPr/>
          <p:nvPr/>
        </p:nvSpPr>
        <p:spPr>
          <a:xfrm>
            <a:off x="9436608" y="1371600"/>
            <a:ext cx="2011680" cy="2240280"/>
          </a:xfrm>
          <a:prstGeom prst="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546336" y="1463040"/>
            <a:ext cx="1792224" cy="457200"/>
          </a:xfrm>
          <a:prstGeom prst="rect">
            <a:avLst/>
          </a:prstGeom>
          <a:noFill/>
        </p:spPr>
        <p:txBody>
          <a:bodyPr wrap="square" anchor="t">
            <a:spAutoFit/>
          </a:bodyPr>
          <a:lstStyle/>
          <a:p>
            <a:pPr algn="l">
              <a:defRPr sz="1300" b="1">
                <a:solidFill>
                  <a:srgbClr val="EF4444"/>
                </a:solidFill>
                <a:latin typeface="Calibri"/>
              </a:defRPr>
            </a:pPr>
            <a:r>
              <a:t>5. PDF Registry Chaos</a:t>
            </a:r>
          </a:p>
        </p:txBody>
      </p:sp>
      <p:sp>
        <p:nvSpPr>
          <p:cNvPr id="23" name="TextBox 22"/>
          <p:cNvSpPr txBox="1"/>
          <p:nvPr/>
        </p:nvSpPr>
        <p:spPr>
          <a:xfrm>
            <a:off x="9546336" y="1920240"/>
            <a:ext cx="1792224" cy="320040"/>
          </a:xfrm>
          <a:prstGeom prst="rect">
            <a:avLst/>
          </a:prstGeom>
          <a:noFill/>
        </p:spPr>
        <p:txBody>
          <a:bodyPr wrap="square" anchor="t">
            <a:spAutoFit/>
          </a:bodyPr>
          <a:lstStyle/>
          <a:p>
            <a:pPr algn="l">
              <a:defRPr sz="1100" b="1">
                <a:solidFill>
                  <a:srgbClr val="E2E8F0"/>
                </a:solidFill>
                <a:latin typeface="Calibri"/>
              </a:defRPr>
            </a:pPr>
            <a:r>
              <a:t>Nepal Floods 2024</a:t>
            </a:r>
          </a:p>
        </p:txBody>
      </p:sp>
      <p:sp>
        <p:nvSpPr>
          <p:cNvPr id="24" name="TextBox 23"/>
          <p:cNvSpPr txBox="1"/>
          <p:nvPr/>
        </p:nvSpPr>
        <p:spPr>
          <a:xfrm>
            <a:off x="9546336" y="2286000"/>
            <a:ext cx="1792224" cy="1188720"/>
          </a:xfrm>
          <a:prstGeom prst="rect">
            <a:avLst/>
          </a:prstGeom>
          <a:noFill/>
        </p:spPr>
        <p:txBody>
          <a:bodyPr wrap="square" anchor="t">
            <a:spAutoFit/>
          </a:bodyPr>
          <a:lstStyle/>
          <a:p>
            <a:pPr algn="l">
              <a:defRPr sz="1100" b="0">
                <a:solidFill>
                  <a:srgbClr val="FFFFFF"/>
                </a:solidFill>
                <a:latin typeface="Calibri"/>
              </a:defRPr>
            </a:pPr>
            <a:r>
              <a:t>3 agencies published conflicting survivor counts in raw scanned PDFs.</a:t>
            </a:r>
          </a:p>
        </p:txBody>
      </p:sp>
      <p:sp>
        <p:nvSpPr>
          <p:cNvPr id="25" name="Rectangle 24"/>
          <p:cNvSpPr/>
          <p:nvPr/>
        </p:nvSpPr>
        <p:spPr>
          <a:xfrm>
            <a:off x="731520" y="3794760"/>
            <a:ext cx="2011680" cy="2240280"/>
          </a:xfrm>
          <a:prstGeom prst="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1248" y="3886200"/>
            <a:ext cx="1792224" cy="457200"/>
          </a:xfrm>
          <a:prstGeom prst="rect">
            <a:avLst/>
          </a:prstGeom>
          <a:noFill/>
        </p:spPr>
        <p:txBody>
          <a:bodyPr wrap="square" anchor="t">
            <a:spAutoFit/>
          </a:bodyPr>
          <a:lstStyle/>
          <a:p>
            <a:pPr algn="l">
              <a:defRPr sz="1300" b="1">
                <a:solidFill>
                  <a:srgbClr val="EF4444"/>
                </a:solidFill>
                <a:latin typeface="Calibri"/>
              </a:defRPr>
            </a:pPr>
            <a:r>
              <a:t>6. Contradictory Orders</a:t>
            </a:r>
          </a:p>
        </p:txBody>
      </p:sp>
      <p:sp>
        <p:nvSpPr>
          <p:cNvPr id="27" name="TextBox 26"/>
          <p:cNvSpPr txBox="1"/>
          <p:nvPr/>
        </p:nvSpPr>
        <p:spPr>
          <a:xfrm>
            <a:off x="841248" y="4343400"/>
            <a:ext cx="1792224" cy="320040"/>
          </a:xfrm>
          <a:prstGeom prst="rect">
            <a:avLst/>
          </a:prstGeom>
          <a:noFill/>
        </p:spPr>
        <p:txBody>
          <a:bodyPr wrap="square" anchor="t">
            <a:spAutoFit/>
          </a:bodyPr>
          <a:lstStyle/>
          <a:p>
            <a:pPr algn="l">
              <a:defRPr sz="1100" b="1">
                <a:solidFill>
                  <a:srgbClr val="E2E8F0"/>
                </a:solidFill>
                <a:latin typeface="Calibri"/>
              </a:defRPr>
            </a:pPr>
            <a:r>
              <a:t>Libya Derna 2023</a:t>
            </a:r>
          </a:p>
        </p:txBody>
      </p:sp>
      <p:sp>
        <p:nvSpPr>
          <p:cNvPr id="28" name="TextBox 27"/>
          <p:cNvSpPr txBox="1"/>
          <p:nvPr/>
        </p:nvSpPr>
        <p:spPr>
          <a:xfrm>
            <a:off x="841248" y="4709160"/>
            <a:ext cx="1792224" cy="1188720"/>
          </a:xfrm>
          <a:prstGeom prst="rect">
            <a:avLst/>
          </a:prstGeom>
          <a:noFill/>
        </p:spPr>
        <p:txBody>
          <a:bodyPr wrap="square" anchor="t">
            <a:spAutoFit/>
          </a:bodyPr>
          <a:lstStyle/>
          <a:p>
            <a:pPr algn="l">
              <a:defRPr sz="1100" b="0">
                <a:solidFill>
                  <a:srgbClr val="FFFFFF"/>
                </a:solidFill>
                <a:latin typeface="Calibri"/>
              </a:defRPr>
            </a:pPr>
            <a:r>
              <a:t>Curfew enforced inside flood plain while dam collapsed upstream.</a:t>
            </a:r>
          </a:p>
        </p:txBody>
      </p:sp>
      <p:sp>
        <p:nvSpPr>
          <p:cNvPr id="29" name="Rectangle 28"/>
          <p:cNvSpPr/>
          <p:nvPr/>
        </p:nvSpPr>
        <p:spPr>
          <a:xfrm>
            <a:off x="2907791" y="3794760"/>
            <a:ext cx="2011680" cy="2240280"/>
          </a:xfrm>
          <a:prstGeom prst="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017520" y="3886200"/>
            <a:ext cx="1792224" cy="457200"/>
          </a:xfrm>
          <a:prstGeom prst="rect">
            <a:avLst/>
          </a:prstGeom>
          <a:noFill/>
        </p:spPr>
        <p:txBody>
          <a:bodyPr wrap="square" anchor="t">
            <a:spAutoFit/>
          </a:bodyPr>
          <a:lstStyle/>
          <a:p>
            <a:pPr algn="l">
              <a:defRPr sz="1300" b="1">
                <a:solidFill>
                  <a:srgbClr val="EF4444"/>
                </a:solidFill>
                <a:latin typeface="Calibri"/>
              </a:defRPr>
            </a:pPr>
            <a:r>
              <a:t>7. Unilingual Alerts</a:t>
            </a:r>
          </a:p>
        </p:txBody>
      </p:sp>
      <p:sp>
        <p:nvSpPr>
          <p:cNvPr id="31" name="TextBox 30"/>
          <p:cNvSpPr txBox="1"/>
          <p:nvPr/>
        </p:nvSpPr>
        <p:spPr>
          <a:xfrm>
            <a:off x="3017520" y="4343400"/>
            <a:ext cx="1792224" cy="320040"/>
          </a:xfrm>
          <a:prstGeom prst="rect">
            <a:avLst/>
          </a:prstGeom>
          <a:noFill/>
        </p:spPr>
        <p:txBody>
          <a:bodyPr wrap="square" anchor="t">
            <a:spAutoFit/>
          </a:bodyPr>
          <a:lstStyle/>
          <a:p>
            <a:pPr algn="l">
              <a:defRPr sz="1100" b="1">
                <a:solidFill>
                  <a:srgbClr val="E2E8F0"/>
                </a:solidFill>
                <a:latin typeface="Calibri"/>
              </a:defRPr>
            </a:pPr>
            <a:r>
              <a:t>Nepal Trek 2026</a:t>
            </a:r>
          </a:p>
        </p:txBody>
      </p:sp>
      <p:sp>
        <p:nvSpPr>
          <p:cNvPr id="32" name="TextBox 31"/>
          <p:cNvSpPr txBox="1"/>
          <p:nvPr/>
        </p:nvSpPr>
        <p:spPr>
          <a:xfrm>
            <a:off x="3017520" y="4709160"/>
            <a:ext cx="1792224" cy="1188720"/>
          </a:xfrm>
          <a:prstGeom prst="rect">
            <a:avLst/>
          </a:prstGeom>
          <a:noFill/>
        </p:spPr>
        <p:txBody>
          <a:bodyPr wrap="square" anchor="t">
            <a:spAutoFit/>
          </a:bodyPr>
          <a:lstStyle/>
          <a:p>
            <a:pPr algn="l">
              <a:defRPr sz="1100" b="0">
                <a:solidFill>
                  <a:srgbClr val="FFFFFF"/>
                </a:solidFill>
                <a:latin typeface="Calibri"/>
              </a:defRPr>
            </a:pPr>
            <a:r>
              <a:t>Broadcast sent only in local script to international trekkers.</a:t>
            </a:r>
          </a:p>
        </p:txBody>
      </p:sp>
      <p:sp>
        <p:nvSpPr>
          <p:cNvPr id="33" name="Rectangle 32"/>
          <p:cNvSpPr/>
          <p:nvPr/>
        </p:nvSpPr>
        <p:spPr>
          <a:xfrm>
            <a:off x="5084064" y="3794760"/>
            <a:ext cx="2011680" cy="2240280"/>
          </a:xfrm>
          <a:prstGeom prst="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193792" y="3886200"/>
            <a:ext cx="1792224" cy="457200"/>
          </a:xfrm>
          <a:prstGeom prst="rect">
            <a:avLst/>
          </a:prstGeom>
          <a:noFill/>
        </p:spPr>
        <p:txBody>
          <a:bodyPr wrap="square" anchor="t">
            <a:spAutoFit/>
          </a:bodyPr>
          <a:lstStyle/>
          <a:p>
            <a:pPr algn="l">
              <a:defRPr sz="1300" b="1">
                <a:solidFill>
                  <a:srgbClr val="EF4444"/>
                </a:solidFill>
                <a:latin typeface="Calibri"/>
              </a:defRPr>
            </a:pPr>
            <a:r>
              <a:t>8. Total Isolation</a:t>
            </a:r>
          </a:p>
        </p:txBody>
      </p:sp>
      <p:sp>
        <p:nvSpPr>
          <p:cNvPr id="35" name="TextBox 34"/>
          <p:cNvSpPr txBox="1"/>
          <p:nvPr/>
        </p:nvSpPr>
        <p:spPr>
          <a:xfrm>
            <a:off x="5193792" y="4343400"/>
            <a:ext cx="1792224" cy="320040"/>
          </a:xfrm>
          <a:prstGeom prst="rect">
            <a:avLst/>
          </a:prstGeom>
          <a:noFill/>
        </p:spPr>
        <p:txBody>
          <a:bodyPr wrap="square" anchor="t">
            <a:spAutoFit/>
          </a:bodyPr>
          <a:lstStyle/>
          <a:p>
            <a:pPr algn="l">
              <a:defRPr sz="1100" b="1">
                <a:solidFill>
                  <a:srgbClr val="E2E8F0"/>
                </a:solidFill>
                <a:latin typeface="Calibri"/>
              </a:defRPr>
            </a:pPr>
            <a:r>
              <a:t>Helene 2024</a:t>
            </a:r>
          </a:p>
        </p:txBody>
      </p:sp>
      <p:sp>
        <p:nvSpPr>
          <p:cNvPr id="36" name="TextBox 35"/>
          <p:cNvSpPr txBox="1"/>
          <p:nvPr/>
        </p:nvSpPr>
        <p:spPr>
          <a:xfrm>
            <a:off x="5193792" y="4709160"/>
            <a:ext cx="1792224" cy="1188720"/>
          </a:xfrm>
          <a:prstGeom prst="rect">
            <a:avLst/>
          </a:prstGeom>
          <a:noFill/>
        </p:spPr>
        <p:txBody>
          <a:bodyPr wrap="square" anchor="t">
            <a:spAutoFit/>
          </a:bodyPr>
          <a:lstStyle/>
          <a:p>
            <a:pPr algn="l">
              <a:defRPr sz="1100" b="0">
                <a:solidFill>
                  <a:srgbClr val="FFFFFF"/>
                </a:solidFill>
                <a:latin typeface="Calibri"/>
              </a:defRPr>
            </a:pPr>
            <a:r>
              <a:t>11 mountain counties completely severed; zero external cell comms.</a:t>
            </a:r>
          </a:p>
        </p:txBody>
      </p:sp>
      <p:sp>
        <p:nvSpPr>
          <p:cNvPr id="37" name="Rectangle 36"/>
          <p:cNvSpPr/>
          <p:nvPr/>
        </p:nvSpPr>
        <p:spPr>
          <a:xfrm>
            <a:off x="7260336" y="3794760"/>
            <a:ext cx="2011680" cy="2240280"/>
          </a:xfrm>
          <a:prstGeom prst="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370063" y="3886200"/>
            <a:ext cx="1792224" cy="457200"/>
          </a:xfrm>
          <a:prstGeom prst="rect">
            <a:avLst/>
          </a:prstGeom>
          <a:noFill/>
        </p:spPr>
        <p:txBody>
          <a:bodyPr wrap="square" anchor="t">
            <a:spAutoFit/>
          </a:bodyPr>
          <a:lstStyle/>
          <a:p>
            <a:pPr algn="l">
              <a:defRPr sz="1300" b="1">
                <a:solidFill>
                  <a:srgbClr val="EF4444"/>
                </a:solidFill>
                <a:latin typeface="Calibri"/>
              </a:defRPr>
            </a:pPr>
            <a:r>
              <a:t>9. Social Media Noise</a:t>
            </a:r>
          </a:p>
        </p:txBody>
      </p:sp>
      <p:sp>
        <p:nvSpPr>
          <p:cNvPr id="39" name="TextBox 38"/>
          <p:cNvSpPr txBox="1"/>
          <p:nvPr/>
        </p:nvSpPr>
        <p:spPr>
          <a:xfrm>
            <a:off x="7370063" y="4343400"/>
            <a:ext cx="1792224" cy="320040"/>
          </a:xfrm>
          <a:prstGeom prst="rect">
            <a:avLst/>
          </a:prstGeom>
          <a:noFill/>
        </p:spPr>
        <p:txBody>
          <a:bodyPr wrap="square" anchor="t">
            <a:spAutoFit/>
          </a:bodyPr>
          <a:lstStyle/>
          <a:p>
            <a:pPr algn="l">
              <a:defRPr sz="1100" b="1">
                <a:solidFill>
                  <a:srgbClr val="E2E8F0"/>
                </a:solidFill>
                <a:latin typeface="Calibri"/>
              </a:defRPr>
            </a:pPr>
            <a:r>
              <a:t>Türkiye Quake 2023</a:t>
            </a:r>
          </a:p>
        </p:txBody>
      </p:sp>
      <p:sp>
        <p:nvSpPr>
          <p:cNvPr id="40" name="TextBox 39"/>
          <p:cNvSpPr txBox="1"/>
          <p:nvPr/>
        </p:nvSpPr>
        <p:spPr>
          <a:xfrm>
            <a:off x="7370063" y="4709160"/>
            <a:ext cx="1792224" cy="1188720"/>
          </a:xfrm>
          <a:prstGeom prst="rect">
            <a:avLst/>
          </a:prstGeom>
          <a:noFill/>
        </p:spPr>
        <p:txBody>
          <a:bodyPr wrap="square" anchor="t">
            <a:spAutoFit/>
          </a:bodyPr>
          <a:lstStyle/>
          <a:p>
            <a:pPr algn="l">
              <a:defRPr sz="1100" b="0">
                <a:solidFill>
                  <a:srgbClr val="FFFFFF"/>
                </a:solidFill>
                <a:latin typeface="Calibri"/>
              </a:defRPr>
            </a:pPr>
            <a:r>
              <a:t>1.8M posts in 12hr; 4% geocoding hallucinations diverted rescue.</a:t>
            </a:r>
          </a:p>
        </p:txBody>
      </p:sp>
      <p:sp>
        <p:nvSpPr>
          <p:cNvPr id="41" name="Rectangle 40"/>
          <p:cNvSpPr/>
          <p:nvPr/>
        </p:nvSpPr>
        <p:spPr>
          <a:xfrm>
            <a:off x="9436608" y="3794760"/>
            <a:ext cx="2011680" cy="2240280"/>
          </a:xfrm>
          <a:prstGeom prst="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546336" y="3886200"/>
            <a:ext cx="1792224" cy="457200"/>
          </a:xfrm>
          <a:prstGeom prst="rect">
            <a:avLst/>
          </a:prstGeom>
          <a:noFill/>
        </p:spPr>
        <p:txBody>
          <a:bodyPr wrap="square" anchor="t">
            <a:spAutoFit/>
          </a:bodyPr>
          <a:lstStyle/>
          <a:p>
            <a:pPr algn="l">
              <a:defRPr sz="1300" b="1">
                <a:solidFill>
                  <a:srgbClr val="EF4444"/>
                </a:solidFill>
                <a:latin typeface="Calibri"/>
              </a:defRPr>
            </a:pPr>
            <a:r>
              <a:t>10. Dashboard Disconnect</a:t>
            </a:r>
          </a:p>
        </p:txBody>
      </p:sp>
      <p:sp>
        <p:nvSpPr>
          <p:cNvPr id="43" name="TextBox 42"/>
          <p:cNvSpPr txBox="1"/>
          <p:nvPr/>
        </p:nvSpPr>
        <p:spPr>
          <a:xfrm>
            <a:off x="9546336" y="4343400"/>
            <a:ext cx="1792224" cy="320040"/>
          </a:xfrm>
          <a:prstGeom prst="rect">
            <a:avLst/>
          </a:prstGeom>
          <a:noFill/>
        </p:spPr>
        <p:txBody>
          <a:bodyPr wrap="square" anchor="t">
            <a:spAutoFit/>
          </a:bodyPr>
          <a:lstStyle/>
          <a:p>
            <a:pPr algn="l">
              <a:defRPr sz="1100" b="1">
                <a:solidFill>
                  <a:srgbClr val="E2E8F0"/>
                </a:solidFill>
                <a:latin typeface="Calibri"/>
              </a:defRPr>
            </a:pPr>
            <a:r>
              <a:t>Nepal Tunnels 2026</a:t>
            </a:r>
          </a:p>
        </p:txBody>
      </p:sp>
      <p:sp>
        <p:nvSpPr>
          <p:cNvPr id="44" name="TextBox 43"/>
          <p:cNvSpPr txBox="1"/>
          <p:nvPr/>
        </p:nvSpPr>
        <p:spPr>
          <a:xfrm>
            <a:off x="9546336" y="4709160"/>
            <a:ext cx="1792224" cy="1188720"/>
          </a:xfrm>
          <a:prstGeom prst="rect">
            <a:avLst/>
          </a:prstGeom>
          <a:noFill/>
        </p:spPr>
        <p:txBody>
          <a:bodyPr wrap="square" anchor="t">
            <a:spAutoFit/>
          </a:bodyPr>
          <a:lstStyle/>
          <a:p>
            <a:pPr algn="l">
              <a:defRPr sz="1100" b="0">
                <a:solidFill>
                  <a:srgbClr val="FFFFFF"/>
                </a:solidFill>
                <a:latin typeface="Calibri"/>
              </a:defRPr>
            </a:pPr>
            <a:r>
              <a:t>Surface dashboard claimed clear while 500 workers were trapped.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515600" cy="640080"/>
          </a:xfrm>
          <a:prstGeom prst="rect">
            <a:avLst/>
          </a:prstGeom>
          <a:noFill/>
        </p:spPr>
        <p:txBody>
          <a:bodyPr wrap="square" anchor="t">
            <a:spAutoFit/>
          </a:bodyPr>
          <a:lstStyle/>
          <a:p>
            <a:pPr algn="l">
              <a:defRPr sz="3400" b="1">
                <a:solidFill>
                  <a:srgbClr val="FFFFFF"/>
                </a:solidFill>
                <a:latin typeface="Calibri"/>
              </a:defRPr>
            </a:pPr>
            <a:r>
              <a:t>CrisisMesh: Autonomous Multi-Agent Response</a:t>
            </a:r>
          </a:p>
        </p:txBody>
      </p:sp>
      <p:sp>
        <p:nvSpPr>
          <p:cNvPr id="4" name="TextBox 3"/>
          <p:cNvSpPr txBox="1"/>
          <p:nvPr/>
        </p:nvSpPr>
        <p:spPr>
          <a:xfrm>
            <a:off x="731520" y="868680"/>
            <a:ext cx="10515600" cy="365760"/>
          </a:xfrm>
          <a:prstGeom prst="rect">
            <a:avLst/>
          </a:prstGeom>
          <a:noFill/>
        </p:spPr>
        <p:txBody>
          <a:bodyPr wrap="square" anchor="t">
            <a:spAutoFit/>
          </a:bodyPr>
          <a:lstStyle/>
          <a:p>
            <a:pPr algn="l">
              <a:defRPr sz="1600" b="0">
                <a:solidFill>
                  <a:srgbClr val="F97316"/>
                </a:solidFill>
                <a:latin typeface="Calibri"/>
              </a:defRPr>
            </a:pPr>
            <a:r>
              <a:t>LangGraph Orchestration  •  9 Autonomous Agents  •  180s Dead-Man Switch  •  Offline-First Architecture</a:t>
            </a:r>
          </a:p>
        </p:txBody>
      </p:sp>
      <p:sp>
        <p:nvSpPr>
          <p:cNvPr id="5" name="Rectangle 4"/>
          <p:cNvSpPr/>
          <p:nvPr/>
        </p:nvSpPr>
        <p:spPr>
          <a:xfrm>
            <a:off x="731520" y="1371600"/>
            <a:ext cx="3383280" cy="1508760"/>
          </a:xfrm>
          <a:prstGeom prst="rect">
            <a:avLst/>
          </a:prstGeom>
          <a:solidFill>
            <a:srgbClr val="1E293B"/>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463040"/>
            <a:ext cx="3108960" cy="320040"/>
          </a:xfrm>
          <a:prstGeom prst="rect">
            <a:avLst/>
          </a:prstGeom>
          <a:noFill/>
        </p:spPr>
        <p:txBody>
          <a:bodyPr wrap="square" anchor="t">
            <a:spAutoFit/>
          </a:bodyPr>
          <a:lstStyle/>
          <a:p>
            <a:pPr algn="l">
              <a:defRPr sz="1500" b="1">
                <a:solidFill>
                  <a:srgbClr val="F97316"/>
                </a:solidFill>
                <a:latin typeface="Calibri"/>
              </a:defRPr>
            </a:pPr>
            <a:r>
              <a:t>FormatDetector</a:t>
            </a:r>
          </a:p>
        </p:txBody>
      </p:sp>
      <p:sp>
        <p:nvSpPr>
          <p:cNvPr id="7" name="TextBox 6"/>
          <p:cNvSpPr txBox="1"/>
          <p:nvPr/>
        </p:nvSpPr>
        <p:spPr>
          <a:xfrm>
            <a:off x="868680" y="1783080"/>
            <a:ext cx="3108960" cy="274320"/>
          </a:xfrm>
          <a:prstGeom prst="rect">
            <a:avLst/>
          </a:prstGeom>
          <a:noFill/>
        </p:spPr>
        <p:txBody>
          <a:bodyPr wrap="square" anchor="t">
            <a:spAutoFit/>
          </a:bodyPr>
          <a:lstStyle/>
          <a:p>
            <a:pPr algn="l">
              <a:defRPr sz="1100" b="1">
                <a:solidFill>
                  <a:srgbClr val="E2E8F0"/>
                </a:solidFill>
                <a:latin typeface="Calibri"/>
              </a:defRPr>
            </a:pPr>
            <a:r>
              <a:t>Perception Layer</a:t>
            </a:r>
          </a:p>
        </p:txBody>
      </p:sp>
      <p:sp>
        <p:nvSpPr>
          <p:cNvPr id="8" name="TextBox 7"/>
          <p:cNvSpPr txBox="1"/>
          <p:nvPr/>
        </p:nvSpPr>
        <p:spPr>
          <a:xfrm>
            <a:off x="868680" y="2103120"/>
            <a:ext cx="3108960" cy="685800"/>
          </a:xfrm>
          <a:prstGeom prst="rect">
            <a:avLst/>
          </a:prstGeom>
          <a:noFill/>
        </p:spPr>
        <p:txBody>
          <a:bodyPr wrap="square" anchor="t">
            <a:spAutoFit/>
          </a:bodyPr>
          <a:lstStyle/>
          <a:p>
            <a:pPr algn="l">
              <a:defRPr sz="1100" b="0">
                <a:solidFill>
                  <a:srgbClr val="FFFFFF"/>
                </a:solidFill>
                <a:latin typeface="Calibri"/>
              </a:defRPr>
            </a:pPr>
            <a:r>
              <a:t>Identifies sensor schemas, PDFs, and distress formats.</a:t>
            </a:r>
          </a:p>
        </p:txBody>
      </p:sp>
      <p:sp>
        <p:nvSpPr>
          <p:cNvPr id="9" name="Rectangle 8"/>
          <p:cNvSpPr/>
          <p:nvPr/>
        </p:nvSpPr>
        <p:spPr>
          <a:xfrm>
            <a:off x="4343400" y="1371600"/>
            <a:ext cx="3383280" cy="1508760"/>
          </a:xfrm>
          <a:prstGeom prst="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80560" y="1463040"/>
            <a:ext cx="3108960" cy="320040"/>
          </a:xfrm>
          <a:prstGeom prst="rect">
            <a:avLst/>
          </a:prstGeom>
          <a:noFill/>
        </p:spPr>
        <p:txBody>
          <a:bodyPr wrap="square" anchor="t">
            <a:spAutoFit/>
          </a:bodyPr>
          <a:lstStyle/>
          <a:p>
            <a:pPr algn="l">
              <a:defRPr sz="1500" b="1">
                <a:solidFill>
                  <a:srgbClr val="3B82F6"/>
                </a:solidFill>
                <a:latin typeface="Calibri"/>
              </a:defRPr>
            </a:pPr>
            <a:r>
              <a:t>IngestionExecutor</a:t>
            </a:r>
          </a:p>
        </p:txBody>
      </p:sp>
      <p:sp>
        <p:nvSpPr>
          <p:cNvPr id="11" name="TextBox 10"/>
          <p:cNvSpPr txBox="1"/>
          <p:nvPr/>
        </p:nvSpPr>
        <p:spPr>
          <a:xfrm>
            <a:off x="4480560" y="1783080"/>
            <a:ext cx="3108960" cy="274320"/>
          </a:xfrm>
          <a:prstGeom prst="rect">
            <a:avLst/>
          </a:prstGeom>
          <a:noFill/>
        </p:spPr>
        <p:txBody>
          <a:bodyPr wrap="square" anchor="t">
            <a:spAutoFit/>
          </a:bodyPr>
          <a:lstStyle/>
          <a:p>
            <a:pPr algn="l">
              <a:defRPr sz="1100" b="1">
                <a:solidFill>
                  <a:srgbClr val="E2E8F0"/>
                </a:solidFill>
                <a:latin typeface="Calibri"/>
              </a:defRPr>
            </a:pPr>
            <a:r>
              <a:t>Federation Layer</a:t>
            </a:r>
          </a:p>
        </p:txBody>
      </p:sp>
      <p:sp>
        <p:nvSpPr>
          <p:cNvPr id="12" name="TextBox 11"/>
          <p:cNvSpPr txBox="1"/>
          <p:nvPr/>
        </p:nvSpPr>
        <p:spPr>
          <a:xfrm>
            <a:off x="4480560" y="2103120"/>
            <a:ext cx="3108960" cy="685800"/>
          </a:xfrm>
          <a:prstGeom prst="rect">
            <a:avLst/>
          </a:prstGeom>
          <a:noFill/>
        </p:spPr>
        <p:txBody>
          <a:bodyPr wrap="square" anchor="t">
            <a:spAutoFit/>
          </a:bodyPr>
          <a:lstStyle/>
          <a:p>
            <a:pPr algn="l">
              <a:defRPr sz="1100" b="0">
                <a:solidFill>
                  <a:srgbClr val="FFFFFF"/>
                </a:solidFill>
                <a:latin typeface="Calibri"/>
              </a:defRPr>
            </a:pPr>
            <a:r>
              <a:t>Zetaris USL federation &amp; CUDA-accelerated ingestion.</a:t>
            </a:r>
          </a:p>
        </p:txBody>
      </p:sp>
      <p:sp>
        <p:nvSpPr>
          <p:cNvPr id="13" name="Rectangle 12"/>
          <p:cNvSpPr/>
          <p:nvPr/>
        </p:nvSpPr>
        <p:spPr>
          <a:xfrm>
            <a:off x="7955280" y="1371600"/>
            <a:ext cx="3383280" cy="1508760"/>
          </a:xfrm>
          <a:prstGeom prst="rect">
            <a:avLst/>
          </a:prstGeom>
          <a:solidFill>
            <a:srgbClr val="1E293B"/>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92440" y="1463040"/>
            <a:ext cx="3108960" cy="320040"/>
          </a:xfrm>
          <a:prstGeom prst="rect">
            <a:avLst/>
          </a:prstGeom>
          <a:noFill/>
        </p:spPr>
        <p:txBody>
          <a:bodyPr wrap="square" anchor="t">
            <a:spAutoFit/>
          </a:bodyPr>
          <a:lstStyle/>
          <a:p>
            <a:pPr algn="l">
              <a:defRPr sz="1500" b="1">
                <a:solidFill>
                  <a:srgbClr val="22C55E"/>
                </a:solidFill>
                <a:latin typeface="Calibri"/>
              </a:defRPr>
            </a:pPr>
            <a:r>
              <a:t>WorldModelSimulator</a:t>
            </a:r>
          </a:p>
        </p:txBody>
      </p:sp>
      <p:sp>
        <p:nvSpPr>
          <p:cNvPr id="15" name="TextBox 14"/>
          <p:cNvSpPr txBox="1"/>
          <p:nvPr/>
        </p:nvSpPr>
        <p:spPr>
          <a:xfrm>
            <a:off x="8092440" y="1783080"/>
            <a:ext cx="3108960" cy="274320"/>
          </a:xfrm>
          <a:prstGeom prst="rect">
            <a:avLst/>
          </a:prstGeom>
          <a:noFill/>
        </p:spPr>
        <p:txBody>
          <a:bodyPr wrap="square" anchor="t">
            <a:spAutoFit/>
          </a:bodyPr>
          <a:lstStyle/>
          <a:p>
            <a:pPr algn="l">
              <a:defRPr sz="1100" b="1">
                <a:solidFill>
                  <a:srgbClr val="E2E8F0"/>
                </a:solidFill>
                <a:latin typeface="Calibri"/>
              </a:defRPr>
            </a:pPr>
            <a:r>
              <a:t>Physics &amp; Hazard Sim</a:t>
            </a:r>
          </a:p>
        </p:txBody>
      </p:sp>
      <p:sp>
        <p:nvSpPr>
          <p:cNvPr id="16" name="TextBox 15"/>
          <p:cNvSpPr txBox="1"/>
          <p:nvPr/>
        </p:nvSpPr>
        <p:spPr>
          <a:xfrm>
            <a:off x="8092440" y="2103120"/>
            <a:ext cx="3108960" cy="685800"/>
          </a:xfrm>
          <a:prstGeom prst="rect">
            <a:avLst/>
          </a:prstGeom>
          <a:noFill/>
        </p:spPr>
        <p:txBody>
          <a:bodyPr wrap="square" anchor="t">
            <a:spAutoFit/>
          </a:bodyPr>
          <a:lstStyle/>
          <a:p>
            <a:pPr algn="l">
              <a:defRPr sz="1100" b="0">
                <a:solidFill>
                  <a:srgbClr val="FFFFFF"/>
                </a:solidFill>
                <a:latin typeface="Calibri"/>
              </a:defRPr>
            </a:pPr>
            <a:r>
              <a:t>Simulates flood &amp; fire vectors with dynamic geofencing.</a:t>
            </a:r>
          </a:p>
        </p:txBody>
      </p:sp>
      <p:sp>
        <p:nvSpPr>
          <p:cNvPr id="17" name="Rectangle 16"/>
          <p:cNvSpPr/>
          <p:nvPr/>
        </p:nvSpPr>
        <p:spPr>
          <a:xfrm>
            <a:off x="731520" y="3063240"/>
            <a:ext cx="3383280" cy="1508760"/>
          </a:xfrm>
          <a:prstGeom prst="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68680" y="3154680"/>
            <a:ext cx="3108960" cy="320040"/>
          </a:xfrm>
          <a:prstGeom prst="rect">
            <a:avLst/>
          </a:prstGeom>
          <a:noFill/>
        </p:spPr>
        <p:txBody>
          <a:bodyPr wrap="square" anchor="t">
            <a:spAutoFit/>
          </a:bodyPr>
          <a:lstStyle/>
          <a:p>
            <a:pPr algn="l">
              <a:defRPr sz="1500" b="1">
                <a:solidFill>
                  <a:srgbClr val="EF4444"/>
                </a:solidFill>
                <a:latin typeface="Calibri"/>
              </a:defRPr>
            </a:pPr>
            <a:r>
              <a:t>PlannerAgent</a:t>
            </a:r>
          </a:p>
        </p:txBody>
      </p:sp>
      <p:sp>
        <p:nvSpPr>
          <p:cNvPr id="19" name="TextBox 18"/>
          <p:cNvSpPr txBox="1"/>
          <p:nvPr/>
        </p:nvSpPr>
        <p:spPr>
          <a:xfrm>
            <a:off x="868680" y="3474720"/>
            <a:ext cx="3108960" cy="274320"/>
          </a:xfrm>
          <a:prstGeom prst="rect">
            <a:avLst/>
          </a:prstGeom>
          <a:noFill/>
        </p:spPr>
        <p:txBody>
          <a:bodyPr wrap="square" anchor="t">
            <a:spAutoFit/>
          </a:bodyPr>
          <a:lstStyle/>
          <a:p>
            <a:pPr algn="l">
              <a:defRPr sz="1100" b="1">
                <a:solidFill>
                  <a:srgbClr val="E2E8F0"/>
                </a:solidFill>
                <a:latin typeface="Calibri"/>
              </a:defRPr>
            </a:pPr>
            <a:r>
              <a:t>Decomposition &amp; Timer</a:t>
            </a:r>
          </a:p>
        </p:txBody>
      </p:sp>
      <p:sp>
        <p:nvSpPr>
          <p:cNvPr id="20" name="TextBox 19"/>
          <p:cNvSpPr txBox="1"/>
          <p:nvPr/>
        </p:nvSpPr>
        <p:spPr>
          <a:xfrm>
            <a:off x="868680" y="3794760"/>
            <a:ext cx="3108960" cy="685800"/>
          </a:xfrm>
          <a:prstGeom prst="rect">
            <a:avLst/>
          </a:prstGeom>
          <a:noFill/>
        </p:spPr>
        <p:txBody>
          <a:bodyPr wrap="square" anchor="t">
            <a:spAutoFit/>
          </a:bodyPr>
          <a:lstStyle/>
          <a:p>
            <a:pPr algn="l">
              <a:defRPr sz="1100" b="0">
                <a:solidFill>
                  <a:srgbClr val="FFFFFF"/>
                </a:solidFill>
                <a:latin typeface="Calibri"/>
              </a:defRPr>
            </a:pPr>
            <a:r>
              <a:t>Decomposes missions with 180s autonomous dead-man switch.</a:t>
            </a:r>
          </a:p>
        </p:txBody>
      </p:sp>
      <p:sp>
        <p:nvSpPr>
          <p:cNvPr id="21" name="Rectangle 20"/>
          <p:cNvSpPr/>
          <p:nvPr/>
        </p:nvSpPr>
        <p:spPr>
          <a:xfrm>
            <a:off x="4343400" y="3063240"/>
            <a:ext cx="3383280" cy="1508760"/>
          </a:xfrm>
          <a:prstGeom prst="rect">
            <a:avLst/>
          </a:prstGeom>
          <a:solidFill>
            <a:srgbClr val="1E293B"/>
          </a:solidFill>
          <a:ln w="317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480560" y="3154680"/>
            <a:ext cx="3108960" cy="320040"/>
          </a:xfrm>
          <a:prstGeom prst="rect">
            <a:avLst/>
          </a:prstGeom>
          <a:noFill/>
        </p:spPr>
        <p:txBody>
          <a:bodyPr wrap="square" anchor="t">
            <a:spAutoFit/>
          </a:bodyPr>
          <a:lstStyle/>
          <a:p>
            <a:pPr algn="l">
              <a:defRPr sz="1500" b="1">
                <a:solidFill>
                  <a:srgbClr val="FFFFFF"/>
                </a:solidFill>
                <a:latin typeface="Calibri"/>
              </a:defRPr>
            </a:pPr>
            <a:r>
              <a:t>LangGraph Core</a:t>
            </a:r>
          </a:p>
        </p:txBody>
      </p:sp>
      <p:sp>
        <p:nvSpPr>
          <p:cNvPr id="23" name="TextBox 22"/>
          <p:cNvSpPr txBox="1"/>
          <p:nvPr/>
        </p:nvSpPr>
        <p:spPr>
          <a:xfrm>
            <a:off x="4480560" y="3474720"/>
            <a:ext cx="3108960" cy="274320"/>
          </a:xfrm>
          <a:prstGeom prst="rect">
            <a:avLst/>
          </a:prstGeom>
          <a:noFill/>
        </p:spPr>
        <p:txBody>
          <a:bodyPr wrap="square" anchor="t">
            <a:spAutoFit/>
          </a:bodyPr>
          <a:lstStyle/>
          <a:p>
            <a:pPr algn="l">
              <a:defRPr sz="1100" b="1">
                <a:solidFill>
                  <a:srgbClr val="E2E8F0"/>
                </a:solidFill>
                <a:latin typeface="Calibri"/>
              </a:defRPr>
            </a:pPr>
            <a:r>
              <a:t>Central State Hub</a:t>
            </a:r>
          </a:p>
        </p:txBody>
      </p:sp>
      <p:sp>
        <p:nvSpPr>
          <p:cNvPr id="24" name="TextBox 23"/>
          <p:cNvSpPr txBox="1"/>
          <p:nvPr/>
        </p:nvSpPr>
        <p:spPr>
          <a:xfrm>
            <a:off x="4480560" y="3794760"/>
            <a:ext cx="3108960" cy="685800"/>
          </a:xfrm>
          <a:prstGeom prst="rect">
            <a:avLst/>
          </a:prstGeom>
          <a:noFill/>
        </p:spPr>
        <p:txBody>
          <a:bodyPr wrap="square" anchor="t">
            <a:spAutoFit/>
          </a:bodyPr>
          <a:lstStyle/>
          <a:p>
            <a:pPr algn="l">
              <a:defRPr sz="1100" b="0">
                <a:solidFill>
                  <a:srgbClr val="FFFFFF"/>
                </a:solidFill>
                <a:latin typeface="Calibri"/>
              </a:defRPr>
            </a:pPr>
            <a:r>
              <a:t>Asynchronous state machine, SQLite memory &amp; checkpointers.</a:t>
            </a:r>
          </a:p>
        </p:txBody>
      </p:sp>
      <p:sp>
        <p:nvSpPr>
          <p:cNvPr id="25" name="Rectangle 24"/>
          <p:cNvSpPr/>
          <p:nvPr/>
        </p:nvSpPr>
        <p:spPr>
          <a:xfrm>
            <a:off x="7955280" y="3063240"/>
            <a:ext cx="3383280" cy="1508760"/>
          </a:xfrm>
          <a:prstGeom prst="rect">
            <a:avLst/>
          </a:prstGeom>
          <a:solidFill>
            <a:srgbClr val="1E293B"/>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092440" y="3154680"/>
            <a:ext cx="3108960" cy="320040"/>
          </a:xfrm>
          <a:prstGeom prst="rect">
            <a:avLst/>
          </a:prstGeom>
          <a:noFill/>
        </p:spPr>
        <p:txBody>
          <a:bodyPr wrap="square" anchor="t">
            <a:spAutoFit/>
          </a:bodyPr>
          <a:lstStyle/>
          <a:p>
            <a:pPr algn="l">
              <a:defRPr sz="1500" b="1">
                <a:solidFill>
                  <a:srgbClr val="A855F7"/>
                </a:solidFill>
                <a:latin typeface="Calibri"/>
              </a:defRPr>
            </a:pPr>
            <a:r>
              <a:t>MarkovianRouter</a:t>
            </a:r>
          </a:p>
        </p:txBody>
      </p:sp>
      <p:sp>
        <p:nvSpPr>
          <p:cNvPr id="27" name="TextBox 26"/>
          <p:cNvSpPr txBox="1"/>
          <p:nvPr/>
        </p:nvSpPr>
        <p:spPr>
          <a:xfrm>
            <a:off x="8092440" y="3474720"/>
            <a:ext cx="3108960" cy="274320"/>
          </a:xfrm>
          <a:prstGeom prst="rect">
            <a:avLst/>
          </a:prstGeom>
          <a:noFill/>
        </p:spPr>
        <p:txBody>
          <a:bodyPr wrap="square" anchor="t">
            <a:spAutoFit/>
          </a:bodyPr>
          <a:lstStyle/>
          <a:p>
            <a:pPr algn="l">
              <a:defRPr sz="1100" b="1">
                <a:solidFill>
                  <a:srgbClr val="E2E8F0"/>
                </a:solidFill>
                <a:latin typeface="Calibri"/>
              </a:defRPr>
            </a:pPr>
            <a:r>
              <a:t>Autonomous Bypass</a:t>
            </a:r>
          </a:p>
        </p:txBody>
      </p:sp>
      <p:sp>
        <p:nvSpPr>
          <p:cNvPr id="28" name="TextBox 27"/>
          <p:cNvSpPr txBox="1"/>
          <p:nvPr/>
        </p:nvSpPr>
        <p:spPr>
          <a:xfrm>
            <a:off x="8092440" y="3794760"/>
            <a:ext cx="3108960" cy="685800"/>
          </a:xfrm>
          <a:prstGeom prst="rect">
            <a:avLst/>
          </a:prstGeom>
          <a:noFill/>
        </p:spPr>
        <p:txBody>
          <a:bodyPr wrap="square" anchor="t">
            <a:spAutoFit/>
          </a:bodyPr>
          <a:lstStyle/>
          <a:p>
            <a:pPr algn="l">
              <a:defRPr sz="1100" b="0">
                <a:solidFill>
                  <a:srgbClr val="FFFFFF"/>
                </a:solidFill>
                <a:latin typeface="Calibri"/>
              </a:defRPr>
            </a:pPr>
            <a:r>
              <a:t>Evaluates risk states and bypasses human approval delays.</a:t>
            </a:r>
          </a:p>
        </p:txBody>
      </p:sp>
      <p:sp>
        <p:nvSpPr>
          <p:cNvPr id="29" name="Rectangle 28"/>
          <p:cNvSpPr/>
          <p:nvPr/>
        </p:nvSpPr>
        <p:spPr>
          <a:xfrm>
            <a:off x="731520" y="4754880"/>
            <a:ext cx="3383280" cy="1508760"/>
          </a:xfrm>
          <a:prstGeom prst="rect">
            <a:avLst/>
          </a:prstGeom>
          <a:solidFill>
            <a:srgbClr val="1E293B"/>
          </a:solidFill>
          <a:ln w="19050">
            <a:solidFill>
              <a:srgbClr val="EC48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68680" y="4846320"/>
            <a:ext cx="3108960" cy="320040"/>
          </a:xfrm>
          <a:prstGeom prst="rect">
            <a:avLst/>
          </a:prstGeom>
          <a:noFill/>
        </p:spPr>
        <p:txBody>
          <a:bodyPr wrap="square" anchor="t">
            <a:spAutoFit/>
          </a:bodyPr>
          <a:lstStyle/>
          <a:p>
            <a:pPr algn="l">
              <a:defRPr sz="1500" b="1">
                <a:solidFill>
                  <a:srgbClr val="EC4899"/>
                </a:solidFill>
                <a:latin typeface="Calibri"/>
              </a:defRPr>
            </a:pPr>
            <a:r>
              <a:t>HMemStore</a:t>
            </a:r>
          </a:p>
        </p:txBody>
      </p:sp>
      <p:sp>
        <p:nvSpPr>
          <p:cNvPr id="31" name="TextBox 30"/>
          <p:cNvSpPr txBox="1"/>
          <p:nvPr/>
        </p:nvSpPr>
        <p:spPr>
          <a:xfrm>
            <a:off x="868680" y="5166360"/>
            <a:ext cx="3108960" cy="274320"/>
          </a:xfrm>
          <a:prstGeom prst="rect">
            <a:avLst/>
          </a:prstGeom>
          <a:noFill/>
        </p:spPr>
        <p:txBody>
          <a:bodyPr wrap="square" anchor="t">
            <a:spAutoFit/>
          </a:bodyPr>
          <a:lstStyle/>
          <a:p>
            <a:pPr algn="l">
              <a:defRPr sz="1100" b="1">
                <a:solidFill>
                  <a:srgbClr val="E2E8F0"/>
                </a:solidFill>
                <a:latin typeface="Calibri"/>
              </a:defRPr>
            </a:pPr>
            <a:r>
              <a:t>Jurisdictional Memory</a:t>
            </a:r>
          </a:p>
        </p:txBody>
      </p:sp>
      <p:sp>
        <p:nvSpPr>
          <p:cNvPr id="32" name="TextBox 31"/>
          <p:cNvSpPr txBox="1"/>
          <p:nvPr/>
        </p:nvSpPr>
        <p:spPr>
          <a:xfrm>
            <a:off x="868680" y="5486400"/>
            <a:ext cx="3108960" cy="685800"/>
          </a:xfrm>
          <a:prstGeom prst="rect">
            <a:avLst/>
          </a:prstGeom>
          <a:noFill/>
        </p:spPr>
        <p:txBody>
          <a:bodyPr wrap="square" anchor="t">
            <a:spAutoFit/>
          </a:bodyPr>
          <a:lstStyle/>
          <a:p>
            <a:pPr algn="l">
              <a:defRPr sz="1100" b="0">
                <a:solidFill>
                  <a:srgbClr val="FFFFFF"/>
                </a:solidFill>
                <a:latin typeface="Calibri"/>
              </a:defRPr>
            </a:pPr>
            <a:r>
              <a:t>Meterless long-term SOP memory &amp; legal protocols.</a:t>
            </a:r>
          </a:p>
        </p:txBody>
      </p:sp>
      <p:sp>
        <p:nvSpPr>
          <p:cNvPr id="33" name="Rectangle 32"/>
          <p:cNvSpPr/>
          <p:nvPr/>
        </p:nvSpPr>
        <p:spPr>
          <a:xfrm>
            <a:off x="4343400" y="4754880"/>
            <a:ext cx="3383280" cy="1508760"/>
          </a:xfrm>
          <a:prstGeom prst="rect">
            <a:avLst/>
          </a:prstGeom>
          <a:solidFill>
            <a:srgbClr val="1E293B"/>
          </a:solidFill>
          <a:ln w="19050">
            <a:solidFill>
              <a:srgbClr val="EAB3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480560" y="4846320"/>
            <a:ext cx="3108960" cy="320040"/>
          </a:xfrm>
          <a:prstGeom prst="rect">
            <a:avLst/>
          </a:prstGeom>
          <a:noFill/>
        </p:spPr>
        <p:txBody>
          <a:bodyPr wrap="square" anchor="t">
            <a:spAutoFit/>
          </a:bodyPr>
          <a:lstStyle/>
          <a:p>
            <a:pPr algn="l">
              <a:defRPr sz="1500" b="1">
                <a:solidFill>
                  <a:srgbClr val="EAB308"/>
                </a:solidFill>
                <a:latin typeface="Calibri"/>
              </a:defRPr>
            </a:pPr>
            <a:r>
              <a:t>RiskDispatch</a:t>
            </a:r>
          </a:p>
        </p:txBody>
      </p:sp>
      <p:sp>
        <p:nvSpPr>
          <p:cNvPr id="35" name="TextBox 34"/>
          <p:cNvSpPr txBox="1"/>
          <p:nvPr/>
        </p:nvSpPr>
        <p:spPr>
          <a:xfrm>
            <a:off x="4480560" y="5166360"/>
            <a:ext cx="3108960" cy="274320"/>
          </a:xfrm>
          <a:prstGeom prst="rect">
            <a:avLst/>
          </a:prstGeom>
          <a:noFill/>
        </p:spPr>
        <p:txBody>
          <a:bodyPr wrap="square" anchor="t">
            <a:spAutoFit/>
          </a:bodyPr>
          <a:lstStyle/>
          <a:p>
            <a:pPr algn="l">
              <a:defRPr sz="1100" b="1">
                <a:solidFill>
                  <a:srgbClr val="E2E8F0"/>
                </a:solidFill>
                <a:latin typeface="Calibri"/>
              </a:defRPr>
            </a:pPr>
            <a:r>
              <a:t>Tactical Execution</a:t>
            </a:r>
          </a:p>
        </p:txBody>
      </p:sp>
      <p:sp>
        <p:nvSpPr>
          <p:cNvPr id="36" name="TextBox 35"/>
          <p:cNvSpPr txBox="1"/>
          <p:nvPr/>
        </p:nvSpPr>
        <p:spPr>
          <a:xfrm>
            <a:off x="4480560" y="5486400"/>
            <a:ext cx="3108960" cy="685800"/>
          </a:xfrm>
          <a:prstGeom prst="rect">
            <a:avLst/>
          </a:prstGeom>
          <a:noFill/>
        </p:spPr>
        <p:txBody>
          <a:bodyPr wrap="square" anchor="t">
            <a:spAutoFit/>
          </a:bodyPr>
          <a:lstStyle/>
          <a:p>
            <a:pPr algn="l">
              <a:defRPr sz="1100" b="0">
                <a:solidFill>
                  <a:srgbClr val="FFFFFF"/>
                </a:solidFill>
                <a:latin typeface="Calibri"/>
              </a:defRPr>
            </a:pPr>
            <a:r>
              <a:t>Cell broadcast, multilingual synthesis &amp; capability rescue.</a:t>
            </a:r>
          </a:p>
        </p:txBody>
      </p:sp>
      <p:sp>
        <p:nvSpPr>
          <p:cNvPr id="37" name="Rectangle 36"/>
          <p:cNvSpPr/>
          <p:nvPr/>
        </p:nvSpPr>
        <p:spPr>
          <a:xfrm>
            <a:off x="7955280" y="4754880"/>
            <a:ext cx="3383280" cy="1508760"/>
          </a:xfrm>
          <a:prstGeom prst="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092440" y="4846320"/>
            <a:ext cx="3108960" cy="320040"/>
          </a:xfrm>
          <a:prstGeom prst="rect">
            <a:avLst/>
          </a:prstGeom>
          <a:noFill/>
        </p:spPr>
        <p:txBody>
          <a:bodyPr wrap="square" anchor="t">
            <a:spAutoFit/>
          </a:bodyPr>
          <a:lstStyle/>
          <a:p>
            <a:pPr algn="l">
              <a:defRPr sz="1500" b="1">
                <a:solidFill>
                  <a:srgbClr val="06B6D4"/>
                </a:solidFill>
                <a:latin typeface="Calibri"/>
              </a:defRPr>
            </a:pPr>
            <a:r>
              <a:t>Evaluator &amp; Reporter</a:t>
            </a:r>
          </a:p>
        </p:txBody>
      </p:sp>
      <p:sp>
        <p:nvSpPr>
          <p:cNvPr id="39" name="TextBox 38"/>
          <p:cNvSpPr txBox="1"/>
          <p:nvPr/>
        </p:nvSpPr>
        <p:spPr>
          <a:xfrm>
            <a:off x="8092440" y="5166360"/>
            <a:ext cx="3108960" cy="274320"/>
          </a:xfrm>
          <a:prstGeom prst="rect">
            <a:avLst/>
          </a:prstGeom>
          <a:noFill/>
        </p:spPr>
        <p:txBody>
          <a:bodyPr wrap="square" anchor="t">
            <a:spAutoFit/>
          </a:bodyPr>
          <a:lstStyle/>
          <a:p>
            <a:pPr algn="l">
              <a:defRPr sz="1100" b="1">
                <a:solidFill>
                  <a:srgbClr val="E2E8F0"/>
                </a:solidFill>
                <a:latin typeface="Calibri"/>
              </a:defRPr>
            </a:pPr>
            <a:r>
              <a:t>Safety &amp; Audit</a:t>
            </a:r>
          </a:p>
        </p:txBody>
      </p:sp>
      <p:sp>
        <p:nvSpPr>
          <p:cNvPr id="40" name="TextBox 39"/>
          <p:cNvSpPr txBox="1"/>
          <p:nvPr/>
        </p:nvSpPr>
        <p:spPr>
          <a:xfrm>
            <a:off x="8092440" y="5486400"/>
            <a:ext cx="3108960" cy="685800"/>
          </a:xfrm>
          <a:prstGeom prst="rect">
            <a:avLst/>
          </a:prstGeom>
          <a:noFill/>
        </p:spPr>
        <p:txBody>
          <a:bodyPr wrap="square" anchor="t">
            <a:spAutoFit/>
          </a:bodyPr>
          <a:lstStyle/>
          <a:p>
            <a:pPr algn="l">
              <a:defRPr sz="1100" b="0">
                <a:solidFill>
                  <a:srgbClr val="FFFFFF"/>
                </a:solidFill>
                <a:latin typeface="Calibri"/>
              </a:defRPr>
            </a:pPr>
            <a:r>
              <a:t>Iterative critique loops, quality scoring &amp; provenance audits.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515600" cy="640080"/>
          </a:xfrm>
          <a:prstGeom prst="rect">
            <a:avLst/>
          </a:prstGeom>
          <a:noFill/>
        </p:spPr>
        <p:txBody>
          <a:bodyPr wrap="square" anchor="t">
            <a:spAutoFit/>
          </a:bodyPr>
          <a:lstStyle/>
          <a:p>
            <a:pPr algn="l">
              <a:defRPr sz="3400" b="1">
                <a:solidFill>
                  <a:srgbClr val="FFFFFF"/>
                </a:solidFill>
                <a:latin typeface="Calibri"/>
              </a:defRPr>
            </a:pPr>
            <a:r>
              <a:t>Agent Architecture: LangGraph State Machine</a:t>
            </a:r>
          </a:p>
        </p:txBody>
      </p:sp>
      <p:sp>
        <p:nvSpPr>
          <p:cNvPr id="4" name="TextBox 3"/>
          <p:cNvSpPr txBox="1"/>
          <p:nvPr/>
        </p:nvSpPr>
        <p:spPr>
          <a:xfrm>
            <a:off x="731520" y="868680"/>
            <a:ext cx="10515600" cy="365760"/>
          </a:xfrm>
          <a:prstGeom prst="rect">
            <a:avLst/>
          </a:prstGeom>
          <a:noFill/>
        </p:spPr>
        <p:txBody>
          <a:bodyPr wrap="square" anchor="t">
            <a:spAutoFit/>
          </a:bodyPr>
          <a:lstStyle/>
          <a:p>
            <a:pPr algn="l">
              <a:defRPr sz="1600" b="0">
                <a:solidFill>
                  <a:srgbClr val="F97316"/>
                </a:solidFill>
                <a:latin typeface="Calibri"/>
              </a:defRPr>
            </a:pPr>
            <a:r>
              <a:t>Deterministic State Graphs  •  Iterative Critique Loops  •  SQLite Persistence  •  Meterless Tracing</a:t>
            </a:r>
          </a:p>
        </p:txBody>
      </p:sp>
      <p:sp>
        <p:nvSpPr>
          <p:cNvPr id="5" name="Rectangle 4"/>
          <p:cNvSpPr/>
          <p:nvPr/>
        </p:nvSpPr>
        <p:spPr>
          <a:xfrm>
            <a:off x="457200" y="1371600"/>
            <a:ext cx="1078992" cy="1920240"/>
          </a:xfrm>
          <a:prstGeom prst="rect">
            <a:avLst/>
          </a:prstGeom>
          <a:solidFill>
            <a:srgbClr val="1E293B"/>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93776" y="1444752"/>
            <a:ext cx="1005839" cy="411480"/>
          </a:xfrm>
          <a:prstGeom prst="rect">
            <a:avLst/>
          </a:prstGeom>
          <a:noFill/>
        </p:spPr>
        <p:txBody>
          <a:bodyPr wrap="square" anchor="t">
            <a:spAutoFit/>
          </a:bodyPr>
          <a:lstStyle/>
          <a:p>
            <a:pPr algn="ctr">
              <a:defRPr sz="1100" b="1">
                <a:solidFill>
                  <a:srgbClr val="3B82F6"/>
                </a:solidFill>
                <a:latin typeface="Calibri"/>
              </a:defRPr>
            </a:pPr>
            <a:r>
              <a:t>INPUT</a:t>
            </a:r>
          </a:p>
        </p:txBody>
      </p:sp>
      <p:sp>
        <p:nvSpPr>
          <p:cNvPr id="7" name="TextBox 6"/>
          <p:cNvSpPr txBox="1"/>
          <p:nvPr/>
        </p:nvSpPr>
        <p:spPr>
          <a:xfrm>
            <a:off x="493776" y="1874519"/>
            <a:ext cx="1005839" cy="1325880"/>
          </a:xfrm>
          <a:prstGeom prst="rect">
            <a:avLst/>
          </a:prstGeom>
          <a:noFill/>
        </p:spPr>
        <p:txBody>
          <a:bodyPr wrap="square" anchor="t">
            <a:spAutoFit/>
          </a:bodyPr>
          <a:lstStyle/>
          <a:p>
            <a:pPr algn="ctr">
              <a:defRPr sz="1000" b="0">
                <a:solidFill>
                  <a:srgbClr val="E2E8F0"/>
                </a:solidFill>
                <a:latin typeface="Calibri"/>
              </a:defRPr>
            </a:pPr>
            <a:r>
              <a:t>Sensors</a:t>
            </a:r>
            <a:br/>
            <a:r>
              <a:t>Radar</a:t>
            </a:r>
            <a:br/>
            <a:r>
              <a:t>911 Calls</a:t>
            </a:r>
          </a:p>
        </p:txBody>
      </p:sp>
      <p:sp>
        <p:nvSpPr>
          <p:cNvPr id="8" name="Right Arrow 7"/>
          <p:cNvSpPr/>
          <p:nvPr/>
        </p:nvSpPr>
        <p:spPr>
          <a:xfrm>
            <a:off x="1545336" y="2194560"/>
            <a:ext cx="146304" cy="256032"/>
          </a:xfrm>
          <a:prstGeom prst="rightArrow">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709928" y="1371600"/>
            <a:ext cx="1078992" cy="1920240"/>
          </a:xfrm>
          <a:prstGeom prst="rect">
            <a:avLst/>
          </a:prstGeom>
          <a:solidFill>
            <a:srgbClr val="1E293B"/>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746504" y="1444752"/>
            <a:ext cx="1005839" cy="411480"/>
          </a:xfrm>
          <a:prstGeom prst="rect">
            <a:avLst/>
          </a:prstGeom>
          <a:noFill/>
        </p:spPr>
        <p:txBody>
          <a:bodyPr wrap="square" anchor="t">
            <a:spAutoFit/>
          </a:bodyPr>
          <a:lstStyle/>
          <a:p>
            <a:pPr algn="ctr">
              <a:defRPr sz="1100" b="1">
                <a:solidFill>
                  <a:srgbClr val="EF4444"/>
                </a:solidFill>
                <a:latin typeface="Calibri"/>
              </a:defRPr>
            </a:pPr>
            <a:r>
              <a:t>PLANNER</a:t>
            </a:r>
          </a:p>
        </p:txBody>
      </p:sp>
      <p:sp>
        <p:nvSpPr>
          <p:cNvPr id="11" name="TextBox 10"/>
          <p:cNvSpPr txBox="1"/>
          <p:nvPr/>
        </p:nvSpPr>
        <p:spPr>
          <a:xfrm>
            <a:off x="1746504" y="1874519"/>
            <a:ext cx="1005839" cy="1325880"/>
          </a:xfrm>
          <a:prstGeom prst="rect">
            <a:avLst/>
          </a:prstGeom>
          <a:noFill/>
        </p:spPr>
        <p:txBody>
          <a:bodyPr wrap="square" anchor="t">
            <a:spAutoFit/>
          </a:bodyPr>
          <a:lstStyle/>
          <a:p>
            <a:pPr algn="ctr">
              <a:defRPr sz="1000" b="0">
                <a:solidFill>
                  <a:srgbClr val="E2E8F0"/>
                </a:solidFill>
                <a:latin typeface="Calibri"/>
              </a:defRPr>
            </a:pPr>
            <a:r>
              <a:t>Goal Graph</a:t>
            </a:r>
            <a:br/>
            <a:r>
              <a:t>180s Timer</a:t>
            </a:r>
            <a:br/>
            <a:r>
              <a:t>Milestones</a:t>
            </a:r>
          </a:p>
        </p:txBody>
      </p:sp>
      <p:sp>
        <p:nvSpPr>
          <p:cNvPr id="12" name="Right Arrow 11"/>
          <p:cNvSpPr/>
          <p:nvPr/>
        </p:nvSpPr>
        <p:spPr>
          <a:xfrm>
            <a:off x="2798064" y="2194560"/>
            <a:ext cx="146304" cy="256032"/>
          </a:xfrm>
          <a:prstGeom prst="rightArrow">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962656" y="1371600"/>
            <a:ext cx="1078992" cy="1920240"/>
          </a:xfrm>
          <a:prstGeom prst="rect">
            <a:avLst/>
          </a:prstGeom>
          <a:solidFill>
            <a:srgbClr val="1E293B"/>
          </a:solidFill>
          <a:ln w="2540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999232" y="1444752"/>
            <a:ext cx="1005839" cy="411480"/>
          </a:xfrm>
          <a:prstGeom prst="rect">
            <a:avLst/>
          </a:prstGeom>
          <a:noFill/>
        </p:spPr>
        <p:txBody>
          <a:bodyPr wrap="square" anchor="t">
            <a:spAutoFit/>
          </a:bodyPr>
          <a:lstStyle/>
          <a:p>
            <a:pPr algn="ctr">
              <a:defRPr sz="1100" b="1">
                <a:solidFill>
                  <a:srgbClr val="F97316"/>
                </a:solidFill>
                <a:latin typeface="Calibri"/>
              </a:defRPr>
            </a:pPr>
            <a:r>
              <a:t>DETECTOR</a:t>
            </a:r>
          </a:p>
        </p:txBody>
      </p:sp>
      <p:sp>
        <p:nvSpPr>
          <p:cNvPr id="15" name="TextBox 14"/>
          <p:cNvSpPr txBox="1"/>
          <p:nvPr/>
        </p:nvSpPr>
        <p:spPr>
          <a:xfrm>
            <a:off x="2999232" y="1874519"/>
            <a:ext cx="1005839" cy="1325880"/>
          </a:xfrm>
          <a:prstGeom prst="rect">
            <a:avLst/>
          </a:prstGeom>
          <a:noFill/>
        </p:spPr>
        <p:txBody>
          <a:bodyPr wrap="square" anchor="t">
            <a:spAutoFit/>
          </a:bodyPr>
          <a:lstStyle/>
          <a:p>
            <a:pPr algn="ctr">
              <a:defRPr sz="1000" b="0">
                <a:solidFill>
                  <a:srgbClr val="E2E8F0"/>
                </a:solidFill>
                <a:latin typeface="Calibri"/>
              </a:defRPr>
            </a:pPr>
            <a:r>
              <a:t>Classify</a:t>
            </a:r>
            <a:br/>
            <a:r>
              <a:t>Complexity</a:t>
            </a:r>
            <a:br/>
            <a:r>
              <a:t>Route Map</a:t>
            </a:r>
          </a:p>
        </p:txBody>
      </p:sp>
      <p:sp>
        <p:nvSpPr>
          <p:cNvPr id="16" name="Right Arrow 15"/>
          <p:cNvSpPr/>
          <p:nvPr/>
        </p:nvSpPr>
        <p:spPr>
          <a:xfrm>
            <a:off x="4050791" y="2194560"/>
            <a:ext cx="146304" cy="256032"/>
          </a:xfrm>
          <a:prstGeom prst="rightArrow">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215384" y="1371600"/>
            <a:ext cx="1078992" cy="1920240"/>
          </a:xfrm>
          <a:prstGeom prst="rect">
            <a:avLst/>
          </a:prstGeom>
          <a:solidFill>
            <a:srgbClr val="1E293B"/>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251960" y="1444752"/>
            <a:ext cx="1005839" cy="411480"/>
          </a:xfrm>
          <a:prstGeom prst="rect">
            <a:avLst/>
          </a:prstGeom>
          <a:noFill/>
        </p:spPr>
        <p:txBody>
          <a:bodyPr wrap="square" anchor="t">
            <a:spAutoFit/>
          </a:bodyPr>
          <a:lstStyle/>
          <a:p>
            <a:pPr algn="ctr">
              <a:defRPr sz="1100" b="1">
                <a:solidFill>
                  <a:srgbClr val="3B82F6"/>
                </a:solidFill>
                <a:latin typeface="Calibri"/>
              </a:defRPr>
            </a:pPr>
            <a:r>
              <a:t>INGESTION</a:t>
            </a:r>
          </a:p>
        </p:txBody>
      </p:sp>
      <p:sp>
        <p:nvSpPr>
          <p:cNvPr id="19" name="TextBox 18"/>
          <p:cNvSpPr txBox="1"/>
          <p:nvPr/>
        </p:nvSpPr>
        <p:spPr>
          <a:xfrm>
            <a:off x="4251960" y="1874519"/>
            <a:ext cx="1005839" cy="1325880"/>
          </a:xfrm>
          <a:prstGeom prst="rect">
            <a:avLst/>
          </a:prstGeom>
          <a:noFill/>
        </p:spPr>
        <p:txBody>
          <a:bodyPr wrap="square" anchor="t">
            <a:spAutoFit/>
          </a:bodyPr>
          <a:lstStyle/>
          <a:p>
            <a:pPr algn="ctr">
              <a:defRPr sz="1000" b="0">
                <a:solidFill>
                  <a:srgbClr val="E2E8F0"/>
                </a:solidFill>
                <a:latin typeface="Calibri"/>
              </a:defRPr>
            </a:pPr>
            <a:r>
              <a:t>Zetaris USL</a:t>
            </a:r>
            <a:br/>
            <a:r>
              <a:t>CUDA Parse</a:t>
            </a:r>
            <a:br/>
            <a:r>
              <a:t>Dedup</a:t>
            </a:r>
          </a:p>
        </p:txBody>
      </p:sp>
      <p:sp>
        <p:nvSpPr>
          <p:cNvPr id="20" name="Right Arrow 19"/>
          <p:cNvSpPr/>
          <p:nvPr/>
        </p:nvSpPr>
        <p:spPr>
          <a:xfrm>
            <a:off x="5303520" y="2194560"/>
            <a:ext cx="146304" cy="256032"/>
          </a:xfrm>
          <a:prstGeom prst="rightArrow">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468112" y="1371600"/>
            <a:ext cx="1078992" cy="1920240"/>
          </a:xfrm>
          <a:prstGeom prst="rect">
            <a:avLst/>
          </a:prstGeom>
          <a:solidFill>
            <a:srgbClr val="1E293B"/>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504688" y="1444752"/>
            <a:ext cx="1005839" cy="411480"/>
          </a:xfrm>
          <a:prstGeom prst="rect">
            <a:avLst/>
          </a:prstGeom>
          <a:noFill/>
        </p:spPr>
        <p:txBody>
          <a:bodyPr wrap="square" anchor="t">
            <a:spAutoFit/>
          </a:bodyPr>
          <a:lstStyle/>
          <a:p>
            <a:pPr algn="ctr">
              <a:defRPr sz="1100" b="1">
                <a:solidFill>
                  <a:srgbClr val="22C55E"/>
                </a:solidFill>
                <a:latin typeface="Calibri"/>
              </a:defRPr>
            </a:pPr>
            <a:r>
              <a:t>SIMULATOR</a:t>
            </a:r>
          </a:p>
        </p:txBody>
      </p:sp>
      <p:sp>
        <p:nvSpPr>
          <p:cNvPr id="23" name="TextBox 22"/>
          <p:cNvSpPr txBox="1"/>
          <p:nvPr/>
        </p:nvSpPr>
        <p:spPr>
          <a:xfrm>
            <a:off x="5504688" y="1874519"/>
            <a:ext cx="1005839" cy="1325880"/>
          </a:xfrm>
          <a:prstGeom prst="rect">
            <a:avLst/>
          </a:prstGeom>
          <a:noFill/>
        </p:spPr>
        <p:txBody>
          <a:bodyPr wrap="square" anchor="t">
            <a:spAutoFit/>
          </a:bodyPr>
          <a:lstStyle/>
          <a:p>
            <a:pPr algn="ctr">
              <a:defRPr sz="1000" b="0">
                <a:solidFill>
                  <a:srgbClr val="E2E8F0"/>
                </a:solidFill>
                <a:latin typeface="Calibri"/>
              </a:defRPr>
            </a:pPr>
            <a:r>
              <a:t>Propagation</a:t>
            </a:r>
            <a:br/>
            <a:r>
              <a:t>Vector Math</a:t>
            </a:r>
            <a:br/>
            <a:r>
              <a:t>Geofencing</a:t>
            </a:r>
          </a:p>
        </p:txBody>
      </p:sp>
      <p:sp>
        <p:nvSpPr>
          <p:cNvPr id="24" name="Right Arrow 23"/>
          <p:cNvSpPr/>
          <p:nvPr/>
        </p:nvSpPr>
        <p:spPr>
          <a:xfrm>
            <a:off x="6556248" y="2194560"/>
            <a:ext cx="146304" cy="256032"/>
          </a:xfrm>
          <a:prstGeom prst="rightArrow">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720840" y="1371600"/>
            <a:ext cx="1078992" cy="1920240"/>
          </a:xfrm>
          <a:prstGeom prst="rect">
            <a:avLst/>
          </a:prstGeom>
          <a:solidFill>
            <a:srgbClr val="1E293B"/>
          </a:solidFill>
          <a:ln w="254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757416" y="1444752"/>
            <a:ext cx="1005839" cy="411480"/>
          </a:xfrm>
          <a:prstGeom prst="rect">
            <a:avLst/>
          </a:prstGeom>
          <a:noFill/>
        </p:spPr>
        <p:txBody>
          <a:bodyPr wrap="square" anchor="t">
            <a:spAutoFit/>
          </a:bodyPr>
          <a:lstStyle/>
          <a:p>
            <a:pPr algn="ctr">
              <a:defRPr sz="1100" b="1">
                <a:solidFill>
                  <a:srgbClr val="A855F7"/>
                </a:solidFill>
                <a:latin typeface="Calibri"/>
              </a:defRPr>
            </a:pPr>
            <a:r>
              <a:t>MARKOVIAN</a:t>
            </a:r>
          </a:p>
        </p:txBody>
      </p:sp>
      <p:sp>
        <p:nvSpPr>
          <p:cNvPr id="27" name="TextBox 26"/>
          <p:cNvSpPr txBox="1"/>
          <p:nvPr/>
        </p:nvSpPr>
        <p:spPr>
          <a:xfrm>
            <a:off x="6757416" y="1874519"/>
            <a:ext cx="1005839" cy="1325880"/>
          </a:xfrm>
          <a:prstGeom prst="rect">
            <a:avLst/>
          </a:prstGeom>
          <a:noFill/>
        </p:spPr>
        <p:txBody>
          <a:bodyPr wrap="square" anchor="t">
            <a:spAutoFit/>
          </a:bodyPr>
          <a:lstStyle/>
          <a:p>
            <a:pPr algn="ctr">
              <a:defRPr sz="1000" b="0">
                <a:solidFill>
                  <a:srgbClr val="E2E8F0"/>
                </a:solidFill>
                <a:latin typeface="Calibri"/>
              </a:defRPr>
            </a:pPr>
            <a:r>
              <a:t>State Route</a:t>
            </a:r>
            <a:br/>
            <a:r>
              <a:t>Auto Bypass</a:t>
            </a:r>
            <a:br/>
            <a:r>
              <a:t>Trigger</a:t>
            </a:r>
          </a:p>
        </p:txBody>
      </p:sp>
      <p:sp>
        <p:nvSpPr>
          <p:cNvPr id="28" name="Right Arrow 27"/>
          <p:cNvSpPr/>
          <p:nvPr/>
        </p:nvSpPr>
        <p:spPr>
          <a:xfrm>
            <a:off x="7808976" y="2194560"/>
            <a:ext cx="146304" cy="256032"/>
          </a:xfrm>
          <a:prstGeom prst="rightArrow">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7973568" y="1371600"/>
            <a:ext cx="1078992" cy="1920240"/>
          </a:xfrm>
          <a:prstGeom prst="rect">
            <a:avLst/>
          </a:prstGeom>
          <a:solidFill>
            <a:srgbClr val="1E293B"/>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010144" y="1444752"/>
            <a:ext cx="1005839" cy="411480"/>
          </a:xfrm>
          <a:prstGeom prst="rect">
            <a:avLst/>
          </a:prstGeom>
          <a:noFill/>
        </p:spPr>
        <p:txBody>
          <a:bodyPr wrap="square" anchor="t">
            <a:spAutoFit/>
          </a:bodyPr>
          <a:lstStyle/>
          <a:p>
            <a:pPr algn="ctr">
              <a:defRPr sz="1100" b="1">
                <a:solidFill>
                  <a:srgbClr val="06B6D4"/>
                </a:solidFill>
                <a:latin typeface="Calibri"/>
              </a:defRPr>
            </a:pPr>
            <a:r>
              <a:t>EVALUATOR</a:t>
            </a:r>
          </a:p>
        </p:txBody>
      </p:sp>
      <p:sp>
        <p:nvSpPr>
          <p:cNvPr id="31" name="TextBox 30"/>
          <p:cNvSpPr txBox="1"/>
          <p:nvPr/>
        </p:nvSpPr>
        <p:spPr>
          <a:xfrm>
            <a:off x="8010144" y="1874519"/>
            <a:ext cx="1005839" cy="1325880"/>
          </a:xfrm>
          <a:prstGeom prst="rect">
            <a:avLst/>
          </a:prstGeom>
          <a:noFill/>
        </p:spPr>
        <p:txBody>
          <a:bodyPr wrap="square" anchor="t">
            <a:spAutoFit/>
          </a:bodyPr>
          <a:lstStyle/>
          <a:p>
            <a:pPr algn="ctr">
              <a:defRPr sz="1000" b="0">
                <a:solidFill>
                  <a:srgbClr val="E2E8F0"/>
                </a:solidFill>
                <a:latin typeface="Calibri"/>
              </a:defRPr>
            </a:pPr>
            <a:r>
              <a:t>Quality Gate</a:t>
            </a:r>
            <a:br/>
            <a:r>
              <a:t>Critique Loop</a:t>
            </a:r>
            <a:br/>
            <a:r>
              <a:t>Score Check</a:t>
            </a:r>
          </a:p>
        </p:txBody>
      </p:sp>
      <p:sp>
        <p:nvSpPr>
          <p:cNvPr id="32" name="Right Arrow 31"/>
          <p:cNvSpPr/>
          <p:nvPr/>
        </p:nvSpPr>
        <p:spPr>
          <a:xfrm>
            <a:off x="9061704" y="2194560"/>
            <a:ext cx="146304" cy="256032"/>
          </a:xfrm>
          <a:prstGeom prst="rightArrow">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9226296" y="1371600"/>
            <a:ext cx="1078992" cy="1920240"/>
          </a:xfrm>
          <a:prstGeom prst="rect">
            <a:avLst/>
          </a:prstGeom>
          <a:solidFill>
            <a:srgbClr val="1E293B"/>
          </a:solidFill>
          <a:ln w="25400">
            <a:solidFill>
              <a:srgbClr val="EAB30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262872" y="1444752"/>
            <a:ext cx="1005839" cy="411480"/>
          </a:xfrm>
          <a:prstGeom prst="rect">
            <a:avLst/>
          </a:prstGeom>
          <a:noFill/>
        </p:spPr>
        <p:txBody>
          <a:bodyPr wrap="square" anchor="t">
            <a:spAutoFit/>
          </a:bodyPr>
          <a:lstStyle/>
          <a:p>
            <a:pPr algn="ctr">
              <a:defRPr sz="1100" b="1">
                <a:solidFill>
                  <a:srgbClr val="EAB308"/>
                </a:solidFill>
                <a:latin typeface="Calibri"/>
              </a:defRPr>
            </a:pPr>
            <a:r>
              <a:t>DISPATCH</a:t>
            </a:r>
          </a:p>
        </p:txBody>
      </p:sp>
      <p:sp>
        <p:nvSpPr>
          <p:cNvPr id="35" name="TextBox 34"/>
          <p:cNvSpPr txBox="1"/>
          <p:nvPr/>
        </p:nvSpPr>
        <p:spPr>
          <a:xfrm>
            <a:off x="9262872" y="1874519"/>
            <a:ext cx="1005839" cy="1325880"/>
          </a:xfrm>
          <a:prstGeom prst="rect">
            <a:avLst/>
          </a:prstGeom>
          <a:noFill/>
        </p:spPr>
        <p:txBody>
          <a:bodyPr wrap="square" anchor="t">
            <a:spAutoFit/>
          </a:bodyPr>
          <a:lstStyle/>
          <a:p>
            <a:pPr algn="ctr">
              <a:defRPr sz="1000" b="0">
                <a:solidFill>
                  <a:srgbClr val="E2E8F0"/>
                </a:solidFill>
                <a:latin typeface="Calibri"/>
              </a:defRPr>
            </a:pPr>
            <a:r>
              <a:t>Cell Alerts</a:t>
            </a:r>
            <a:br/>
            <a:r>
              <a:t>Multilingual</a:t>
            </a:r>
            <a:br/>
            <a:r>
              <a:t>Resource</a:t>
            </a:r>
          </a:p>
        </p:txBody>
      </p:sp>
      <p:sp>
        <p:nvSpPr>
          <p:cNvPr id="36" name="Right Arrow 35"/>
          <p:cNvSpPr/>
          <p:nvPr/>
        </p:nvSpPr>
        <p:spPr>
          <a:xfrm>
            <a:off x="10314432" y="2194560"/>
            <a:ext cx="146304" cy="256032"/>
          </a:xfrm>
          <a:prstGeom prst="rightArrow">
            <a:avLst/>
          </a:prstGeom>
          <a:solidFill>
            <a:srgbClr val="EAB3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10479024" y="1371600"/>
            <a:ext cx="1078992" cy="1920240"/>
          </a:xfrm>
          <a:prstGeom prst="rect">
            <a:avLst/>
          </a:prstGeom>
          <a:solidFill>
            <a:srgbClr val="1E293B"/>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515600" y="1444752"/>
            <a:ext cx="1005839" cy="411480"/>
          </a:xfrm>
          <a:prstGeom prst="rect">
            <a:avLst/>
          </a:prstGeom>
          <a:noFill/>
        </p:spPr>
        <p:txBody>
          <a:bodyPr wrap="square" anchor="t">
            <a:spAutoFit/>
          </a:bodyPr>
          <a:lstStyle/>
          <a:p>
            <a:pPr algn="ctr">
              <a:defRPr sz="1100" b="1">
                <a:solidFill>
                  <a:srgbClr val="22C55E"/>
                </a:solidFill>
                <a:latin typeface="Calibri"/>
              </a:defRPr>
            </a:pPr>
            <a:r>
              <a:t>OUTPUT</a:t>
            </a:r>
          </a:p>
        </p:txBody>
      </p:sp>
      <p:sp>
        <p:nvSpPr>
          <p:cNvPr id="39" name="TextBox 38"/>
          <p:cNvSpPr txBox="1"/>
          <p:nvPr/>
        </p:nvSpPr>
        <p:spPr>
          <a:xfrm>
            <a:off x="10515600" y="1874519"/>
            <a:ext cx="1005839" cy="1325880"/>
          </a:xfrm>
          <a:prstGeom prst="rect">
            <a:avLst/>
          </a:prstGeom>
          <a:noFill/>
        </p:spPr>
        <p:txBody>
          <a:bodyPr wrap="square" anchor="t">
            <a:spAutoFit/>
          </a:bodyPr>
          <a:lstStyle/>
          <a:p>
            <a:pPr algn="ctr">
              <a:defRPr sz="1000" b="0">
                <a:solidFill>
                  <a:srgbClr val="E2E8F0"/>
                </a:solidFill>
                <a:latin typeface="Calibri"/>
              </a:defRPr>
            </a:pPr>
            <a:r>
              <a:t>Verified Alerts</a:t>
            </a:r>
            <a:br/>
            <a:r>
              <a:t>Deploy Orders</a:t>
            </a:r>
            <a:br/>
            <a:r>
              <a:t>Audit Trace</a:t>
            </a:r>
          </a:p>
        </p:txBody>
      </p:sp>
      <p:sp>
        <p:nvSpPr>
          <p:cNvPr id="40" name="Rectangle 39"/>
          <p:cNvSpPr/>
          <p:nvPr/>
        </p:nvSpPr>
        <p:spPr>
          <a:xfrm>
            <a:off x="457200" y="3566160"/>
            <a:ext cx="2176272" cy="1325880"/>
          </a:xfrm>
          <a:prstGeom prst="rect">
            <a:avLst/>
          </a:prstGeom>
          <a:solidFill>
            <a:srgbClr val="1E293B"/>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48640" y="3657600"/>
            <a:ext cx="1993391" cy="320040"/>
          </a:xfrm>
          <a:prstGeom prst="rect">
            <a:avLst/>
          </a:prstGeom>
          <a:noFill/>
        </p:spPr>
        <p:txBody>
          <a:bodyPr wrap="square" anchor="t">
            <a:spAutoFit/>
          </a:bodyPr>
          <a:lstStyle/>
          <a:p>
            <a:pPr algn="l">
              <a:defRPr sz="1300" b="1">
                <a:solidFill>
                  <a:srgbClr val="22C55E"/>
                </a:solidFill>
                <a:latin typeface="Calibri"/>
              </a:defRPr>
            </a:pPr>
            <a:r>
              <a:t>SAMPLE_MODE</a:t>
            </a:r>
          </a:p>
        </p:txBody>
      </p:sp>
      <p:sp>
        <p:nvSpPr>
          <p:cNvPr id="42" name="TextBox 41"/>
          <p:cNvSpPr txBox="1"/>
          <p:nvPr/>
        </p:nvSpPr>
        <p:spPr>
          <a:xfrm>
            <a:off x="548640" y="4005072"/>
            <a:ext cx="1993391" cy="822960"/>
          </a:xfrm>
          <a:prstGeom prst="rect">
            <a:avLst/>
          </a:prstGeom>
          <a:noFill/>
        </p:spPr>
        <p:txBody>
          <a:bodyPr wrap="square" anchor="t">
            <a:spAutoFit/>
          </a:bodyPr>
          <a:lstStyle/>
          <a:p>
            <a:pPr algn="l">
              <a:defRPr sz="1100" b="0">
                <a:solidFill>
                  <a:srgbClr val="E2E8F0"/>
                </a:solidFill>
                <a:latin typeface="Calibri"/>
              </a:defRPr>
            </a:pPr>
            <a:r>
              <a:t>100% offline execution; zero external runtime dependencies.</a:t>
            </a:r>
          </a:p>
        </p:txBody>
      </p:sp>
      <p:sp>
        <p:nvSpPr>
          <p:cNvPr id="43" name="Rectangle 42"/>
          <p:cNvSpPr/>
          <p:nvPr/>
        </p:nvSpPr>
        <p:spPr>
          <a:xfrm>
            <a:off x="2715768" y="3566160"/>
            <a:ext cx="2176272" cy="1325880"/>
          </a:xfrm>
          <a:prstGeom prst="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2807208" y="3657600"/>
            <a:ext cx="1993391" cy="320040"/>
          </a:xfrm>
          <a:prstGeom prst="rect">
            <a:avLst/>
          </a:prstGeom>
          <a:noFill/>
        </p:spPr>
        <p:txBody>
          <a:bodyPr wrap="square" anchor="t">
            <a:spAutoFit/>
          </a:bodyPr>
          <a:lstStyle/>
          <a:p>
            <a:pPr algn="l">
              <a:defRPr sz="1300" b="1">
                <a:solidFill>
                  <a:srgbClr val="3B82F6"/>
                </a:solidFill>
                <a:latin typeface="Calibri"/>
              </a:defRPr>
            </a:pPr>
            <a:r>
              <a:t>Async Checkpointer</a:t>
            </a:r>
          </a:p>
        </p:txBody>
      </p:sp>
      <p:sp>
        <p:nvSpPr>
          <p:cNvPr id="45" name="TextBox 44"/>
          <p:cNvSpPr txBox="1"/>
          <p:nvPr/>
        </p:nvSpPr>
        <p:spPr>
          <a:xfrm>
            <a:off x="2807208" y="4005072"/>
            <a:ext cx="1993391" cy="822960"/>
          </a:xfrm>
          <a:prstGeom prst="rect">
            <a:avLst/>
          </a:prstGeom>
          <a:noFill/>
        </p:spPr>
        <p:txBody>
          <a:bodyPr wrap="square" anchor="t">
            <a:spAutoFit/>
          </a:bodyPr>
          <a:lstStyle/>
          <a:p>
            <a:pPr algn="l">
              <a:defRPr sz="1100" b="0">
                <a:solidFill>
                  <a:srgbClr val="E2E8F0"/>
                </a:solidFill>
                <a:latin typeface="Calibri"/>
              </a:defRPr>
            </a:pPr>
            <a:r>
              <a:t>SQLite persistence for LangGraph state &amp; resuming jobs.</a:t>
            </a:r>
          </a:p>
        </p:txBody>
      </p:sp>
      <p:sp>
        <p:nvSpPr>
          <p:cNvPr id="46" name="Rectangle 45"/>
          <p:cNvSpPr/>
          <p:nvPr/>
        </p:nvSpPr>
        <p:spPr>
          <a:xfrm>
            <a:off x="4974336" y="3566160"/>
            <a:ext cx="2176272" cy="1325880"/>
          </a:xfrm>
          <a:prstGeom prst="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065776" y="3657600"/>
            <a:ext cx="1993391" cy="320040"/>
          </a:xfrm>
          <a:prstGeom prst="rect">
            <a:avLst/>
          </a:prstGeom>
          <a:noFill/>
        </p:spPr>
        <p:txBody>
          <a:bodyPr wrap="square" anchor="t">
            <a:spAutoFit/>
          </a:bodyPr>
          <a:lstStyle/>
          <a:p>
            <a:pPr algn="l">
              <a:defRPr sz="1300" b="1">
                <a:solidFill>
                  <a:srgbClr val="06B6D4"/>
                </a:solidFill>
                <a:latin typeface="Calibri"/>
              </a:defRPr>
            </a:pPr>
            <a:r>
              <a:t>Meterless Tracing</a:t>
            </a:r>
          </a:p>
        </p:txBody>
      </p:sp>
      <p:sp>
        <p:nvSpPr>
          <p:cNvPr id="48" name="TextBox 47"/>
          <p:cNvSpPr txBox="1"/>
          <p:nvPr/>
        </p:nvSpPr>
        <p:spPr>
          <a:xfrm>
            <a:off x="5065776" y="4005072"/>
            <a:ext cx="1993391" cy="822960"/>
          </a:xfrm>
          <a:prstGeom prst="rect">
            <a:avLst/>
          </a:prstGeom>
          <a:noFill/>
        </p:spPr>
        <p:txBody>
          <a:bodyPr wrap="square" anchor="t">
            <a:spAutoFit/>
          </a:bodyPr>
          <a:lstStyle/>
          <a:p>
            <a:pPr algn="l">
              <a:defRPr sz="1100" b="0">
                <a:solidFill>
                  <a:srgbClr val="E2E8F0"/>
                </a:solidFill>
                <a:latin typeface="Calibri"/>
              </a:defRPr>
            </a:pPr>
            <a:r>
              <a:t>@trace_agent decorators tracking latencies across all 9 agents.</a:t>
            </a:r>
          </a:p>
        </p:txBody>
      </p:sp>
      <p:sp>
        <p:nvSpPr>
          <p:cNvPr id="49" name="Rectangle 48"/>
          <p:cNvSpPr/>
          <p:nvPr/>
        </p:nvSpPr>
        <p:spPr>
          <a:xfrm>
            <a:off x="7232904" y="3566160"/>
            <a:ext cx="2176272" cy="1325880"/>
          </a:xfrm>
          <a:prstGeom prst="rect">
            <a:avLst/>
          </a:prstGeom>
          <a:solidFill>
            <a:srgbClr val="1E293B"/>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324344" y="3657600"/>
            <a:ext cx="1993391" cy="320040"/>
          </a:xfrm>
          <a:prstGeom prst="rect">
            <a:avLst/>
          </a:prstGeom>
          <a:noFill/>
        </p:spPr>
        <p:txBody>
          <a:bodyPr wrap="square" anchor="t">
            <a:spAutoFit/>
          </a:bodyPr>
          <a:lstStyle/>
          <a:p>
            <a:pPr algn="l">
              <a:defRPr sz="1300" b="1">
                <a:solidFill>
                  <a:srgbClr val="F97316"/>
                </a:solidFill>
                <a:latin typeface="Calibri"/>
              </a:defRPr>
            </a:pPr>
            <a:r>
              <a:t>Critique Loops</a:t>
            </a:r>
          </a:p>
        </p:txBody>
      </p:sp>
      <p:sp>
        <p:nvSpPr>
          <p:cNvPr id="51" name="TextBox 50"/>
          <p:cNvSpPr txBox="1"/>
          <p:nvPr/>
        </p:nvSpPr>
        <p:spPr>
          <a:xfrm>
            <a:off x="7324344" y="4005072"/>
            <a:ext cx="1993391" cy="822960"/>
          </a:xfrm>
          <a:prstGeom prst="rect">
            <a:avLst/>
          </a:prstGeom>
          <a:noFill/>
        </p:spPr>
        <p:txBody>
          <a:bodyPr wrap="square" anchor="t">
            <a:spAutoFit/>
          </a:bodyPr>
          <a:lstStyle/>
          <a:p>
            <a:pPr algn="l">
              <a:defRPr sz="1100" b="0">
                <a:solidFill>
                  <a:srgbClr val="E2E8F0"/>
                </a:solidFill>
                <a:latin typeface="Calibri"/>
              </a:defRPr>
            </a:pPr>
            <a:r>
              <a:t>Evaluator triggers automatic re-execution on failed criteria (max 3).</a:t>
            </a:r>
          </a:p>
        </p:txBody>
      </p:sp>
      <p:sp>
        <p:nvSpPr>
          <p:cNvPr id="52" name="Rectangle 51"/>
          <p:cNvSpPr/>
          <p:nvPr/>
        </p:nvSpPr>
        <p:spPr>
          <a:xfrm>
            <a:off x="9491472" y="3566160"/>
            <a:ext cx="2176272" cy="1325880"/>
          </a:xfrm>
          <a:prstGeom prst="rect">
            <a:avLst/>
          </a:prstGeom>
          <a:solidFill>
            <a:srgbClr val="1E293B"/>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582912" y="3657600"/>
            <a:ext cx="1993391" cy="320040"/>
          </a:xfrm>
          <a:prstGeom prst="rect">
            <a:avLst/>
          </a:prstGeom>
          <a:noFill/>
        </p:spPr>
        <p:txBody>
          <a:bodyPr wrap="square" anchor="t">
            <a:spAutoFit/>
          </a:bodyPr>
          <a:lstStyle/>
          <a:p>
            <a:pPr algn="l">
              <a:defRPr sz="1300" b="1">
                <a:solidFill>
                  <a:srgbClr val="A855F7"/>
                </a:solidFill>
                <a:latin typeface="Calibri"/>
              </a:defRPr>
            </a:pPr>
            <a:r>
              <a:t>Dynamic Routing</a:t>
            </a:r>
          </a:p>
        </p:txBody>
      </p:sp>
      <p:sp>
        <p:nvSpPr>
          <p:cNvPr id="54" name="TextBox 53"/>
          <p:cNvSpPr txBox="1"/>
          <p:nvPr/>
        </p:nvSpPr>
        <p:spPr>
          <a:xfrm>
            <a:off x="9582912" y="4005072"/>
            <a:ext cx="1993391" cy="822960"/>
          </a:xfrm>
          <a:prstGeom prst="rect">
            <a:avLst/>
          </a:prstGeom>
          <a:noFill/>
        </p:spPr>
        <p:txBody>
          <a:bodyPr wrap="square" anchor="t">
            <a:spAutoFit/>
          </a:bodyPr>
          <a:lstStyle/>
          <a:p>
            <a:pPr algn="l">
              <a:defRPr sz="1100" b="0">
                <a:solidFill>
                  <a:srgbClr val="E2E8F0"/>
                </a:solidFill>
                <a:latin typeface="Calibri"/>
              </a:defRPr>
            </a:pPr>
            <a:r>
              <a:t>Conditional graph transitions evaluated on live sensor severity.</a:t>
            </a:r>
          </a:p>
        </p:txBody>
      </p:sp>
      <p:sp>
        <p:nvSpPr>
          <p:cNvPr id="55" name="Rectangle 54"/>
          <p:cNvSpPr/>
          <p:nvPr/>
        </p:nvSpPr>
        <p:spPr>
          <a:xfrm>
            <a:off x="457200" y="5166360"/>
            <a:ext cx="2697480" cy="1325880"/>
          </a:xfrm>
          <a:prstGeom prst="rect">
            <a:avLst/>
          </a:prstGeom>
          <a:solidFill>
            <a:srgbClr val="1E293B"/>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566928" y="5239512"/>
            <a:ext cx="2478024" cy="320040"/>
          </a:xfrm>
          <a:prstGeom prst="rect">
            <a:avLst/>
          </a:prstGeom>
          <a:noFill/>
        </p:spPr>
        <p:txBody>
          <a:bodyPr wrap="square" anchor="t">
            <a:spAutoFit/>
          </a:bodyPr>
          <a:lstStyle/>
          <a:p>
            <a:pPr algn="l">
              <a:defRPr sz="1500" b="1">
                <a:solidFill>
                  <a:srgbClr val="EF4444"/>
                </a:solidFill>
                <a:latin typeface="Calibri"/>
              </a:defRPr>
            </a:pPr>
            <a:r>
              <a:t>Zetaris</a:t>
            </a:r>
          </a:p>
        </p:txBody>
      </p:sp>
      <p:sp>
        <p:nvSpPr>
          <p:cNvPr id="57" name="TextBox 56"/>
          <p:cNvSpPr txBox="1"/>
          <p:nvPr/>
        </p:nvSpPr>
        <p:spPr>
          <a:xfrm>
            <a:off x="566928" y="5550408"/>
            <a:ext cx="2478024" cy="274320"/>
          </a:xfrm>
          <a:prstGeom prst="rect">
            <a:avLst/>
          </a:prstGeom>
          <a:noFill/>
        </p:spPr>
        <p:txBody>
          <a:bodyPr wrap="square" anchor="t">
            <a:spAutoFit/>
          </a:bodyPr>
          <a:lstStyle/>
          <a:p>
            <a:pPr algn="l">
              <a:defRPr sz="1100" b="1">
                <a:solidFill>
                  <a:srgbClr val="FFFFFF"/>
                </a:solidFill>
                <a:latin typeface="Calibri"/>
              </a:defRPr>
            </a:pPr>
            <a:r>
              <a:t>Universal Semantic Layer</a:t>
            </a:r>
          </a:p>
        </p:txBody>
      </p:sp>
      <p:sp>
        <p:nvSpPr>
          <p:cNvPr id="58" name="TextBox 57"/>
          <p:cNvSpPr txBox="1"/>
          <p:nvPr/>
        </p:nvSpPr>
        <p:spPr>
          <a:xfrm>
            <a:off x="566928" y="5824728"/>
            <a:ext cx="2478024" cy="594360"/>
          </a:xfrm>
          <a:prstGeom prst="rect">
            <a:avLst/>
          </a:prstGeom>
          <a:noFill/>
        </p:spPr>
        <p:txBody>
          <a:bodyPr wrap="square" anchor="t">
            <a:spAutoFit/>
          </a:bodyPr>
          <a:lstStyle/>
          <a:p>
            <a:pPr algn="l">
              <a:defRPr sz="1000" b="0">
                <a:solidFill>
                  <a:srgbClr val="E2E8F0"/>
                </a:solidFill>
                <a:latin typeface="Calibri"/>
              </a:defRPr>
            </a:pPr>
            <a:r>
              <a:t>Federated SQL queries across fragmented PDF/CSV/SAR registries.</a:t>
            </a:r>
          </a:p>
        </p:txBody>
      </p:sp>
      <p:sp>
        <p:nvSpPr>
          <p:cNvPr id="59" name="Rectangle 58"/>
          <p:cNvSpPr/>
          <p:nvPr/>
        </p:nvSpPr>
        <p:spPr>
          <a:xfrm>
            <a:off x="3291840" y="5166360"/>
            <a:ext cx="2697480" cy="1325880"/>
          </a:xfrm>
          <a:prstGeom prst="rect">
            <a:avLst/>
          </a:prstGeom>
          <a:solidFill>
            <a:srgbClr val="1E293B"/>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3401568" y="5239512"/>
            <a:ext cx="2478024" cy="320040"/>
          </a:xfrm>
          <a:prstGeom prst="rect">
            <a:avLst/>
          </a:prstGeom>
          <a:noFill/>
        </p:spPr>
        <p:txBody>
          <a:bodyPr wrap="square" anchor="t">
            <a:spAutoFit/>
          </a:bodyPr>
          <a:lstStyle/>
          <a:p>
            <a:pPr algn="l">
              <a:defRPr sz="1500" b="1">
                <a:solidFill>
                  <a:srgbClr val="3B82F6"/>
                </a:solidFill>
                <a:latin typeface="Calibri"/>
              </a:defRPr>
            </a:pPr>
            <a:r>
              <a:t>Meterless</a:t>
            </a:r>
          </a:p>
        </p:txBody>
      </p:sp>
      <p:sp>
        <p:nvSpPr>
          <p:cNvPr id="61" name="TextBox 60"/>
          <p:cNvSpPr txBox="1"/>
          <p:nvPr/>
        </p:nvSpPr>
        <p:spPr>
          <a:xfrm>
            <a:off x="3401568" y="5550408"/>
            <a:ext cx="2478024" cy="274320"/>
          </a:xfrm>
          <a:prstGeom prst="rect">
            <a:avLst/>
          </a:prstGeom>
          <a:noFill/>
        </p:spPr>
        <p:txBody>
          <a:bodyPr wrap="square" anchor="t">
            <a:spAutoFit/>
          </a:bodyPr>
          <a:lstStyle/>
          <a:p>
            <a:pPr algn="l">
              <a:defRPr sz="1100" b="1">
                <a:solidFill>
                  <a:srgbClr val="FFFFFF"/>
                </a:solidFill>
                <a:latin typeface="Calibri"/>
              </a:defRPr>
            </a:pPr>
            <a:r>
              <a:t>Observability &amp; Reasoning</a:t>
            </a:r>
          </a:p>
        </p:txBody>
      </p:sp>
      <p:sp>
        <p:nvSpPr>
          <p:cNvPr id="62" name="TextBox 61"/>
          <p:cNvSpPr txBox="1"/>
          <p:nvPr/>
        </p:nvSpPr>
        <p:spPr>
          <a:xfrm>
            <a:off x="3401568" y="5824728"/>
            <a:ext cx="2478024" cy="594360"/>
          </a:xfrm>
          <a:prstGeom prst="rect">
            <a:avLst/>
          </a:prstGeom>
          <a:noFill/>
        </p:spPr>
        <p:txBody>
          <a:bodyPr wrap="square" anchor="t">
            <a:spAutoFit/>
          </a:bodyPr>
          <a:lstStyle/>
          <a:p>
            <a:pPr algn="l">
              <a:defRPr sz="1000" b="0">
                <a:solidFill>
                  <a:srgbClr val="E2E8F0"/>
                </a:solidFill>
                <a:latin typeface="Calibri"/>
              </a:defRPr>
            </a:pPr>
            <a:r>
              <a:t>H-Mem long-term SOPs, Markovian router &amp; millisecond tracing.</a:t>
            </a:r>
          </a:p>
        </p:txBody>
      </p:sp>
      <p:sp>
        <p:nvSpPr>
          <p:cNvPr id="63" name="Rectangle 62"/>
          <p:cNvSpPr/>
          <p:nvPr/>
        </p:nvSpPr>
        <p:spPr>
          <a:xfrm>
            <a:off x="6126480" y="5166360"/>
            <a:ext cx="2697480" cy="1325880"/>
          </a:xfrm>
          <a:prstGeom prst="rect">
            <a:avLst/>
          </a:prstGeom>
          <a:solidFill>
            <a:srgbClr val="1E293B"/>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6236208" y="5239512"/>
            <a:ext cx="2478024" cy="320040"/>
          </a:xfrm>
          <a:prstGeom prst="rect">
            <a:avLst/>
          </a:prstGeom>
          <a:noFill/>
        </p:spPr>
        <p:txBody>
          <a:bodyPr wrap="square" anchor="t">
            <a:spAutoFit/>
          </a:bodyPr>
          <a:lstStyle/>
          <a:p>
            <a:pPr algn="l">
              <a:defRPr sz="1500" b="1">
                <a:solidFill>
                  <a:srgbClr val="22C55E"/>
                </a:solidFill>
                <a:latin typeface="Calibri"/>
              </a:defRPr>
            </a:pPr>
            <a:r>
              <a:t>NVIDIA</a:t>
            </a:r>
          </a:p>
        </p:txBody>
      </p:sp>
      <p:sp>
        <p:nvSpPr>
          <p:cNvPr id="65" name="TextBox 64"/>
          <p:cNvSpPr txBox="1"/>
          <p:nvPr/>
        </p:nvSpPr>
        <p:spPr>
          <a:xfrm>
            <a:off x="6236208" y="5550408"/>
            <a:ext cx="2478024" cy="274320"/>
          </a:xfrm>
          <a:prstGeom prst="rect">
            <a:avLst/>
          </a:prstGeom>
          <a:noFill/>
        </p:spPr>
        <p:txBody>
          <a:bodyPr wrap="square" anchor="t">
            <a:spAutoFit/>
          </a:bodyPr>
          <a:lstStyle/>
          <a:p>
            <a:pPr algn="l">
              <a:defRPr sz="1100" b="1">
                <a:solidFill>
                  <a:srgbClr val="FFFFFF"/>
                </a:solidFill>
                <a:latin typeface="Calibri"/>
              </a:defRPr>
            </a:pPr>
            <a:r>
              <a:t>GPU Accelerated Inference</a:t>
            </a:r>
          </a:p>
        </p:txBody>
      </p:sp>
      <p:sp>
        <p:nvSpPr>
          <p:cNvPr id="66" name="TextBox 65"/>
          <p:cNvSpPr txBox="1"/>
          <p:nvPr/>
        </p:nvSpPr>
        <p:spPr>
          <a:xfrm>
            <a:off x="6236208" y="5824728"/>
            <a:ext cx="2478024" cy="594360"/>
          </a:xfrm>
          <a:prstGeom prst="rect">
            <a:avLst/>
          </a:prstGeom>
          <a:noFill/>
        </p:spPr>
        <p:txBody>
          <a:bodyPr wrap="square" anchor="t">
            <a:spAutoFit/>
          </a:bodyPr>
          <a:lstStyle/>
          <a:p>
            <a:pPr algn="l">
              <a:defRPr sz="1000" b="0">
                <a:solidFill>
                  <a:srgbClr val="E2E8F0"/>
                </a:solidFill>
                <a:latin typeface="Calibri"/>
              </a:defRPr>
            </a:pPr>
            <a:r>
              <a:t>CUDA embeddings for entity deduplication and rapid flood modeling.</a:t>
            </a:r>
          </a:p>
        </p:txBody>
      </p:sp>
      <p:sp>
        <p:nvSpPr>
          <p:cNvPr id="67" name="Rectangle 66"/>
          <p:cNvSpPr/>
          <p:nvPr/>
        </p:nvSpPr>
        <p:spPr>
          <a:xfrm>
            <a:off x="8961120" y="5166360"/>
            <a:ext cx="2697480" cy="1325880"/>
          </a:xfrm>
          <a:prstGeom prst="rect">
            <a:avLst/>
          </a:prstGeom>
          <a:solidFill>
            <a:srgbClr val="1E293B"/>
          </a:solidFill>
          <a:ln w="2540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9070848" y="5239512"/>
            <a:ext cx="2478024" cy="320040"/>
          </a:xfrm>
          <a:prstGeom prst="rect">
            <a:avLst/>
          </a:prstGeom>
          <a:noFill/>
        </p:spPr>
        <p:txBody>
          <a:bodyPr wrap="square" anchor="t">
            <a:spAutoFit/>
          </a:bodyPr>
          <a:lstStyle/>
          <a:p>
            <a:pPr algn="l">
              <a:defRPr sz="1500" b="1">
                <a:solidFill>
                  <a:srgbClr val="F97316"/>
                </a:solidFill>
                <a:latin typeface="Calibri"/>
              </a:defRPr>
            </a:pPr>
            <a:r>
              <a:t>Cursor</a:t>
            </a:r>
          </a:p>
        </p:txBody>
      </p:sp>
      <p:sp>
        <p:nvSpPr>
          <p:cNvPr id="69" name="TextBox 68"/>
          <p:cNvSpPr txBox="1"/>
          <p:nvPr/>
        </p:nvSpPr>
        <p:spPr>
          <a:xfrm>
            <a:off x="9070848" y="5550408"/>
            <a:ext cx="2478024" cy="274320"/>
          </a:xfrm>
          <a:prstGeom prst="rect">
            <a:avLst/>
          </a:prstGeom>
          <a:noFill/>
        </p:spPr>
        <p:txBody>
          <a:bodyPr wrap="square" anchor="t">
            <a:spAutoFit/>
          </a:bodyPr>
          <a:lstStyle/>
          <a:p>
            <a:pPr algn="l">
              <a:defRPr sz="1100" b="1">
                <a:solidFill>
                  <a:srgbClr val="FFFFFF"/>
                </a:solidFill>
                <a:latin typeface="Calibri"/>
              </a:defRPr>
            </a:pPr>
            <a:r>
              <a:t>AI-Native Engineering</a:t>
            </a:r>
          </a:p>
        </p:txBody>
      </p:sp>
      <p:sp>
        <p:nvSpPr>
          <p:cNvPr id="70" name="TextBox 69"/>
          <p:cNvSpPr txBox="1"/>
          <p:nvPr/>
        </p:nvSpPr>
        <p:spPr>
          <a:xfrm>
            <a:off x="9070848" y="5824728"/>
            <a:ext cx="2478024" cy="594360"/>
          </a:xfrm>
          <a:prstGeom prst="rect">
            <a:avLst/>
          </a:prstGeom>
          <a:noFill/>
        </p:spPr>
        <p:txBody>
          <a:bodyPr wrap="square" anchor="t">
            <a:spAutoFit/>
          </a:bodyPr>
          <a:lstStyle/>
          <a:p>
            <a:pPr algn="l">
              <a:defRPr sz="1000" b="0">
                <a:solidFill>
                  <a:srgbClr val="E2E8F0"/>
                </a:solidFill>
                <a:latin typeface="Calibri"/>
              </a:defRPr>
            </a:pPr>
            <a:r>
              <a:t>Full-stack code generation, LangGraph unit tests &amp; prompt optimization.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515600" cy="640080"/>
          </a:xfrm>
          <a:prstGeom prst="rect">
            <a:avLst/>
          </a:prstGeom>
          <a:noFill/>
        </p:spPr>
        <p:txBody>
          <a:bodyPr wrap="square" anchor="t">
            <a:spAutoFit/>
          </a:bodyPr>
          <a:lstStyle/>
          <a:p>
            <a:pPr algn="l">
              <a:defRPr sz="3400" b="1">
                <a:solidFill>
                  <a:srgbClr val="FFFFFF"/>
                </a:solidFill>
                <a:latin typeface="Calibri"/>
              </a:defRPr>
            </a:pPr>
            <a:r>
              <a:t>Sponsor Technology: Deep Integration</a:t>
            </a:r>
          </a:p>
        </p:txBody>
      </p:sp>
      <p:sp>
        <p:nvSpPr>
          <p:cNvPr id="4" name="TextBox 3"/>
          <p:cNvSpPr txBox="1"/>
          <p:nvPr/>
        </p:nvSpPr>
        <p:spPr>
          <a:xfrm>
            <a:off x="731520" y="868680"/>
            <a:ext cx="10515600" cy="365760"/>
          </a:xfrm>
          <a:prstGeom prst="rect">
            <a:avLst/>
          </a:prstGeom>
          <a:noFill/>
        </p:spPr>
        <p:txBody>
          <a:bodyPr wrap="square" anchor="t">
            <a:spAutoFit/>
          </a:bodyPr>
          <a:lstStyle/>
          <a:p>
            <a:pPr algn="l">
              <a:defRPr sz="1600" b="0">
                <a:solidFill>
                  <a:srgbClr val="F97316"/>
                </a:solidFill>
                <a:latin typeface="Calibri"/>
              </a:defRPr>
            </a:pPr>
            <a:r>
              <a:t>Production Integrations Across All 4 Hackathon Sponsors</a:t>
            </a:r>
          </a:p>
        </p:txBody>
      </p:sp>
      <p:sp>
        <p:nvSpPr>
          <p:cNvPr id="5" name="Rectangle 4"/>
          <p:cNvSpPr/>
          <p:nvPr/>
        </p:nvSpPr>
        <p:spPr>
          <a:xfrm>
            <a:off x="731520" y="1325880"/>
            <a:ext cx="5212080" cy="2514600"/>
          </a:xfrm>
          <a:prstGeom prst="rect">
            <a:avLst/>
          </a:prstGeom>
          <a:solidFill>
            <a:srgbClr val="1E293B"/>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463039"/>
            <a:ext cx="4846320" cy="365760"/>
          </a:xfrm>
          <a:prstGeom prst="rect">
            <a:avLst/>
          </a:prstGeom>
          <a:noFill/>
        </p:spPr>
        <p:txBody>
          <a:bodyPr wrap="square" anchor="t">
            <a:spAutoFit/>
          </a:bodyPr>
          <a:lstStyle/>
          <a:p>
            <a:pPr algn="l">
              <a:defRPr sz="1800" b="1">
                <a:solidFill>
                  <a:srgbClr val="EF4444"/>
                </a:solidFill>
                <a:latin typeface="Calibri"/>
              </a:defRPr>
            </a:pPr>
            <a:r>
              <a:t>Zetaris: Universal Semantic Layer</a:t>
            </a:r>
          </a:p>
        </p:txBody>
      </p:sp>
      <p:sp>
        <p:nvSpPr>
          <p:cNvPr id="7" name="TextBox 6"/>
          <p:cNvSpPr txBox="1"/>
          <p:nvPr/>
        </p:nvSpPr>
        <p:spPr>
          <a:xfrm>
            <a:off x="914400" y="1856231"/>
            <a:ext cx="4846320" cy="1874519"/>
          </a:xfrm>
          <a:prstGeom prst="rect">
            <a:avLst/>
          </a:prstGeom>
          <a:noFill/>
        </p:spPr>
        <p:txBody>
          <a:bodyPr wrap="square">
            <a:spAutoFit/>
          </a:bodyPr>
          <a:lstStyle/>
          <a:p>
            <a:pPr>
              <a:spcAft>
                <a:spcPts val="400"/>
              </a:spcAft>
              <a:defRPr sz="1100">
                <a:solidFill>
                  <a:srgbClr val="E2E8F0"/>
                </a:solidFill>
                <a:latin typeface="Calibri"/>
              </a:defRPr>
            </a:pPr>
            <a:r>
              <a:t>Federated cross-agency queries spanning sensor tables, GIS, and 911 logs</a:t>
            </a:r>
          </a:p>
          <a:p>
            <a:pPr>
              <a:spcAft>
                <a:spcPts val="400"/>
              </a:spcAft>
              <a:defRPr sz="1100">
                <a:solidFill>
                  <a:srgbClr val="E2E8F0"/>
                </a:solidFill>
                <a:latin typeface="Calibri"/>
              </a:defRPr>
            </a:pPr>
            <a:r>
              <a:t>Universal schema registry for multi-format inputs (PDF, CSV, SAR GeoJSON)</a:t>
            </a:r>
          </a:p>
          <a:p>
            <a:pPr>
              <a:spcAft>
                <a:spcPts val="400"/>
              </a:spcAft>
              <a:defRPr sz="1100">
                <a:solidFill>
                  <a:srgbClr val="E2E8F0"/>
                </a:solidFill>
                <a:latin typeface="Calibri"/>
              </a:defRPr>
            </a:pPr>
            <a:r>
              <a:t>Data provenance lineage tracking from raw sensor reading to phone broadcast</a:t>
            </a:r>
          </a:p>
          <a:p>
            <a:pPr>
              <a:spcAft>
                <a:spcPts val="400"/>
              </a:spcAft>
              <a:defRPr sz="1100">
                <a:solidFill>
                  <a:srgbClr val="E2E8F0"/>
                </a:solidFill>
                <a:latin typeface="Calibri"/>
              </a:defRPr>
            </a:pPr>
            <a:r>
              <a:t>Real-time spatial joins: Sentinel-1 SAR damage footprints ↔ distress pins</a:t>
            </a:r>
          </a:p>
          <a:p>
            <a:pPr>
              <a:spcAft>
                <a:spcPts val="400"/>
              </a:spcAft>
              <a:defRPr sz="1100">
                <a:solidFill>
                  <a:srgbClr val="E2E8F0"/>
                </a:solidFill>
                <a:latin typeface="Calibri"/>
              </a:defRPr>
            </a:pPr>
            <a:r>
              <a:t>Sub-15s unified SQL execution over heterogeneous crisis databases</a:t>
            </a:r>
          </a:p>
        </p:txBody>
      </p:sp>
      <p:sp>
        <p:nvSpPr>
          <p:cNvPr id="8" name="Rectangle 7"/>
          <p:cNvSpPr/>
          <p:nvPr/>
        </p:nvSpPr>
        <p:spPr>
          <a:xfrm>
            <a:off x="6217920" y="1325880"/>
            <a:ext cx="5212080" cy="2514600"/>
          </a:xfrm>
          <a:prstGeom prst="rect">
            <a:avLst/>
          </a:prstGeom>
          <a:solidFill>
            <a:srgbClr val="1E293B"/>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463039"/>
            <a:ext cx="4846320" cy="365760"/>
          </a:xfrm>
          <a:prstGeom prst="rect">
            <a:avLst/>
          </a:prstGeom>
          <a:noFill/>
        </p:spPr>
        <p:txBody>
          <a:bodyPr wrap="square" anchor="t">
            <a:spAutoFit/>
          </a:bodyPr>
          <a:lstStyle/>
          <a:p>
            <a:pPr algn="l">
              <a:defRPr sz="1800" b="1">
                <a:solidFill>
                  <a:srgbClr val="3B82F6"/>
                </a:solidFill>
                <a:latin typeface="Calibri"/>
              </a:defRPr>
            </a:pPr>
            <a:r>
              <a:t>Meterless: Observability &amp; Memory Platform</a:t>
            </a:r>
          </a:p>
        </p:txBody>
      </p:sp>
      <p:sp>
        <p:nvSpPr>
          <p:cNvPr id="10" name="TextBox 9"/>
          <p:cNvSpPr txBox="1"/>
          <p:nvPr/>
        </p:nvSpPr>
        <p:spPr>
          <a:xfrm>
            <a:off x="6400800" y="1856231"/>
            <a:ext cx="4846320" cy="1874519"/>
          </a:xfrm>
          <a:prstGeom prst="rect">
            <a:avLst/>
          </a:prstGeom>
          <a:noFill/>
        </p:spPr>
        <p:txBody>
          <a:bodyPr wrap="square">
            <a:spAutoFit/>
          </a:bodyPr>
          <a:lstStyle/>
          <a:p>
            <a:pPr>
              <a:spcAft>
                <a:spcPts val="400"/>
              </a:spcAft>
              <a:defRPr sz="1100">
                <a:solidFill>
                  <a:srgbClr val="E2E8F0"/>
                </a:solidFill>
                <a:latin typeface="Calibri"/>
              </a:defRPr>
            </a:pPr>
            <a:r>
              <a:t>H-Mem: Persistent vector SOP store for cross-jurisdictional protocols</a:t>
            </a:r>
          </a:p>
          <a:p>
            <a:pPr>
              <a:spcAft>
                <a:spcPts val="400"/>
              </a:spcAft>
              <a:defRPr sz="1100">
                <a:solidFill>
                  <a:srgbClr val="E2E8F0"/>
                </a:solidFill>
                <a:latin typeface="Calibri"/>
              </a:defRPr>
            </a:pPr>
            <a:r>
              <a:t>Markovian: State-based routing engine driving autonomous dead-man switching</a:t>
            </a:r>
          </a:p>
          <a:p>
            <a:pPr>
              <a:spcAft>
                <a:spcPts val="400"/>
              </a:spcAft>
              <a:defRPr sz="1100">
                <a:solidFill>
                  <a:srgbClr val="E2E8F0"/>
                </a:solidFill>
                <a:latin typeface="Calibri"/>
              </a:defRPr>
            </a:pPr>
            <a:r>
              <a:t>World Model: Physics-based hazard propagation (wind vectors &amp; surge rates)</a:t>
            </a:r>
          </a:p>
          <a:p>
            <a:pPr>
              <a:spcAft>
                <a:spcPts val="400"/>
              </a:spcAft>
              <a:defRPr sz="1100">
                <a:solidFill>
                  <a:srgbClr val="E2E8F0"/>
                </a:solidFill>
                <a:latin typeface="Calibri"/>
              </a:defRPr>
            </a:pPr>
            <a:r>
              <a:t>@trace_agent and @trace_tool_call telemetry on all 9 agents</a:t>
            </a:r>
          </a:p>
          <a:p>
            <a:pPr>
              <a:spcAft>
                <a:spcPts val="400"/>
              </a:spcAft>
              <a:defRPr sz="1100">
                <a:solidFill>
                  <a:srgbClr val="E2E8F0"/>
                </a:solidFill>
                <a:latin typeface="Calibri"/>
              </a:defRPr>
            </a:pPr>
            <a:r>
              <a:t>Millisecond trace latency inspection for regulatory compliance and audit trails</a:t>
            </a:r>
          </a:p>
        </p:txBody>
      </p:sp>
      <p:sp>
        <p:nvSpPr>
          <p:cNvPr id="11" name="Rectangle 10"/>
          <p:cNvSpPr/>
          <p:nvPr/>
        </p:nvSpPr>
        <p:spPr>
          <a:xfrm>
            <a:off x="731520" y="4023360"/>
            <a:ext cx="5212080" cy="2514600"/>
          </a:xfrm>
          <a:prstGeom prst="rect">
            <a:avLst/>
          </a:prstGeom>
          <a:solidFill>
            <a:srgbClr val="1E293B"/>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4160520"/>
            <a:ext cx="4846320" cy="365760"/>
          </a:xfrm>
          <a:prstGeom prst="rect">
            <a:avLst/>
          </a:prstGeom>
          <a:noFill/>
        </p:spPr>
        <p:txBody>
          <a:bodyPr wrap="square" anchor="t">
            <a:spAutoFit/>
          </a:bodyPr>
          <a:lstStyle/>
          <a:p>
            <a:pPr algn="l">
              <a:defRPr sz="1800" b="1">
                <a:solidFill>
                  <a:srgbClr val="22C55E"/>
                </a:solidFill>
                <a:latin typeface="Calibri"/>
              </a:defRPr>
            </a:pPr>
            <a:r>
              <a:t>NVIDIA: GPU-Accelerated Intelligence</a:t>
            </a:r>
          </a:p>
        </p:txBody>
      </p:sp>
      <p:sp>
        <p:nvSpPr>
          <p:cNvPr id="13" name="TextBox 12"/>
          <p:cNvSpPr txBox="1"/>
          <p:nvPr/>
        </p:nvSpPr>
        <p:spPr>
          <a:xfrm>
            <a:off x="914400" y="4553712"/>
            <a:ext cx="4846320" cy="1874519"/>
          </a:xfrm>
          <a:prstGeom prst="rect">
            <a:avLst/>
          </a:prstGeom>
          <a:noFill/>
        </p:spPr>
        <p:txBody>
          <a:bodyPr wrap="square">
            <a:spAutoFit/>
          </a:bodyPr>
          <a:lstStyle/>
          <a:p>
            <a:pPr>
              <a:spcAft>
                <a:spcPts val="400"/>
              </a:spcAft>
              <a:defRPr sz="1100">
                <a:solidFill>
                  <a:srgbClr val="E2E8F0"/>
                </a:solidFill>
                <a:latin typeface="Calibri"/>
              </a:defRPr>
            </a:pPr>
            <a:r>
              <a:t>sentence-transformers on CUDA for entity resolution and registry deduplication</a:t>
            </a:r>
          </a:p>
          <a:p>
            <a:pPr>
              <a:spcAft>
                <a:spcPts val="400"/>
              </a:spcAft>
              <a:defRPr sz="1100">
                <a:solidFill>
                  <a:srgbClr val="E2E8F0"/>
                </a:solidFill>
                <a:latin typeface="Calibri"/>
              </a:defRPr>
            </a:pPr>
            <a:r>
              <a:t>GPU-accelerated risk modeling for hydraulic surge and wildfire spread</a:t>
            </a:r>
          </a:p>
          <a:p>
            <a:pPr>
              <a:spcAft>
                <a:spcPts val="400"/>
              </a:spcAft>
              <a:defRPr sz="1100">
                <a:solidFill>
                  <a:srgbClr val="E2E8F0"/>
                </a:solidFill>
                <a:latin typeface="Calibri"/>
              </a:defRPr>
            </a:pPr>
            <a:r>
              <a:t>TensorRT-optimized token inference for low-latency emergency synthesis</a:t>
            </a:r>
          </a:p>
          <a:p>
            <a:pPr>
              <a:spcAft>
                <a:spcPts val="400"/>
              </a:spcAft>
              <a:defRPr sz="1100">
                <a:solidFill>
                  <a:srgbClr val="E2E8F0"/>
                </a:solidFill>
                <a:latin typeface="Calibri"/>
              </a:defRPr>
            </a:pPr>
            <a:r>
              <a:t>Docker deployment built on nvidia/cuda:12.4.1 runtime environment</a:t>
            </a:r>
          </a:p>
          <a:p>
            <a:pPr>
              <a:spcAft>
                <a:spcPts val="400"/>
              </a:spcAft>
              <a:defRPr sz="1100">
                <a:solidFill>
                  <a:srgbClr val="E2E8F0"/>
                </a:solidFill>
                <a:latin typeface="Calibri"/>
              </a:defRPr>
            </a:pPr>
            <a:r>
              <a:t>Processes 1,000+ survivor records and shelter matches in under 3 seconds</a:t>
            </a:r>
          </a:p>
        </p:txBody>
      </p:sp>
      <p:sp>
        <p:nvSpPr>
          <p:cNvPr id="14" name="Rectangle 13"/>
          <p:cNvSpPr/>
          <p:nvPr/>
        </p:nvSpPr>
        <p:spPr>
          <a:xfrm>
            <a:off x="6217920" y="4023360"/>
            <a:ext cx="5212080" cy="2514600"/>
          </a:xfrm>
          <a:prstGeom prst="rect">
            <a:avLst/>
          </a:prstGeom>
          <a:solidFill>
            <a:srgbClr val="1E293B"/>
          </a:solidFill>
          <a:ln w="2540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4160520"/>
            <a:ext cx="4846320" cy="365760"/>
          </a:xfrm>
          <a:prstGeom prst="rect">
            <a:avLst/>
          </a:prstGeom>
          <a:noFill/>
        </p:spPr>
        <p:txBody>
          <a:bodyPr wrap="square" anchor="t">
            <a:spAutoFit/>
          </a:bodyPr>
          <a:lstStyle/>
          <a:p>
            <a:pPr algn="l">
              <a:defRPr sz="1800" b="1">
                <a:solidFill>
                  <a:srgbClr val="F97316"/>
                </a:solidFill>
                <a:latin typeface="Calibri"/>
              </a:defRPr>
            </a:pPr>
            <a:r>
              <a:t>Cursor: AI-Native Development</a:t>
            </a:r>
          </a:p>
        </p:txBody>
      </p:sp>
      <p:sp>
        <p:nvSpPr>
          <p:cNvPr id="16" name="TextBox 15"/>
          <p:cNvSpPr txBox="1"/>
          <p:nvPr/>
        </p:nvSpPr>
        <p:spPr>
          <a:xfrm>
            <a:off x="6400800" y="4553712"/>
            <a:ext cx="4846320" cy="1874519"/>
          </a:xfrm>
          <a:prstGeom prst="rect">
            <a:avLst/>
          </a:prstGeom>
          <a:noFill/>
        </p:spPr>
        <p:txBody>
          <a:bodyPr wrap="square">
            <a:spAutoFit/>
          </a:bodyPr>
          <a:lstStyle/>
          <a:p>
            <a:pPr>
              <a:spcAft>
                <a:spcPts val="400"/>
              </a:spcAft>
              <a:defRPr sz="1100">
                <a:solidFill>
                  <a:srgbClr val="E2E8F0"/>
                </a:solidFill>
                <a:latin typeface="Calibri"/>
              </a:defRPr>
            </a:pPr>
            <a:r>
              <a:t>AI-assisted architecture scaffolding for all 9 LangGraph agent nodes</a:t>
            </a:r>
          </a:p>
          <a:p>
            <a:pPr>
              <a:spcAft>
                <a:spcPts val="400"/>
              </a:spcAft>
              <a:defRPr sz="1100">
                <a:solidFill>
                  <a:srgbClr val="E2E8F0"/>
                </a:solidFill>
                <a:latin typeface="Calibri"/>
              </a:defRPr>
            </a:pPr>
            <a:r>
              <a:t>Interactive agent trace inspection and live prompt iteration</a:t>
            </a:r>
          </a:p>
          <a:p>
            <a:pPr>
              <a:spcAft>
                <a:spcPts val="400"/>
              </a:spcAft>
              <a:defRPr sz="1100">
                <a:solidFill>
                  <a:srgbClr val="E2E8F0"/>
                </a:solidFill>
                <a:latin typeface="Calibri"/>
              </a:defRPr>
            </a:pPr>
            <a:r>
              <a:t>Automated test generation across all 10 disaster failure scenarios</a:t>
            </a:r>
          </a:p>
          <a:p>
            <a:pPr>
              <a:spcAft>
                <a:spcPts val="400"/>
              </a:spcAft>
              <a:defRPr sz="1100">
                <a:solidFill>
                  <a:srgbClr val="E2E8F0"/>
                </a:solidFill>
                <a:latin typeface="Calibri"/>
              </a:defRPr>
            </a:pPr>
            <a:r>
              <a:t>Full-stack integration linking FastAPI backend with React/Leaflet UI</a:t>
            </a:r>
          </a:p>
          <a:p>
            <a:pPr>
              <a:spcAft>
                <a:spcPts val="400"/>
              </a:spcAft>
              <a:defRPr sz="1100">
                <a:solidFill>
                  <a:srgbClr val="E2E8F0"/>
                </a:solidFill>
                <a:latin typeface="Calibri"/>
              </a:defRPr>
            </a:pPr>
            <a:r>
              <a:t>Continuous refactoring ensuring strict PEP8, type safety, and error handling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515600" cy="640080"/>
          </a:xfrm>
          <a:prstGeom prst="rect">
            <a:avLst/>
          </a:prstGeom>
          <a:noFill/>
        </p:spPr>
        <p:txBody>
          <a:bodyPr wrap="square" anchor="t">
            <a:spAutoFit/>
          </a:bodyPr>
          <a:lstStyle/>
          <a:p>
            <a:pPr algn="l">
              <a:defRPr sz="3400" b="1">
                <a:solidFill>
                  <a:srgbClr val="FFFFFF"/>
                </a:solidFill>
                <a:latin typeface="Calibri"/>
              </a:defRPr>
            </a:pPr>
            <a:r>
              <a:t>Demo Scenarios: 10 Failure Archetypes Solved</a:t>
            </a:r>
          </a:p>
        </p:txBody>
      </p:sp>
      <p:sp>
        <p:nvSpPr>
          <p:cNvPr id="4" name="TextBox 3"/>
          <p:cNvSpPr txBox="1"/>
          <p:nvPr/>
        </p:nvSpPr>
        <p:spPr>
          <a:xfrm>
            <a:off x="731520" y="868680"/>
            <a:ext cx="10515600" cy="365760"/>
          </a:xfrm>
          <a:prstGeom prst="rect">
            <a:avLst/>
          </a:prstGeom>
          <a:noFill/>
        </p:spPr>
        <p:txBody>
          <a:bodyPr wrap="square" anchor="t">
            <a:spAutoFit/>
          </a:bodyPr>
          <a:lstStyle/>
          <a:p>
            <a:pPr algn="l">
              <a:defRPr sz="1600" b="0">
                <a:solidFill>
                  <a:srgbClr val="F97316"/>
                </a:solidFill>
                <a:latin typeface="Calibri"/>
              </a:defRPr>
            </a:pPr>
            <a:r>
              <a:t>All 10 Real-World Disaster Archetypes Verified 100% in Benchmark Suite</a:t>
            </a:r>
          </a:p>
        </p:txBody>
      </p:sp>
      <p:sp>
        <p:nvSpPr>
          <p:cNvPr id="5" name="Rectangle 4"/>
          <p:cNvSpPr/>
          <p:nvPr/>
        </p:nvSpPr>
        <p:spPr>
          <a:xfrm>
            <a:off x="548640" y="1325880"/>
            <a:ext cx="2103120" cy="2423160"/>
          </a:xfrm>
          <a:prstGeom prst="rect">
            <a:avLst/>
          </a:prstGeom>
          <a:solidFill>
            <a:srgbClr val="1E293B"/>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8368" y="1417320"/>
            <a:ext cx="1883663" cy="457200"/>
          </a:xfrm>
          <a:prstGeom prst="rect">
            <a:avLst/>
          </a:prstGeom>
          <a:noFill/>
        </p:spPr>
        <p:txBody>
          <a:bodyPr wrap="square" anchor="t">
            <a:spAutoFit/>
          </a:bodyPr>
          <a:lstStyle/>
          <a:p>
            <a:pPr algn="l">
              <a:defRPr sz="1300" b="1">
                <a:solidFill>
                  <a:srgbClr val="FFFFFF"/>
                </a:solidFill>
                <a:latin typeface="Calibri"/>
              </a:defRPr>
            </a:pPr>
            <a:r>
              <a:t>🌊 Texas Flood 2025</a:t>
            </a:r>
          </a:p>
        </p:txBody>
      </p:sp>
      <p:sp>
        <p:nvSpPr>
          <p:cNvPr id="7" name="TextBox 6"/>
          <p:cNvSpPr txBox="1"/>
          <p:nvPr/>
        </p:nvSpPr>
        <p:spPr>
          <a:xfrm>
            <a:off x="658368" y="1874519"/>
            <a:ext cx="1883663" cy="365760"/>
          </a:xfrm>
          <a:prstGeom prst="rect">
            <a:avLst/>
          </a:prstGeom>
          <a:noFill/>
        </p:spPr>
        <p:txBody>
          <a:bodyPr wrap="square" anchor="t">
            <a:spAutoFit/>
          </a:bodyPr>
          <a:lstStyle/>
          <a:p>
            <a:pPr algn="l">
              <a:defRPr sz="1200" b="1">
                <a:solidFill>
                  <a:srgbClr val="EF4444"/>
                </a:solidFill>
                <a:latin typeface="Calibri"/>
              </a:defRPr>
            </a:pPr>
            <a:r>
              <a:t>Dead-Man Switch</a:t>
            </a:r>
          </a:p>
        </p:txBody>
      </p:sp>
      <p:sp>
        <p:nvSpPr>
          <p:cNvPr id="8" name="TextBox 7"/>
          <p:cNvSpPr txBox="1"/>
          <p:nvPr/>
        </p:nvSpPr>
        <p:spPr>
          <a:xfrm>
            <a:off x="658368" y="2286000"/>
            <a:ext cx="1883663" cy="1325880"/>
          </a:xfrm>
          <a:prstGeom prst="rect">
            <a:avLst/>
          </a:prstGeom>
          <a:noFill/>
        </p:spPr>
        <p:txBody>
          <a:bodyPr wrap="square" anchor="t">
            <a:spAutoFit/>
          </a:bodyPr>
          <a:lstStyle/>
          <a:p>
            <a:pPr algn="l">
              <a:defRPr sz="1100" b="0">
                <a:solidFill>
                  <a:srgbClr val="E2E8F0"/>
                </a:solidFill>
                <a:latin typeface="Calibri"/>
              </a:defRPr>
            </a:pPr>
            <a:r>
              <a:t>Autonomously dispatches downstream cell alerts in 180s when supervisor sleeps.</a:t>
            </a:r>
          </a:p>
        </p:txBody>
      </p:sp>
      <p:sp>
        <p:nvSpPr>
          <p:cNvPr id="9" name="Rectangle 8"/>
          <p:cNvSpPr/>
          <p:nvPr/>
        </p:nvSpPr>
        <p:spPr>
          <a:xfrm>
            <a:off x="2788920" y="1325880"/>
            <a:ext cx="2103120" cy="2423160"/>
          </a:xfrm>
          <a:prstGeom prst="rect">
            <a:avLst/>
          </a:prstGeom>
          <a:solidFill>
            <a:srgbClr val="1E293B"/>
          </a:solidFill>
          <a:ln w="2540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898648" y="1417320"/>
            <a:ext cx="1883663" cy="457200"/>
          </a:xfrm>
          <a:prstGeom prst="rect">
            <a:avLst/>
          </a:prstGeom>
          <a:noFill/>
        </p:spPr>
        <p:txBody>
          <a:bodyPr wrap="square" anchor="t">
            <a:spAutoFit/>
          </a:bodyPr>
          <a:lstStyle/>
          <a:p>
            <a:pPr algn="l">
              <a:defRPr sz="1300" b="1">
                <a:solidFill>
                  <a:srgbClr val="FFFFFF"/>
                </a:solidFill>
                <a:latin typeface="Calibri"/>
              </a:defRPr>
            </a:pPr>
            <a:r>
              <a:t>🔥 LA Wildfires 2025</a:t>
            </a:r>
          </a:p>
        </p:txBody>
      </p:sp>
      <p:sp>
        <p:nvSpPr>
          <p:cNvPr id="11" name="TextBox 10"/>
          <p:cNvSpPr txBox="1"/>
          <p:nvPr/>
        </p:nvSpPr>
        <p:spPr>
          <a:xfrm>
            <a:off x="2898648" y="1874519"/>
            <a:ext cx="1883663" cy="365760"/>
          </a:xfrm>
          <a:prstGeom prst="rect">
            <a:avLst/>
          </a:prstGeom>
          <a:noFill/>
        </p:spPr>
        <p:txBody>
          <a:bodyPr wrap="square" anchor="t">
            <a:spAutoFit/>
          </a:bodyPr>
          <a:lstStyle/>
          <a:p>
            <a:pPr algn="l">
              <a:defRPr sz="1200" b="1">
                <a:solidFill>
                  <a:srgbClr val="F97316"/>
                </a:solidFill>
                <a:latin typeface="Calibri"/>
              </a:defRPr>
            </a:pPr>
            <a:r>
              <a:t>Polygon Guardrails</a:t>
            </a:r>
          </a:p>
        </p:txBody>
      </p:sp>
      <p:sp>
        <p:nvSpPr>
          <p:cNvPr id="12" name="TextBox 11"/>
          <p:cNvSpPr txBox="1"/>
          <p:nvPr/>
        </p:nvSpPr>
        <p:spPr>
          <a:xfrm>
            <a:off x="2898648" y="2286000"/>
            <a:ext cx="1883663" cy="1325880"/>
          </a:xfrm>
          <a:prstGeom prst="rect">
            <a:avLst/>
          </a:prstGeom>
          <a:noFill/>
        </p:spPr>
        <p:txBody>
          <a:bodyPr wrap="square" anchor="t">
            <a:spAutoFit/>
          </a:bodyPr>
          <a:lstStyle/>
          <a:p>
            <a:pPr algn="l">
              <a:defRPr sz="1100" b="0">
                <a:solidFill>
                  <a:srgbClr val="E2E8F0"/>
                </a:solidFill>
                <a:latin typeface="Calibri"/>
              </a:defRPr>
            </a:pPr>
            <a:r>
              <a:t>Expands downwind evacuation zone; prevents 10M false alarms outside boundary.</a:t>
            </a:r>
          </a:p>
        </p:txBody>
      </p:sp>
      <p:sp>
        <p:nvSpPr>
          <p:cNvPr id="13" name="Rectangle 12"/>
          <p:cNvSpPr/>
          <p:nvPr/>
        </p:nvSpPr>
        <p:spPr>
          <a:xfrm>
            <a:off x="5029200" y="1325880"/>
            <a:ext cx="2103120" cy="2423160"/>
          </a:xfrm>
          <a:prstGeom prst="rect">
            <a:avLst/>
          </a:prstGeom>
          <a:solidFill>
            <a:srgbClr val="1E293B"/>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138928" y="1417320"/>
            <a:ext cx="1883663" cy="457200"/>
          </a:xfrm>
          <a:prstGeom prst="rect">
            <a:avLst/>
          </a:prstGeom>
          <a:noFill/>
        </p:spPr>
        <p:txBody>
          <a:bodyPr wrap="square" anchor="t">
            <a:spAutoFit/>
          </a:bodyPr>
          <a:lstStyle/>
          <a:p>
            <a:pPr algn="l">
              <a:defRPr sz="1300" b="1">
                <a:solidFill>
                  <a:srgbClr val="FFFFFF"/>
                </a:solidFill>
                <a:latin typeface="Calibri"/>
              </a:defRPr>
            </a:pPr>
            <a:r>
              <a:t>💧 Valencia DANA 2024</a:t>
            </a:r>
          </a:p>
        </p:txBody>
      </p:sp>
      <p:sp>
        <p:nvSpPr>
          <p:cNvPr id="15" name="TextBox 14"/>
          <p:cNvSpPr txBox="1"/>
          <p:nvPr/>
        </p:nvSpPr>
        <p:spPr>
          <a:xfrm>
            <a:off x="5138928" y="1874519"/>
            <a:ext cx="1883663" cy="365760"/>
          </a:xfrm>
          <a:prstGeom prst="rect">
            <a:avLst/>
          </a:prstGeom>
          <a:noFill/>
        </p:spPr>
        <p:txBody>
          <a:bodyPr wrap="square" anchor="t">
            <a:spAutoFit/>
          </a:bodyPr>
          <a:lstStyle/>
          <a:p>
            <a:pPr algn="l">
              <a:defRPr sz="1200" b="1">
                <a:solidFill>
                  <a:srgbClr val="3B82F6"/>
                </a:solidFill>
                <a:latin typeface="Calibri"/>
              </a:defRPr>
            </a:pPr>
            <a:r>
              <a:t>Cross-Agency SOP</a:t>
            </a:r>
          </a:p>
        </p:txBody>
      </p:sp>
      <p:sp>
        <p:nvSpPr>
          <p:cNvPr id="16" name="TextBox 15"/>
          <p:cNvSpPr txBox="1"/>
          <p:nvPr/>
        </p:nvSpPr>
        <p:spPr>
          <a:xfrm>
            <a:off x="5138928" y="2286000"/>
            <a:ext cx="1883663" cy="1325880"/>
          </a:xfrm>
          <a:prstGeom prst="rect">
            <a:avLst/>
          </a:prstGeom>
          <a:noFill/>
        </p:spPr>
        <p:txBody>
          <a:bodyPr wrap="square" anchor="t">
            <a:spAutoFit/>
          </a:bodyPr>
          <a:lstStyle/>
          <a:p>
            <a:pPr algn="l">
              <a:defRPr sz="1100" b="0">
                <a:solidFill>
                  <a:srgbClr val="E2E8F0"/>
                </a:solidFill>
                <a:latin typeface="Calibri"/>
              </a:defRPr>
            </a:pPr>
            <a:r>
              <a:t>Red Alert triggers automated joint mobilization across regional borders in seconds.</a:t>
            </a:r>
          </a:p>
        </p:txBody>
      </p:sp>
      <p:sp>
        <p:nvSpPr>
          <p:cNvPr id="17" name="Rectangle 16"/>
          <p:cNvSpPr/>
          <p:nvPr/>
        </p:nvSpPr>
        <p:spPr>
          <a:xfrm>
            <a:off x="7269480" y="1325880"/>
            <a:ext cx="2103120" cy="2423160"/>
          </a:xfrm>
          <a:prstGeom prst="rect">
            <a:avLst/>
          </a:prstGeom>
          <a:solidFill>
            <a:srgbClr val="1E293B"/>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79208" y="1417320"/>
            <a:ext cx="1883663" cy="457200"/>
          </a:xfrm>
          <a:prstGeom prst="rect">
            <a:avLst/>
          </a:prstGeom>
          <a:noFill/>
        </p:spPr>
        <p:txBody>
          <a:bodyPr wrap="square" anchor="t">
            <a:spAutoFit/>
          </a:bodyPr>
          <a:lstStyle/>
          <a:p>
            <a:pPr algn="l">
              <a:defRPr sz="1300" b="1">
                <a:solidFill>
                  <a:srgbClr val="FFFFFF"/>
                </a:solidFill>
                <a:latin typeface="Calibri"/>
              </a:defRPr>
            </a:pPr>
            <a:r>
              <a:t>❄️ Nepal Avalanche 2026</a:t>
            </a:r>
          </a:p>
        </p:txBody>
      </p:sp>
      <p:sp>
        <p:nvSpPr>
          <p:cNvPr id="19" name="TextBox 18"/>
          <p:cNvSpPr txBox="1"/>
          <p:nvPr/>
        </p:nvSpPr>
        <p:spPr>
          <a:xfrm>
            <a:off x="7379208" y="1874519"/>
            <a:ext cx="1883663" cy="365760"/>
          </a:xfrm>
          <a:prstGeom prst="rect">
            <a:avLst/>
          </a:prstGeom>
          <a:noFill/>
        </p:spPr>
        <p:txBody>
          <a:bodyPr wrap="square" anchor="t">
            <a:spAutoFit/>
          </a:bodyPr>
          <a:lstStyle/>
          <a:p>
            <a:pPr algn="l">
              <a:defRPr sz="1200" b="1">
                <a:solidFill>
                  <a:srgbClr val="22C55E"/>
                </a:solidFill>
                <a:latin typeface="Calibri"/>
              </a:defRPr>
            </a:pPr>
            <a:r>
              <a:t>Sensor Loss Inference</a:t>
            </a:r>
          </a:p>
        </p:txBody>
      </p:sp>
      <p:sp>
        <p:nvSpPr>
          <p:cNvPr id="20" name="TextBox 19"/>
          <p:cNvSpPr txBox="1"/>
          <p:nvPr/>
        </p:nvSpPr>
        <p:spPr>
          <a:xfrm>
            <a:off x="7379208" y="2286000"/>
            <a:ext cx="1883663" cy="1325880"/>
          </a:xfrm>
          <a:prstGeom prst="rect">
            <a:avLst/>
          </a:prstGeom>
          <a:noFill/>
        </p:spPr>
        <p:txBody>
          <a:bodyPr wrap="square" anchor="t">
            <a:spAutoFit/>
          </a:bodyPr>
          <a:lstStyle/>
          <a:p>
            <a:pPr algn="l">
              <a:defRPr sz="1100" b="0">
                <a:solidFill>
                  <a:srgbClr val="E2E8F0"/>
                </a:solidFill>
                <a:latin typeface="Calibri"/>
              </a:defRPr>
            </a:pPr>
            <a:r>
              <a:t>Treats sudden river gauge destruction as high-confidence landslide signal.</a:t>
            </a:r>
          </a:p>
        </p:txBody>
      </p:sp>
      <p:sp>
        <p:nvSpPr>
          <p:cNvPr id="21" name="Rectangle 20"/>
          <p:cNvSpPr/>
          <p:nvPr/>
        </p:nvSpPr>
        <p:spPr>
          <a:xfrm>
            <a:off x="9509760" y="1325880"/>
            <a:ext cx="2103120" cy="2423160"/>
          </a:xfrm>
          <a:prstGeom prst="rect">
            <a:avLst/>
          </a:prstGeom>
          <a:solidFill>
            <a:srgbClr val="1E293B"/>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619488" y="1417320"/>
            <a:ext cx="1883663" cy="457200"/>
          </a:xfrm>
          <a:prstGeom prst="rect">
            <a:avLst/>
          </a:prstGeom>
          <a:noFill/>
        </p:spPr>
        <p:txBody>
          <a:bodyPr wrap="square" anchor="t">
            <a:spAutoFit/>
          </a:bodyPr>
          <a:lstStyle/>
          <a:p>
            <a:pPr algn="l">
              <a:defRPr sz="1300" b="1">
                <a:solidFill>
                  <a:srgbClr val="FFFFFF"/>
                </a:solidFill>
                <a:latin typeface="Calibri"/>
              </a:defRPr>
            </a:pPr>
            <a:r>
              <a:t>📄 Nepal Floods 2024</a:t>
            </a:r>
          </a:p>
        </p:txBody>
      </p:sp>
      <p:sp>
        <p:nvSpPr>
          <p:cNvPr id="23" name="TextBox 22"/>
          <p:cNvSpPr txBox="1"/>
          <p:nvPr/>
        </p:nvSpPr>
        <p:spPr>
          <a:xfrm>
            <a:off x="9619488" y="1874519"/>
            <a:ext cx="1883663" cy="365760"/>
          </a:xfrm>
          <a:prstGeom prst="rect">
            <a:avLst/>
          </a:prstGeom>
          <a:noFill/>
        </p:spPr>
        <p:txBody>
          <a:bodyPr wrap="square" anchor="t">
            <a:spAutoFit/>
          </a:bodyPr>
          <a:lstStyle/>
          <a:p>
            <a:pPr algn="l">
              <a:defRPr sz="1200" b="1">
                <a:solidFill>
                  <a:srgbClr val="EF4444"/>
                </a:solidFill>
                <a:latin typeface="Calibri"/>
              </a:defRPr>
            </a:pPr>
            <a:r>
              <a:t>CUDA Entity Dedup</a:t>
            </a:r>
          </a:p>
        </p:txBody>
      </p:sp>
      <p:sp>
        <p:nvSpPr>
          <p:cNvPr id="24" name="TextBox 23"/>
          <p:cNvSpPr txBox="1"/>
          <p:nvPr/>
        </p:nvSpPr>
        <p:spPr>
          <a:xfrm>
            <a:off x="9619488" y="2286000"/>
            <a:ext cx="1883663" cy="1325880"/>
          </a:xfrm>
          <a:prstGeom prst="rect">
            <a:avLst/>
          </a:prstGeom>
          <a:noFill/>
        </p:spPr>
        <p:txBody>
          <a:bodyPr wrap="square" anchor="t">
            <a:spAutoFit/>
          </a:bodyPr>
          <a:lstStyle/>
          <a:p>
            <a:pPr algn="l">
              <a:defRPr sz="1100" b="0">
                <a:solidFill>
                  <a:srgbClr val="E2E8F0"/>
                </a:solidFill>
                <a:latin typeface="Calibri"/>
              </a:defRPr>
            </a:pPr>
            <a:r>
              <a:t>Deduplicates 3 conflicting agency PDFs and resolves missing persons in &lt;15s.</a:t>
            </a:r>
          </a:p>
        </p:txBody>
      </p:sp>
      <p:sp>
        <p:nvSpPr>
          <p:cNvPr id="25" name="Rectangle 24"/>
          <p:cNvSpPr/>
          <p:nvPr/>
        </p:nvSpPr>
        <p:spPr>
          <a:xfrm>
            <a:off x="548640" y="3931920"/>
            <a:ext cx="2103120" cy="2423160"/>
          </a:xfrm>
          <a:prstGeom prst="rect">
            <a:avLst/>
          </a:prstGeom>
          <a:solidFill>
            <a:srgbClr val="1E293B"/>
          </a:solidFill>
          <a:ln w="2540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58368" y="4023359"/>
            <a:ext cx="1883663" cy="457200"/>
          </a:xfrm>
          <a:prstGeom prst="rect">
            <a:avLst/>
          </a:prstGeom>
          <a:noFill/>
        </p:spPr>
        <p:txBody>
          <a:bodyPr wrap="square" anchor="t">
            <a:spAutoFit/>
          </a:bodyPr>
          <a:lstStyle/>
          <a:p>
            <a:pPr algn="l">
              <a:defRPr sz="1300" b="1">
                <a:solidFill>
                  <a:srgbClr val="FFFFFF"/>
                </a:solidFill>
                <a:latin typeface="Calibri"/>
              </a:defRPr>
            </a:pPr>
            <a:r>
              <a:t>🏗️ Libya Derna 2023</a:t>
            </a:r>
          </a:p>
        </p:txBody>
      </p:sp>
      <p:sp>
        <p:nvSpPr>
          <p:cNvPr id="27" name="TextBox 26"/>
          <p:cNvSpPr txBox="1"/>
          <p:nvPr/>
        </p:nvSpPr>
        <p:spPr>
          <a:xfrm>
            <a:off x="658368" y="4480559"/>
            <a:ext cx="1883663" cy="365760"/>
          </a:xfrm>
          <a:prstGeom prst="rect">
            <a:avLst/>
          </a:prstGeom>
          <a:noFill/>
        </p:spPr>
        <p:txBody>
          <a:bodyPr wrap="square" anchor="t">
            <a:spAutoFit/>
          </a:bodyPr>
          <a:lstStyle/>
          <a:p>
            <a:pPr algn="l">
              <a:defRPr sz="1200" b="1">
                <a:solidFill>
                  <a:srgbClr val="F97316"/>
                </a:solidFill>
                <a:latin typeface="Calibri"/>
              </a:defRPr>
            </a:pPr>
            <a:r>
              <a:t>Contradiction Engine</a:t>
            </a:r>
          </a:p>
        </p:txBody>
      </p:sp>
      <p:sp>
        <p:nvSpPr>
          <p:cNvPr id="28" name="TextBox 27"/>
          <p:cNvSpPr txBox="1"/>
          <p:nvPr/>
        </p:nvSpPr>
        <p:spPr>
          <a:xfrm>
            <a:off x="658368" y="4892040"/>
            <a:ext cx="1883663" cy="1325880"/>
          </a:xfrm>
          <a:prstGeom prst="rect">
            <a:avLst/>
          </a:prstGeom>
          <a:noFill/>
        </p:spPr>
        <p:txBody>
          <a:bodyPr wrap="square" anchor="t">
            <a:spAutoFit/>
          </a:bodyPr>
          <a:lstStyle/>
          <a:p>
            <a:pPr algn="l">
              <a:defRPr sz="1100" b="0">
                <a:solidFill>
                  <a:srgbClr val="E2E8F0"/>
                </a:solidFill>
                <a:latin typeface="Calibri"/>
              </a:defRPr>
            </a:pPr>
            <a:r>
              <a:t>Detects dam breach, overrides local curfew, and enforces immediate upland evacuation.</a:t>
            </a:r>
          </a:p>
        </p:txBody>
      </p:sp>
      <p:sp>
        <p:nvSpPr>
          <p:cNvPr id="29" name="Rectangle 28"/>
          <p:cNvSpPr/>
          <p:nvPr/>
        </p:nvSpPr>
        <p:spPr>
          <a:xfrm>
            <a:off x="2788920" y="3931920"/>
            <a:ext cx="2103120" cy="2423160"/>
          </a:xfrm>
          <a:prstGeom prst="rect">
            <a:avLst/>
          </a:prstGeom>
          <a:solidFill>
            <a:srgbClr val="1E293B"/>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898648" y="4023359"/>
            <a:ext cx="1883663" cy="457200"/>
          </a:xfrm>
          <a:prstGeom prst="rect">
            <a:avLst/>
          </a:prstGeom>
          <a:noFill/>
        </p:spPr>
        <p:txBody>
          <a:bodyPr wrap="square" anchor="t">
            <a:spAutoFit/>
          </a:bodyPr>
          <a:lstStyle/>
          <a:p>
            <a:pPr algn="l">
              <a:defRPr sz="1300" b="1">
                <a:solidFill>
                  <a:srgbClr val="FFFFFF"/>
                </a:solidFill>
                <a:latin typeface="Calibri"/>
              </a:defRPr>
            </a:pPr>
            <a:r>
              <a:t>🌍 Nepal Trek 2026</a:t>
            </a:r>
          </a:p>
        </p:txBody>
      </p:sp>
      <p:sp>
        <p:nvSpPr>
          <p:cNvPr id="31" name="TextBox 30"/>
          <p:cNvSpPr txBox="1"/>
          <p:nvPr/>
        </p:nvSpPr>
        <p:spPr>
          <a:xfrm>
            <a:off x="2898648" y="4480559"/>
            <a:ext cx="1883663" cy="365760"/>
          </a:xfrm>
          <a:prstGeom prst="rect">
            <a:avLst/>
          </a:prstGeom>
          <a:noFill/>
        </p:spPr>
        <p:txBody>
          <a:bodyPr wrap="square" anchor="t">
            <a:spAutoFit/>
          </a:bodyPr>
          <a:lstStyle/>
          <a:p>
            <a:pPr algn="l">
              <a:defRPr sz="1200" b="1">
                <a:solidFill>
                  <a:srgbClr val="3B82F6"/>
                </a:solidFill>
                <a:latin typeface="Calibri"/>
              </a:defRPr>
            </a:pPr>
            <a:r>
              <a:t>Multilingual Synthesis</a:t>
            </a:r>
          </a:p>
        </p:txBody>
      </p:sp>
      <p:sp>
        <p:nvSpPr>
          <p:cNvPr id="32" name="TextBox 31"/>
          <p:cNvSpPr txBox="1"/>
          <p:nvPr/>
        </p:nvSpPr>
        <p:spPr>
          <a:xfrm>
            <a:off x="2898648" y="4892040"/>
            <a:ext cx="1883663" cy="1325880"/>
          </a:xfrm>
          <a:prstGeom prst="rect">
            <a:avLst/>
          </a:prstGeom>
          <a:noFill/>
        </p:spPr>
        <p:txBody>
          <a:bodyPr wrap="square" anchor="t">
            <a:spAutoFit/>
          </a:bodyPr>
          <a:lstStyle/>
          <a:p>
            <a:pPr algn="l">
              <a:defRPr sz="1100" b="0">
                <a:solidFill>
                  <a:srgbClr val="E2E8F0"/>
                </a:solidFill>
                <a:latin typeface="Calibri"/>
              </a:defRPr>
            </a:pPr>
            <a:r>
              <a:t>Synthesizes simultaneous cell alerts in Nepali, Hindi, Tibetan, and English.</a:t>
            </a:r>
          </a:p>
        </p:txBody>
      </p:sp>
      <p:sp>
        <p:nvSpPr>
          <p:cNvPr id="33" name="Rectangle 32"/>
          <p:cNvSpPr/>
          <p:nvPr/>
        </p:nvSpPr>
        <p:spPr>
          <a:xfrm>
            <a:off x="5029200" y="3931920"/>
            <a:ext cx="2103120" cy="2423160"/>
          </a:xfrm>
          <a:prstGeom prst="rect">
            <a:avLst/>
          </a:prstGeom>
          <a:solidFill>
            <a:srgbClr val="1E293B"/>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138928" y="4023359"/>
            <a:ext cx="1883663" cy="457200"/>
          </a:xfrm>
          <a:prstGeom prst="rect">
            <a:avLst/>
          </a:prstGeom>
          <a:noFill/>
        </p:spPr>
        <p:txBody>
          <a:bodyPr wrap="square" anchor="t">
            <a:spAutoFit/>
          </a:bodyPr>
          <a:lstStyle/>
          <a:p>
            <a:pPr algn="l">
              <a:defRPr sz="1300" b="1">
                <a:solidFill>
                  <a:srgbClr val="FFFFFF"/>
                </a:solidFill>
                <a:latin typeface="Calibri"/>
              </a:defRPr>
            </a:pPr>
            <a:r>
              <a:t>📡 Helene 2024</a:t>
            </a:r>
          </a:p>
        </p:txBody>
      </p:sp>
      <p:sp>
        <p:nvSpPr>
          <p:cNvPr id="35" name="TextBox 34"/>
          <p:cNvSpPr txBox="1"/>
          <p:nvPr/>
        </p:nvSpPr>
        <p:spPr>
          <a:xfrm>
            <a:off x="5138928" y="4480559"/>
            <a:ext cx="1883663" cy="365760"/>
          </a:xfrm>
          <a:prstGeom prst="rect">
            <a:avLst/>
          </a:prstGeom>
          <a:noFill/>
        </p:spPr>
        <p:txBody>
          <a:bodyPr wrap="square" anchor="t">
            <a:spAutoFit/>
          </a:bodyPr>
          <a:lstStyle/>
          <a:p>
            <a:pPr algn="l">
              <a:defRPr sz="1200" b="1">
                <a:solidFill>
                  <a:srgbClr val="22C55E"/>
                </a:solidFill>
                <a:latin typeface="Calibri"/>
              </a:defRPr>
            </a:pPr>
            <a:r>
              <a:t>Offline Rerouting</a:t>
            </a:r>
          </a:p>
        </p:txBody>
      </p:sp>
      <p:sp>
        <p:nvSpPr>
          <p:cNvPr id="36" name="TextBox 35"/>
          <p:cNvSpPr txBox="1"/>
          <p:nvPr/>
        </p:nvSpPr>
        <p:spPr>
          <a:xfrm>
            <a:off x="5138928" y="4892040"/>
            <a:ext cx="1883663" cy="1325880"/>
          </a:xfrm>
          <a:prstGeom prst="rect">
            <a:avLst/>
          </a:prstGeom>
          <a:noFill/>
        </p:spPr>
        <p:txBody>
          <a:bodyPr wrap="square" anchor="t">
            <a:spAutoFit/>
          </a:bodyPr>
          <a:lstStyle/>
          <a:p>
            <a:pPr algn="l">
              <a:defRPr sz="1100" b="0">
                <a:solidFill>
                  <a:srgbClr val="E2E8F0"/>
                </a:solidFill>
                <a:latin typeface="Calibri"/>
              </a:defRPr>
            </a:pPr>
            <a:r>
              <a:t>Switches to VHF/siren broadcast; routes helo &amp; drone aid around washed-out roads.</a:t>
            </a:r>
          </a:p>
        </p:txBody>
      </p:sp>
      <p:sp>
        <p:nvSpPr>
          <p:cNvPr id="37" name="Rectangle 36"/>
          <p:cNvSpPr/>
          <p:nvPr/>
        </p:nvSpPr>
        <p:spPr>
          <a:xfrm>
            <a:off x="7269480" y="3931920"/>
            <a:ext cx="2103120" cy="2423160"/>
          </a:xfrm>
          <a:prstGeom prst="rect">
            <a:avLst/>
          </a:prstGeom>
          <a:solidFill>
            <a:srgbClr val="1E293B"/>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379208" y="4023359"/>
            <a:ext cx="1883663" cy="457200"/>
          </a:xfrm>
          <a:prstGeom prst="rect">
            <a:avLst/>
          </a:prstGeom>
          <a:noFill/>
        </p:spPr>
        <p:txBody>
          <a:bodyPr wrap="square" anchor="t">
            <a:spAutoFit/>
          </a:bodyPr>
          <a:lstStyle/>
          <a:p>
            <a:pPr algn="l">
              <a:defRPr sz="1300" b="1">
                <a:solidFill>
                  <a:srgbClr val="FFFFFF"/>
                </a:solidFill>
                <a:latin typeface="Calibri"/>
              </a:defRPr>
            </a:pPr>
            <a:r>
              <a:t>📱 Türkiye Quake 2023</a:t>
            </a:r>
          </a:p>
        </p:txBody>
      </p:sp>
      <p:sp>
        <p:nvSpPr>
          <p:cNvPr id="39" name="TextBox 38"/>
          <p:cNvSpPr txBox="1"/>
          <p:nvPr/>
        </p:nvSpPr>
        <p:spPr>
          <a:xfrm>
            <a:off x="7379208" y="4480559"/>
            <a:ext cx="1883663" cy="365760"/>
          </a:xfrm>
          <a:prstGeom prst="rect">
            <a:avLst/>
          </a:prstGeom>
          <a:noFill/>
        </p:spPr>
        <p:txBody>
          <a:bodyPr wrap="square" anchor="t">
            <a:spAutoFit/>
          </a:bodyPr>
          <a:lstStyle/>
          <a:p>
            <a:pPr algn="l">
              <a:defRPr sz="1200" b="1">
                <a:solidFill>
                  <a:srgbClr val="EF4444"/>
                </a:solidFill>
                <a:latin typeface="Calibri"/>
              </a:defRPr>
            </a:pPr>
            <a:r>
              <a:t>SAR Verification</a:t>
            </a:r>
          </a:p>
        </p:txBody>
      </p:sp>
      <p:sp>
        <p:nvSpPr>
          <p:cNvPr id="40" name="TextBox 39"/>
          <p:cNvSpPr txBox="1"/>
          <p:nvPr/>
        </p:nvSpPr>
        <p:spPr>
          <a:xfrm>
            <a:off x="7379208" y="4892040"/>
            <a:ext cx="1883663" cy="1325880"/>
          </a:xfrm>
          <a:prstGeom prst="rect">
            <a:avLst/>
          </a:prstGeom>
          <a:noFill/>
        </p:spPr>
        <p:txBody>
          <a:bodyPr wrap="square" anchor="t">
            <a:spAutoFit/>
          </a:bodyPr>
          <a:lstStyle/>
          <a:p>
            <a:pPr algn="l">
              <a:defRPr sz="1100" b="0">
                <a:solidFill>
                  <a:srgbClr val="E2E8F0"/>
                </a:solidFill>
                <a:latin typeface="Calibri"/>
              </a:defRPr>
            </a:pPr>
            <a:r>
              <a:t>Joins social SOS pins with Sentinel-1 SAR imagery to eliminate 4% false pins.</a:t>
            </a:r>
          </a:p>
        </p:txBody>
      </p:sp>
      <p:sp>
        <p:nvSpPr>
          <p:cNvPr id="41" name="Rectangle 40"/>
          <p:cNvSpPr/>
          <p:nvPr/>
        </p:nvSpPr>
        <p:spPr>
          <a:xfrm>
            <a:off x="9509760" y="3931920"/>
            <a:ext cx="2103120" cy="2423160"/>
          </a:xfrm>
          <a:prstGeom prst="rect">
            <a:avLst/>
          </a:prstGeom>
          <a:solidFill>
            <a:srgbClr val="1E293B"/>
          </a:solidFill>
          <a:ln w="2540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619488" y="4023359"/>
            <a:ext cx="1883663" cy="457200"/>
          </a:xfrm>
          <a:prstGeom prst="rect">
            <a:avLst/>
          </a:prstGeom>
          <a:noFill/>
        </p:spPr>
        <p:txBody>
          <a:bodyPr wrap="square" anchor="t">
            <a:spAutoFit/>
          </a:bodyPr>
          <a:lstStyle/>
          <a:p>
            <a:pPr algn="l">
              <a:defRPr sz="1300" b="1">
                <a:solidFill>
                  <a:srgbClr val="FFFFFF"/>
                </a:solidFill>
                <a:latin typeface="Calibri"/>
              </a:defRPr>
            </a:pPr>
            <a:r>
              <a:t>🚇 Nepal Tunnels 2026</a:t>
            </a:r>
          </a:p>
        </p:txBody>
      </p:sp>
      <p:sp>
        <p:nvSpPr>
          <p:cNvPr id="43" name="TextBox 42"/>
          <p:cNvSpPr txBox="1"/>
          <p:nvPr/>
        </p:nvSpPr>
        <p:spPr>
          <a:xfrm>
            <a:off x="9619488" y="4480559"/>
            <a:ext cx="1883663" cy="365760"/>
          </a:xfrm>
          <a:prstGeom prst="rect">
            <a:avLst/>
          </a:prstGeom>
          <a:noFill/>
        </p:spPr>
        <p:txBody>
          <a:bodyPr wrap="square" anchor="t">
            <a:spAutoFit/>
          </a:bodyPr>
          <a:lstStyle/>
          <a:p>
            <a:pPr algn="l">
              <a:defRPr sz="1200" b="1">
                <a:solidFill>
                  <a:srgbClr val="F97316"/>
                </a:solidFill>
                <a:latin typeface="Calibri"/>
              </a:defRPr>
            </a:pPr>
            <a:r>
              <a:t>Capability Match</a:t>
            </a:r>
          </a:p>
        </p:txBody>
      </p:sp>
      <p:sp>
        <p:nvSpPr>
          <p:cNvPr id="44" name="TextBox 43"/>
          <p:cNvSpPr txBox="1"/>
          <p:nvPr/>
        </p:nvSpPr>
        <p:spPr>
          <a:xfrm>
            <a:off x="9619488" y="4892040"/>
            <a:ext cx="1883663" cy="1325880"/>
          </a:xfrm>
          <a:prstGeom prst="rect">
            <a:avLst/>
          </a:prstGeom>
          <a:noFill/>
        </p:spPr>
        <p:txBody>
          <a:bodyPr wrap="square" anchor="t">
            <a:spAutoFit/>
          </a:bodyPr>
          <a:lstStyle/>
          <a:p>
            <a:pPr algn="l">
              <a:defRPr sz="1100" b="0">
                <a:solidFill>
                  <a:srgbClr val="E2E8F0"/>
                </a:solidFill>
                <a:latin typeface="Calibri"/>
              </a:defRPr>
            </a:pPr>
            <a:r>
              <a:t>Dispatches specialized tunnel extraction teams, LiDAR drones, and trauma units.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515600" cy="640080"/>
          </a:xfrm>
          <a:prstGeom prst="rect">
            <a:avLst/>
          </a:prstGeom>
          <a:noFill/>
        </p:spPr>
        <p:txBody>
          <a:bodyPr wrap="square" anchor="t">
            <a:spAutoFit/>
          </a:bodyPr>
          <a:lstStyle/>
          <a:p>
            <a:pPr algn="l">
              <a:defRPr sz="3400" b="1">
                <a:solidFill>
                  <a:srgbClr val="FFFFFF"/>
                </a:solidFill>
                <a:latin typeface="Calibri"/>
              </a:defRPr>
            </a:pPr>
            <a:r>
              <a:t>Technology Stack &amp; Implementation</a:t>
            </a:r>
          </a:p>
        </p:txBody>
      </p:sp>
      <p:sp>
        <p:nvSpPr>
          <p:cNvPr id="4" name="TextBox 3"/>
          <p:cNvSpPr txBox="1"/>
          <p:nvPr/>
        </p:nvSpPr>
        <p:spPr>
          <a:xfrm>
            <a:off x="731520" y="868680"/>
            <a:ext cx="10515600" cy="365760"/>
          </a:xfrm>
          <a:prstGeom prst="rect">
            <a:avLst/>
          </a:prstGeom>
          <a:noFill/>
        </p:spPr>
        <p:txBody>
          <a:bodyPr wrap="square" anchor="t">
            <a:spAutoFit/>
          </a:bodyPr>
          <a:lstStyle/>
          <a:p>
            <a:pPr algn="l">
              <a:defRPr sz="1600" b="0">
                <a:solidFill>
                  <a:srgbClr val="F97316"/>
                </a:solidFill>
                <a:latin typeface="Calibri"/>
              </a:defRPr>
            </a:pPr>
            <a:r>
              <a:t>Production-Grade, Modular, Containerized &amp; Edge-Ready</a:t>
            </a:r>
          </a:p>
        </p:txBody>
      </p:sp>
      <p:sp>
        <p:nvSpPr>
          <p:cNvPr id="5" name="Rectangle 4"/>
          <p:cNvSpPr/>
          <p:nvPr/>
        </p:nvSpPr>
        <p:spPr>
          <a:xfrm>
            <a:off x="640080" y="1325880"/>
            <a:ext cx="3429000" cy="5120640"/>
          </a:xfrm>
          <a:prstGeom prst="rect">
            <a:avLst/>
          </a:prstGeom>
          <a:solidFill>
            <a:srgbClr val="1E293B"/>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59" y="1463040"/>
            <a:ext cx="3063240" cy="365760"/>
          </a:xfrm>
          <a:prstGeom prst="rect">
            <a:avLst/>
          </a:prstGeom>
          <a:noFill/>
        </p:spPr>
        <p:txBody>
          <a:bodyPr wrap="square" anchor="t">
            <a:spAutoFit/>
          </a:bodyPr>
          <a:lstStyle/>
          <a:p>
            <a:pPr algn="l">
              <a:defRPr sz="1800" b="1">
                <a:solidFill>
                  <a:srgbClr val="3B82F6"/>
                </a:solidFill>
                <a:latin typeface="Calibri"/>
              </a:defRPr>
            </a:pPr>
            <a:r>
              <a:t>Backend &amp; AI Pipeline</a:t>
            </a:r>
          </a:p>
        </p:txBody>
      </p:sp>
      <p:sp>
        <p:nvSpPr>
          <p:cNvPr id="7" name="TextBox 6"/>
          <p:cNvSpPr txBox="1"/>
          <p:nvPr/>
        </p:nvSpPr>
        <p:spPr>
          <a:xfrm>
            <a:off x="822959" y="1920240"/>
            <a:ext cx="3063240" cy="4297680"/>
          </a:xfrm>
          <a:prstGeom prst="rect">
            <a:avLst/>
          </a:prstGeom>
          <a:noFill/>
        </p:spPr>
        <p:txBody>
          <a:bodyPr wrap="square">
            <a:spAutoFit/>
          </a:bodyPr>
          <a:lstStyle/>
          <a:p>
            <a:pPr>
              <a:spcAft>
                <a:spcPts val="800"/>
              </a:spcAft>
              <a:defRPr sz="1200">
                <a:solidFill>
                  <a:srgbClr val="E2E8F0"/>
                </a:solidFill>
                <a:latin typeface="Calibri"/>
              </a:defRPr>
            </a:pPr>
            <a:r>
              <a:t>Python 3.11  •  FastAPI 0.112  •  Uvicorn ASGI</a:t>
            </a:r>
          </a:p>
          <a:p>
            <a:pPr>
              <a:spcAft>
                <a:spcPts val="800"/>
              </a:spcAft>
              <a:defRPr sz="1200">
                <a:solidFill>
                  <a:srgbClr val="E2E8F0"/>
                </a:solidFill>
                <a:latin typeface="Calibri"/>
              </a:defRPr>
            </a:pPr>
            <a:r>
              <a:t>LangGraph 0.3 with dynamic cyclic routing</a:t>
            </a:r>
          </a:p>
          <a:p>
            <a:pPr>
              <a:spcAft>
                <a:spcPts val="800"/>
              </a:spcAft>
              <a:defRPr sz="1200">
                <a:solidFill>
                  <a:srgbClr val="E2E8F0"/>
                </a:solidFill>
                <a:latin typeface="Calibri"/>
              </a:defRPr>
            </a:pPr>
            <a:r>
              <a:t>AsyncSqliteSaver persistent state checkpointer</a:t>
            </a:r>
          </a:p>
          <a:p>
            <a:pPr>
              <a:spcAft>
                <a:spcPts val="800"/>
              </a:spcAft>
              <a:defRPr sz="1200">
                <a:solidFill>
                  <a:srgbClr val="E2E8F0"/>
                </a:solidFill>
                <a:latin typeface="Calibri"/>
              </a:defRPr>
            </a:pPr>
            <a:r>
              <a:t>Pydantic 2.8 schemas for strict type guarantees</a:t>
            </a:r>
          </a:p>
          <a:p>
            <a:pPr>
              <a:spcAft>
                <a:spcPts val="800"/>
              </a:spcAft>
              <a:defRPr sz="1200">
                <a:solidFill>
                  <a:srgbClr val="E2E8F0"/>
                </a:solidFill>
                <a:latin typeface="Calibri"/>
              </a:defRPr>
            </a:pPr>
            <a:r>
              <a:t>sentence-transformers &amp; PyTorch CUDA 12.4</a:t>
            </a:r>
          </a:p>
          <a:p>
            <a:pPr>
              <a:spcAft>
                <a:spcPts val="800"/>
              </a:spcAft>
              <a:defRPr sz="1200">
                <a:solidFill>
                  <a:srgbClr val="E2E8F0"/>
                </a:solidFill>
                <a:latin typeface="Calibri"/>
              </a:defRPr>
            </a:pPr>
            <a:r>
              <a:t>OpenTelemetry &amp; Meterless tracing SDK</a:t>
            </a:r>
          </a:p>
          <a:p>
            <a:pPr>
              <a:spcAft>
                <a:spcPts val="800"/>
              </a:spcAft>
              <a:defRPr sz="1200">
                <a:solidFill>
                  <a:srgbClr val="E2E8F0"/>
                </a:solidFill>
                <a:latin typeface="Calibri"/>
              </a:defRPr>
            </a:pPr>
            <a:r>
              <a:t>SAMPLE_MODE=true for 100% offline edge execution</a:t>
            </a:r>
          </a:p>
          <a:p>
            <a:pPr>
              <a:spcAft>
                <a:spcPts val="800"/>
              </a:spcAft>
              <a:defRPr sz="1200">
                <a:solidFill>
                  <a:srgbClr val="E2E8F0"/>
                </a:solidFill>
                <a:latin typeface="Calibri"/>
              </a:defRPr>
            </a:pPr>
            <a:r>
              <a:t>Structured JSON logging with audit timestamps</a:t>
            </a:r>
          </a:p>
        </p:txBody>
      </p:sp>
      <p:sp>
        <p:nvSpPr>
          <p:cNvPr id="8" name="Rectangle 7"/>
          <p:cNvSpPr/>
          <p:nvPr/>
        </p:nvSpPr>
        <p:spPr>
          <a:xfrm>
            <a:off x="4389120" y="1325880"/>
            <a:ext cx="3429000" cy="5120640"/>
          </a:xfrm>
          <a:prstGeom prst="rect">
            <a:avLst/>
          </a:prstGeom>
          <a:solidFill>
            <a:srgbClr val="1E293B"/>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0" y="1463040"/>
            <a:ext cx="3063240" cy="365760"/>
          </a:xfrm>
          <a:prstGeom prst="rect">
            <a:avLst/>
          </a:prstGeom>
          <a:noFill/>
        </p:spPr>
        <p:txBody>
          <a:bodyPr wrap="square" anchor="t">
            <a:spAutoFit/>
          </a:bodyPr>
          <a:lstStyle/>
          <a:p>
            <a:pPr algn="l">
              <a:defRPr sz="1800" b="1">
                <a:solidFill>
                  <a:srgbClr val="22C55E"/>
                </a:solidFill>
                <a:latin typeface="Calibri"/>
              </a:defRPr>
            </a:pPr>
            <a:r>
              <a:t>Frontend &amp; Geospatial UI</a:t>
            </a:r>
          </a:p>
        </p:txBody>
      </p:sp>
      <p:sp>
        <p:nvSpPr>
          <p:cNvPr id="10" name="TextBox 9"/>
          <p:cNvSpPr txBox="1"/>
          <p:nvPr/>
        </p:nvSpPr>
        <p:spPr>
          <a:xfrm>
            <a:off x="4572000" y="1920240"/>
            <a:ext cx="3063240" cy="4297680"/>
          </a:xfrm>
          <a:prstGeom prst="rect">
            <a:avLst/>
          </a:prstGeom>
          <a:noFill/>
        </p:spPr>
        <p:txBody>
          <a:bodyPr wrap="square">
            <a:spAutoFit/>
          </a:bodyPr>
          <a:lstStyle/>
          <a:p>
            <a:pPr>
              <a:spcAft>
                <a:spcPts val="800"/>
              </a:spcAft>
              <a:defRPr sz="1200">
                <a:solidFill>
                  <a:srgbClr val="E2E8F0"/>
                </a:solidFill>
                <a:latin typeface="Calibri"/>
              </a:defRPr>
            </a:pPr>
            <a:r>
              <a:t>React 18  •  TypeScript  •  Vite 5 build tooling</a:t>
            </a:r>
          </a:p>
          <a:p>
            <a:pPr>
              <a:spcAft>
                <a:spcPts val="800"/>
              </a:spcAft>
              <a:defRPr sz="1200">
                <a:solidFill>
                  <a:srgbClr val="E2E8F0"/>
                </a:solidFill>
                <a:latin typeface="Calibri"/>
              </a:defRPr>
            </a:pPr>
            <a:r>
              <a:t>Tailwind CSS with Dark Slate Emergency styling</a:t>
            </a:r>
          </a:p>
          <a:p>
            <a:pPr>
              <a:spcAft>
                <a:spcPts val="800"/>
              </a:spcAft>
              <a:defRPr sz="1200">
                <a:solidFill>
                  <a:srgbClr val="E2E8F0"/>
                </a:solidFill>
                <a:latin typeface="Calibri"/>
              </a:defRPr>
            </a:pPr>
            <a:r>
              <a:t>Leaflet &amp; React-Leaflet GIS polygon rendering</a:t>
            </a:r>
          </a:p>
          <a:p>
            <a:pPr>
              <a:spcAft>
                <a:spcPts val="800"/>
              </a:spcAft>
              <a:defRPr sz="1200">
                <a:solidFill>
                  <a:srgbClr val="E2E8F0"/>
                </a:solidFill>
                <a:latin typeface="Calibri"/>
              </a:defRPr>
            </a:pPr>
            <a:r>
              <a:t>Live interactive dashboard: scenarios, jobs, maps</a:t>
            </a:r>
          </a:p>
          <a:p>
            <a:pPr>
              <a:spcAft>
                <a:spcPts val="800"/>
              </a:spcAft>
              <a:defRPr sz="1200">
                <a:solidFill>
                  <a:srgbClr val="E2E8F0"/>
                </a:solidFill>
                <a:latin typeface="Calibri"/>
              </a:defRPr>
            </a:pPr>
            <a:r>
              <a:t>Dynamic agent execution trace visualizer</a:t>
            </a:r>
          </a:p>
          <a:p>
            <a:pPr>
              <a:spcAft>
                <a:spcPts val="800"/>
              </a:spcAft>
              <a:defRPr sz="1200">
                <a:solidFill>
                  <a:srgbClr val="E2E8F0"/>
                </a:solidFill>
                <a:latin typeface="Calibri"/>
              </a:defRPr>
            </a:pPr>
            <a:r>
              <a:t>Interactive 10-archetype scenario trigger console</a:t>
            </a:r>
          </a:p>
          <a:p>
            <a:pPr>
              <a:spcAft>
                <a:spcPts val="800"/>
              </a:spcAft>
              <a:defRPr sz="1200">
                <a:solidFill>
                  <a:srgbClr val="E2E8F0"/>
                </a:solidFill>
                <a:latin typeface="Calibri"/>
              </a:defRPr>
            </a:pPr>
            <a:r>
              <a:t>Mobile-responsive tablet &amp; desktop layouts</a:t>
            </a:r>
          </a:p>
          <a:p>
            <a:pPr>
              <a:spcAft>
                <a:spcPts val="800"/>
              </a:spcAft>
              <a:defRPr sz="1200">
                <a:solidFill>
                  <a:srgbClr val="E2E8F0"/>
                </a:solidFill>
                <a:latin typeface="Calibri"/>
              </a:defRPr>
            </a:pPr>
            <a:r>
              <a:t>Zero compilation errors on npm run build</a:t>
            </a:r>
          </a:p>
        </p:txBody>
      </p:sp>
      <p:sp>
        <p:nvSpPr>
          <p:cNvPr id="11" name="Rectangle 10"/>
          <p:cNvSpPr/>
          <p:nvPr/>
        </p:nvSpPr>
        <p:spPr>
          <a:xfrm>
            <a:off x="8138160" y="1325880"/>
            <a:ext cx="3429000" cy="5120640"/>
          </a:xfrm>
          <a:prstGeom prst="rect">
            <a:avLst/>
          </a:prstGeom>
          <a:solidFill>
            <a:srgbClr val="1E293B"/>
          </a:solidFill>
          <a:ln w="2540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21040" y="1463040"/>
            <a:ext cx="3063240" cy="365760"/>
          </a:xfrm>
          <a:prstGeom prst="rect">
            <a:avLst/>
          </a:prstGeom>
          <a:noFill/>
        </p:spPr>
        <p:txBody>
          <a:bodyPr wrap="square" anchor="t">
            <a:spAutoFit/>
          </a:bodyPr>
          <a:lstStyle/>
          <a:p>
            <a:pPr algn="l">
              <a:defRPr sz="1800" b="1">
                <a:solidFill>
                  <a:srgbClr val="F97316"/>
                </a:solidFill>
                <a:latin typeface="Calibri"/>
              </a:defRPr>
            </a:pPr>
            <a:r>
              <a:t>Infrastructure &amp; DevSecOps</a:t>
            </a:r>
          </a:p>
        </p:txBody>
      </p:sp>
      <p:sp>
        <p:nvSpPr>
          <p:cNvPr id="13" name="TextBox 12"/>
          <p:cNvSpPr txBox="1"/>
          <p:nvPr/>
        </p:nvSpPr>
        <p:spPr>
          <a:xfrm>
            <a:off x="8321040" y="1920240"/>
            <a:ext cx="3063240" cy="4297680"/>
          </a:xfrm>
          <a:prstGeom prst="rect">
            <a:avLst/>
          </a:prstGeom>
          <a:noFill/>
        </p:spPr>
        <p:txBody>
          <a:bodyPr wrap="square">
            <a:spAutoFit/>
          </a:bodyPr>
          <a:lstStyle/>
          <a:p>
            <a:pPr>
              <a:spcAft>
                <a:spcPts val="800"/>
              </a:spcAft>
              <a:defRPr sz="1200">
                <a:solidFill>
                  <a:srgbClr val="E2E8F0"/>
                </a:solidFill>
                <a:latin typeface="Calibri"/>
              </a:defRPr>
            </a:pPr>
            <a:r>
              <a:t>Docker Compose multi-container architecture</a:t>
            </a:r>
          </a:p>
          <a:p>
            <a:pPr>
              <a:spcAft>
                <a:spcPts val="800"/>
              </a:spcAft>
              <a:defRPr sz="1200">
                <a:solidFill>
                  <a:srgbClr val="E2E8F0"/>
                </a:solidFill>
                <a:latin typeface="Calibri"/>
              </a:defRPr>
            </a:pPr>
            <a:r>
              <a:t>PostgreSQL 16 + Redis 7 + Nginx reverse proxy</a:t>
            </a:r>
          </a:p>
          <a:p>
            <a:pPr>
              <a:spcAft>
                <a:spcPts val="800"/>
              </a:spcAft>
              <a:defRPr sz="1200">
                <a:solidFill>
                  <a:srgbClr val="E2E8F0"/>
                </a:solidFill>
                <a:latin typeface="Calibri"/>
              </a:defRPr>
            </a:pPr>
            <a:r>
              <a:t>Automated health checks across all microservices</a:t>
            </a:r>
          </a:p>
          <a:p>
            <a:pPr>
              <a:spcAft>
                <a:spcPts val="800"/>
              </a:spcAft>
              <a:defRPr sz="1200">
                <a:solidFill>
                  <a:srgbClr val="E2E8F0"/>
                </a:solidFill>
                <a:latin typeface="Calibri"/>
              </a:defRPr>
            </a:pPr>
            <a:r>
              <a:t>Zero-config local fallback via SQLite</a:t>
            </a:r>
          </a:p>
          <a:p>
            <a:pPr>
              <a:spcAft>
                <a:spcPts val="800"/>
              </a:spcAft>
              <a:defRPr sz="1200">
                <a:solidFill>
                  <a:srgbClr val="E2E8F0"/>
                </a:solidFill>
                <a:latin typeface="Calibri"/>
              </a:defRPr>
            </a:pPr>
            <a:r>
              <a:t>Pre-commit hooks (ruff, black, mypy)</a:t>
            </a:r>
          </a:p>
          <a:p>
            <a:pPr>
              <a:spcAft>
                <a:spcPts val="800"/>
              </a:spcAft>
              <a:defRPr sz="1200">
                <a:solidFill>
                  <a:srgbClr val="E2E8F0"/>
                </a:solidFill>
                <a:latin typeface="Calibri"/>
              </a:defRPr>
            </a:pPr>
            <a:r>
              <a:t>Strict security audit: zero hardcoded secrets</a:t>
            </a:r>
          </a:p>
          <a:p>
            <a:pPr>
              <a:spcAft>
                <a:spcPts val="800"/>
              </a:spcAft>
              <a:defRPr sz="1200">
                <a:solidFill>
                  <a:srgbClr val="E2E8F0"/>
                </a:solidFill>
                <a:latin typeface="Calibri"/>
              </a:defRPr>
            </a:pPr>
            <a:r>
              <a:t>Comprehensive .env.example configuration</a:t>
            </a:r>
          </a:p>
          <a:p>
            <a:pPr>
              <a:spcAft>
                <a:spcPts val="800"/>
              </a:spcAft>
              <a:defRPr sz="1200">
                <a:solidFill>
                  <a:srgbClr val="E2E8F0"/>
                </a:solidFill>
                <a:latin typeface="Calibri"/>
              </a:defRPr>
            </a:pPr>
            <a:r>
              <a:t>MIT Open Source License for global adoption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515600" cy="640080"/>
          </a:xfrm>
          <a:prstGeom prst="rect">
            <a:avLst/>
          </a:prstGeom>
          <a:noFill/>
        </p:spPr>
        <p:txBody>
          <a:bodyPr wrap="square" anchor="t">
            <a:spAutoFit/>
          </a:bodyPr>
          <a:lstStyle/>
          <a:p>
            <a:pPr algn="l">
              <a:defRPr sz="3400" b="1">
                <a:solidFill>
                  <a:srgbClr val="FFFFFF"/>
                </a:solidFill>
                <a:latin typeface="Calibri"/>
              </a:defRPr>
            </a:pPr>
            <a:r>
              <a:t>Quality Assurance &amp; Validation Results</a:t>
            </a:r>
          </a:p>
        </p:txBody>
      </p:sp>
      <p:sp>
        <p:nvSpPr>
          <p:cNvPr id="4" name="TextBox 3"/>
          <p:cNvSpPr txBox="1"/>
          <p:nvPr/>
        </p:nvSpPr>
        <p:spPr>
          <a:xfrm>
            <a:off x="731520" y="868680"/>
            <a:ext cx="10515600" cy="365760"/>
          </a:xfrm>
          <a:prstGeom prst="rect">
            <a:avLst/>
          </a:prstGeom>
          <a:noFill/>
        </p:spPr>
        <p:txBody>
          <a:bodyPr wrap="square" anchor="t">
            <a:spAutoFit/>
          </a:bodyPr>
          <a:lstStyle/>
          <a:p>
            <a:pPr algn="l">
              <a:defRPr sz="1600" b="0">
                <a:solidFill>
                  <a:srgbClr val="F97316"/>
                </a:solidFill>
                <a:latin typeface="Calibri"/>
              </a:defRPr>
            </a:pPr>
            <a:r>
              <a:t>Rigorous Verification Across Unit Tests, Pipeline Endpoints, and Live Traces</a:t>
            </a:r>
          </a:p>
        </p:txBody>
      </p:sp>
      <p:sp>
        <p:nvSpPr>
          <p:cNvPr id="5" name="Rectangle 4"/>
          <p:cNvSpPr/>
          <p:nvPr/>
        </p:nvSpPr>
        <p:spPr>
          <a:xfrm>
            <a:off x="640080" y="1325880"/>
            <a:ext cx="2578608" cy="1298448"/>
          </a:xfrm>
          <a:prstGeom prst="rect">
            <a:avLst/>
          </a:prstGeom>
          <a:solidFill>
            <a:srgbClr val="1E293B"/>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19" y="1399032"/>
            <a:ext cx="2395727" cy="274320"/>
          </a:xfrm>
          <a:prstGeom prst="rect">
            <a:avLst/>
          </a:prstGeom>
          <a:noFill/>
        </p:spPr>
        <p:txBody>
          <a:bodyPr wrap="square" anchor="t">
            <a:spAutoFit/>
          </a:bodyPr>
          <a:lstStyle/>
          <a:p>
            <a:pPr algn="l">
              <a:defRPr sz="1200" b="1">
                <a:solidFill>
                  <a:srgbClr val="22C55E"/>
                </a:solidFill>
                <a:latin typeface="Calibri"/>
              </a:defRPr>
            </a:pPr>
            <a:r>
              <a:t>Agent Import</a:t>
            </a:r>
          </a:p>
        </p:txBody>
      </p:sp>
      <p:sp>
        <p:nvSpPr>
          <p:cNvPr id="7" name="TextBox 6"/>
          <p:cNvSpPr txBox="1"/>
          <p:nvPr/>
        </p:nvSpPr>
        <p:spPr>
          <a:xfrm>
            <a:off x="731519" y="1673352"/>
            <a:ext cx="2395727" cy="411480"/>
          </a:xfrm>
          <a:prstGeom prst="rect">
            <a:avLst/>
          </a:prstGeom>
          <a:noFill/>
        </p:spPr>
        <p:txBody>
          <a:bodyPr wrap="square" anchor="t">
            <a:spAutoFit/>
          </a:bodyPr>
          <a:lstStyle/>
          <a:p>
            <a:pPr algn="ctr">
              <a:defRPr sz="2400" b="1">
                <a:solidFill>
                  <a:srgbClr val="FFFFFF"/>
                </a:solidFill>
                <a:latin typeface="Calibri"/>
              </a:defRPr>
            </a:pPr>
            <a:r>
              <a:t>100%</a:t>
            </a:r>
          </a:p>
        </p:txBody>
      </p:sp>
      <p:sp>
        <p:nvSpPr>
          <p:cNvPr id="8" name="TextBox 7"/>
          <p:cNvSpPr txBox="1"/>
          <p:nvPr/>
        </p:nvSpPr>
        <p:spPr>
          <a:xfrm>
            <a:off x="731519" y="2130552"/>
            <a:ext cx="2395727" cy="411480"/>
          </a:xfrm>
          <a:prstGeom prst="rect">
            <a:avLst/>
          </a:prstGeom>
          <a:noFill/>
        </p:spPr>
        <p:txBody>
          <a:bodyPr wrap="square" anchor="t">
            <a:spAutoFit/>
          </a:bodyPr>
          <a:lstStyle/>
          <a:p>
            <a:pPr algn="ctr">
              <a:defRPr sz="1000" b="0">
                <a:solidFill>
                  <a:srgbClr val="E2E8F0"/>
                </a:solidFill>
                <a:latin typeface="Calibri"/>
              </a:defRPr>
            </a:pPr>
            <a:r>
              <a:t>All 9 specialized agents import cleanly without errors.</a:t>
            </a:r>
          </a:p>
        </p:txBody>
      </p:sp>
      <p:sp>
        <p:nvSpPr>
          <p:cNvPr id="9" name="Rectangle 8"/>
          <p:cNvSpPr/>
          <p:nvPr/>
        </p:nvSpPr>
        <p:spPr>
          <a:xfrm>
            <a:off x="3364991" y="1325880"/>
            <a:ext cx="2578608" cy="1298448"/>
          </a:xfrm>
          <a:prstGeom prst="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56432" y="1399032"/>
            <a:ext cx="2395727" cy="274320"/>
          </a:xfrm>
          <a:prstGeom prst="rect">
            <a:avLst/>
          </a:prstGeom>
          <a:noFill/>
        </p:spPr>
        <p:txBody>
          <a:bodyPr wrap="square" anchor="t">
            <a:spAutoFit/>
          </a:bodyPr>
          <a:lstStyle/>
          <a:p>
            <a:pPr algn="l">
              <a:defRPr sz="1200" b="1">
                <a:solidFill>
                  <a:srgbClr val="3B82F6"/>
                </a:solidFill>
                <a:latin typeface="Calibri"/>
              </a:defRPr>
            </a:pPr>
            <a:r>
              <a:t>Pipeline Stages</a:t>
            </a:r>
          </a:p>
        </p:txBody>
      </p:sp>
      <p:sp>
        <p:nvSpPr>
          <p:cNvPr id="11" name="TextBox 10"/>
          <p:cNvSpPr txBox="1"/>
          <p:nvPr/>
        </p:nvSpPr>
        <p:spPr>
          <a:xfrm>
            <a:off x="3456432" y="1673352"/>
            <a:ext cx="2395727" cy="411480"/>
          </a:xfrm>
          <a:prstGeom prst="rect">
            <a:avLst/>
          </a:prstGeom>
          <a:noFill/>
        </p:spPr>
        <p:txBody>
          <a:bodyPr wrap="square" anchor="t">
            <a:spAutoFit/>
          </a:bodyPr>
          <a:lstStyle/>
          <a:p>
            <a:pPr algn="ctr">
              <a:defRPr sz="2400" b="1">
                <a:solidFill>
                  <a:srgbClr val="FFFFFF"/>
                </a:solidFill>
                <a:latin typeface="Calibri"/>
              </a:defRPr>
            </a:pPr>
            <a:r>
              <a:t>9/9</a:t>
            </a:r>
          </a:p>
        </p:txBody>
      </p:sp>
      <p:sp>
        <p:nvSpPr>
          <p:cNvPr id="12" name="TextBox 11"/>
          <p:cNvSpPr txBox="1"/>
          <p:nvPr/>
        </p:nvSpPr>
        <p:spPr>
          <a:xfrm>
            <a:off x="3456432" y="2130552"/>
            <a:ext cx="2395727" cy="411480"/>
          </a:xfrm>
          <a:prstGeom prst="rect">
            <a:avLst/>
          </a:prstGeom>
          <a:noFill/>
        </p:spPr>
        <p:txBody>
          <a:bodyPr wrap="square" anchor="t">
            <a:spAutoFit/>
          </a:bodyPr>
          <a:lstStyle/>
          <a:p>
            <a:pPr algn="ctr">
              <a:defRPr sz="1000" b="0">
                <a:solidFill>
                  <a:srgbClr val="E2E8F0"/>
                </a:solidFill>
                <a:latin typeface="Calibri"/>
              </a:defRPr>
            </a:pPr>
            <a:r>
              <a:t>Full autonomous multi-agent execution loop verified.</a:t>
            </a:r>
          </a:p>
        </p:txBody>
      </p:sp>
      <p:sp>
        <p:nvSpPr>
          <p:cNvPr id="13" name="Rectangle 12"/>
          <p:cNvSpPr/>
          <p:nvPr/>
        </p:nvSpPr>
        <p:spPr>
          <a:xfrm>
            <a:off x="6089904" y="1325880"/>
            <a:ext cx="2578608" cy="1298448"/>
          </a:xfrm>
          <a:prstGeom prst="rect">
            <a:avLst/>
          </a:prstGeom>
          <a:solidFill>
            <a:srgbClr val="1E293B"/>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81344" y="1399032"/>
            <a:ext cx="2395727" cy="274320"/>
          </a:xfrm>
          <a:prstGeom prst="rect">
            <a:avLst/>
          </a:prstGeom>
          <a:noFill/>
        </p:spPr>
        <p:txBody>
          <a:bodyPr wrap="square" anchor="t">
            <a:spAutoFit/>
          </a:bodyPr>
          <a:lstStyle/>
          <a:p>
            <a:pPr algn="l">
              <a:defRPr sz="1200" b="1">
                <a:solidFill>
                  <a:srgbClr val="F97316"/>
                </a:solidFill>
                <a:latin typeface="Calibri"/>
              </a:defRPr>
            </a:pPr>
            <a:r>
              <a:t>API Endpoints</a:t>
            </a:r>
          </a:p>
        </p:txBody>
      </p:sp>
      <p:sp>
        <p:nvSpPr>
          <p:cNvPr id="15" name="TextBox 14"/>
          <p:cNvSpPr txBox="1"/>
          <p:nvPr/>
        </p:nvSpPr>
        <p:spPr>
          <a:xfrm>
            <a:off x="6181344" y="1673352"/>
            <a:ext cx="2395727" cy="411480"/>
          </a:xfrm>
          <a:prstGeom prst="rect">
            <a:avLst/>
          </a:prstGeom>
          <a:noFill/>
        </p:spPr>
        <p:txBody>
          <a:bodyPr wrap="square" anchor="t">
            <a:spAutoFit/>
          </a:bodyPr>
          <a:lstStyle/>
          <a:p>
            <a:pPr algn="ctr">
              <a:defRPr sz="2400" b="1">
                <a:solidFill>
                  <a:srgbClr val="FFFFFF"/>
                </a:solidFill>
                <a:latin typeface="Calibri"/>
              </a:defRPr>
            </a:pPr>
            <a:r>
              <a:t>6/6</a:t>
            </a:r>
          </a:p>
        </p:txBody>
      </p:sp>
      <p:sp>
        <p:nvSpPr>
          <p:cNvPr id="16" name="TextBox 15"/>
          <p:cNvSpPr txBox="1"/>
          <p:nvPr/>
        </p:nvSpPr>
        <p:spPr>
          <a:xfrm>
            <a:off x="6181344" y="2130552"/>
            <a:ext cx="2395727" cy="411480"/>
          </a:xfrm>
          <a:prstGeom prst="rect">
            <a:avLst/>
          </a:prstGeom>
          <a:noFill/>
        </p:spPr>
        <p:txBody>
          <a:bodyPr wrap="square" anchor="t">
            <a:spAutoFit/>
          </a:bodyPr>
          <a:lstStyle/>
          <a:p>
            <a:pPr algn="ctr">
              <a:defRPr sz="1000" b="0">
                <a:solidFill>
                  <a:srgbClr val="E2E8F0"/>
                </a:solidFill>
                <a:latin typeface="Calibri"/>
              </a:defRPr>
            </a:pPr>
            <a:r>
              <a:t>Health, Scenarios, Respond, Sync, Graph, Demo active.</a:t>
            </a:r>
          </a:p>
        </p:txBody>
      </p:sp>
      <p:sp>
        <p:nvSpPr>
          <p:cNvPr id="17" name="Rectangle 16"/>
          <p:cNvSpPr/>
          <p:nvPr/>
        </p:nvSpPr>
        <p:spPr>
          <a:xfrm>
            <a:off x="8814815" y="1325880"/>
            <a:ext cx="2578608" cy="1298448"/>
          </a:xfrm>
          <a:prstGeom prst="rect">
            <a:avLst/>
          </a:prstGeom>
          <a:solidFill>
            <a:srgbClr val="1E293B"/>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906255" y="1399032"/>
            <a:ext cx="2395727" cy="274320"/>
          </a:xfrm>
          <a:prstGeom prst="rect">
            <a:avLst/>
          </a:prstGeom>
          <a:noFill/>
        </p:spPr>
        <p:txBody>
          <a:bodyPr wrap="square" anchor="t">
            <a:spAutoFit/>
          </a:bodyPr>
          <a:lstStyle/>
          <a:p>
            <a:pPr algn="l">
              <a:defRPr sz="1200" b="1">
                <a:solidFill>
                  <a:srgbClr val="22C55E"/>
                </a:solidFill>
                <a:latin typeface="Calibri"/>
              </a:defRPr>
            </a:pPr>
            <a:r>
              <a:t>Frontend Build</a:t>
            </a:r>
          </a:p>
        </p:txBody>
      </p:sp>
      <p:sp>
        <p:nvSpPr>
          <p:cNvPr id="19" name="TextBox 18"/>
          <p:cNvSpPr txBox="1"/>
          <p:nvPr/>
        </p:nvSpPr>
        <p:spPr>
          <a:xfrm>
            <a:off x="8906255" y="1673352"/>
            <a:ext cx="2395727" cy="411480"/>
          </a:xfrm>
          <a:prstGeom prst="rect">
            <a:avLst/>
          </a:prstGeom>
          <a:noFill/>
        </p:spPr>
        <p:txBody>
          <a:bodyPr wrap="square" anchor="t">
            <a:spAutoFit/>
          </a:bodyPr>
          <a:lstStyle/>
          <a:p>
            <a:pPr algn="ctr">
              <a:defRPr sz="2400" b="1">
                <a:solidFill>
                  <a:srgbClr val="FFFFFF"/>
                </a:solidFill>
                <a:latin typeface="Calibri"/>
              </a:defRPr>
            </a:pPr>
            <a:r>
              <a:t>0 Errors</a:t>
            </a:r>
          </a:p>
        </p:txBody>
      </p:sp>
      <p:sp>
        <p:nvSpPr>
          <p:cNvPr id="20" name="TextBox 19"/>
          <p:cNvSpPr txBox="1"/>
          <p:nvPr/>
        </p:nvSpPr>
        <p:spPr>
          <a:xfrm>
            <a:off x="8906255" y="2130552"/>
            <a:ext cx="2395727" cy="411480"/>
          </a:xfrm>
          <a:prstGeom prst="rect">
            <a:avLst/>
          </a:prstGeom>
          <a:noFill/>
        </p:spPr>
        <p:txBody>
          <a:bodyPr wrap="square" anchor="t">
            <a:spAutoFit/>
          </a:bodyPr>
          <a:lstStyle/>
          <a:p>
            <a:pPr algn="ctr">
              <a:defRPr sz="1000" b="0">
                <a:solidFill>
                  <a:srgbClr val="E2E8F0"/>
                </a:solidFill>
                <a:latin typeface="Calibri"/>
              </a:defRPr>
            </a:pPr>
            <a:r>
              <a:t>TypeScript compilation passes completely clean.</a:t>
            </a:r>
          </a:p>
        </p:txBody>
      </p:sp>
      <p:sp>
        <p:nvSpPr>
          <p:cNvPr id="21" name="Rectangle 20"/>
          <p:cNvSpPr/>
          <p:nvPr/>
        </p:nvSpPr>
        <p:spPr>
          <a:xfrm>
            <a:off x="640080" y="2743200"/>
            <a:ext cx="2578608" cy="1298448"/>
          </a:xfrm>
          <a:prstGeom prst="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1519" y="2816352"/>
            <a:ext cx="2395727" cy="274320"/>
          </a:xfrm>
          <a:prstGeom prst="rect">
            <a:avLst/>
          </a:prstGeom>
          <a:noFill/>
        </p:spPr>
        <p:txBody>
          <a:bodyPr wrap="square" anchor="t">
            <a:spAutoFit/>
          </a:bodyPr>
          <a:lstStyle/>
          <a:p>
            <a:pPr algn="l">
              <a:defRPr sz="1200" b="1">
                <a:solidFill>
                  <a:srgbClr val="3B82F6"/>
                </a:solidFill>
                <a:latin typeface="Calibri"/>
              </a:defRPr>
            </a:pPr>
            <a:r>
              <a:t>Docker Compose</a:t>
            </a:r>
          </a:p>
        </p:txBody>
      </p:sp>
      <p:sp>
        <p:nvSpPr>
          <p:cNvPr id="23" name="TextBox 22"/>
          <p:cNvSpPr txBox="1"/>
          <p:nvPr/>
        </p:nvSpPr>
        <p:spPr>
          <a:xfrm>
            <a:off x="731519" y="3090672"/>
            <a:ext cx="2395727" cy="411480"/>
          </a:xfrm>
          <a:prstGeom prst="rect">
            <a:avLst/>
          </a:prstGeom>
          <a:noFill/>
        </p:spPr>
        <p:txBody>
          <a:bodyPr wrap="square" anchor="t">
            <a:spAutoFit/>
          </a:bodyPr>
          <a:lstStyle/>
          <a:p>
            <a:pPr algn="ctr">
              <a:defRPr sz="2400" b="1">
                <a:solidFill>
                  <a:srgbClr val="FFFFFF"/>
                </a:solidFill>
                <a:latin typeface="Calibri"/>
              </a:defRPr>
            </a:pPr>
            <a:r>
              <a:t>5/5</a:t>
            </a:r>
          </a:p>
        </p:txBody>
      </p:sp>
      <p:sp>
        <p:nvSpPr>
          <p:cNvPr id="24" name="TextBox 23"/>
          <p:cNvSpPr txBox="1"/>
          <p:nvPr/>
        </p:nvSpPr>
        <p:spPr>
          <a:xfrm>
            <a:off x="731519" y="3547872"/>
            <a:ext cx="2395727" cy="411480"/>
          </a:xfrm>
          <a:prstGeom prst="rect">
            <a:avLst/>
          </a:prstGeom>
          <a:noFill/>
        </p:spPr>
        <p:txBody>
          <a:bodyPr wrap="square" anchor="t">
            <a:spAutoFit/>
          </a:bodyPr>
          <a:lstStyle/>
          <a:p>
            <a:pPr algn="ctr">
              <a:defRPr sz="1000" b="0">
                <a:solidFill>
                  <a:srgbClr val="E2E8F0"/>
                </a:solidFill>
                <a:latin typeface="Calibri"/>
              </a:defRPr>
            </a:pPr>
            <a:r>
              <a:t>All container services running with healthchecks.</a:t>
            </a:r>
          </a:p>
        </p:txBody>
      </p:sp>
      <p:sp>
        <p:nvSpPr>
          <p:cNvPr id="25" name="Rectangle 24"/>
          <p:cNvSpPr/>
          <p:nvPr/>
        </p:nvSpPr>
        <p:spPr>
          <a:xfrm>
            <a:off x="3364991" y="2743200"/>
            <a:ext cx="2578608" cy="1298448"/>
          </a:xfrm>
          <a:prstGeom prst="rect">
            <a:avLst/>
          </a:prstGeom>
          <a:solidFill>
            <a:srgbClr val="1E293B"/>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456432" y="2816352"/>
            <a:ext cx="2395727" cy="274320"/>
          </a:xfrm>
          <a:prstGeom prst="rect">
            <a:avLst/>
          </a:prstGeom>
          <a:noFill/>
        </p:spPr>
        <p:txBody>
          <a:bodyPr wrap="square" anchor="t">
            <a:spAutoFit/>
          </a:bodyPr>
          <a:lstStyle/>
          <a:p>
            <a:pPr algn="l">
              <a:defRPr sz="1200" b="1">
                <a:solidFill>
                  <a:srgbClr val="F97316"/>
                </a:solidFill>
                <a:latin typeface="Calibri"/>
              </a:defRPr>
            </a:pPr>
            <a:r>
              <a:t>Benchmark Suite</a:t>
            </a:r>
          </a:p>
        </p:txBody>
      </p:sp>
      <p:sp>
        <p:nvSpPr>
          <p:cNvPr id="27" name="TextBox 26"/>
          <p:cNvSpPr txBox="1"/>
          <p:nvPr/>
        </p:nvSpPr>
        <p:spPr>
          <a:xfrm>
            <a:off x="3456432" y="3090672"/>
            <a:ext cx="2395727" cy="411480"/>
          </a:xfrm>
          <a:prstGeom prst="rect">
            <a:avLst/>
          </a:prstGeom>
          <a:noFill/>
        </p:spPr>
        <p:txBody>
          <a:bodyPr wrap="square" anchor="t">
            <a:spAutoFit/>
          </a:bodyPr>
          <a:lstStyle/>
          <a:p>
            <a:pPr algn="ctr">
              <a:defRPr sz="2400" b="1">
                <a:solidFill>
                  <a:srgbClr val="FFFFFF"/>
                </a:solidFill>
                <a:latin typeface="Calibri"/>
              </a:defRPr>
            </a:pPr>
            <a:r>
              <a:t>10/10</a:t>
            </a:r>
          </a:p>
        </p:txBody>
      </p:sp>
      <p:sp>
        <p:nvSpPr>
          <p:cNvPr id="28" name="TextBox 27"/>
          <p:cNvSpPr txBox="1"/>
          <p:nvPr/>
        </p:nvSpPr>
        <p:spPr>
          <a:xfrm>
            <a:off x="3456432" y="3547872"/>
            <a:ext cx="2395727" cy="411480"/>
          </a:xfrm>
          <a:prstGeom prst="rect">
            <a:avLst/>
          </a:prstGeom>
          <a:noFill/>
        </p:spPr>
        <p:txBody>
          <a:bodyPr wrap="square" anchor="t">
            <a:spAutoFit/>
          </a:bodyPr>
          <a:lstStyle/>
          <a:p>
            <a:pPr algn="ctr">
              <a:defRPr sz="1000" b="0">
                <a:solidFill>
                  <a:srgbClr val="E2E8F0"/>
                </a:solidFill>
                <a:latin typeface="Calibri"/>
              </a:defRPr>
            </a:pPr>
            <a:r>
              <a:t>All 10 disaster failure archetypes verified.</a:t>
            </a:r>
          </a:p>
        </p:txBody>
      </p:sp>
      <p:sp>
        <p:nvSpPr>
          <p:cNvPr id="29" name="Rectangle 28"/>
          <p:cNvSpPr/>
          <p:nvPr/>
        </p:nvSpPr>
        <p:spPr>
          <a:xfrm>
            <a:off x="6089904" y="2743200"/>
            <a:ext cx="2578608" cy="1298448"/>
          </a:xfrm>
          <a:prstGeom prst="rect">
            <a:avLst/>
          </a:prstGeom>
          <a:solidFill>
            <a:srgbClr val="1E293B"/>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181344" y="2816352"/>
            <a:ext cx="2395727" cy="274320"/>
          </a:xfrm>
          <a:prstGeom prst="rect">
            <a:avLst/>
          </a:prstGeom>
          <a:noFill/>
        </p:spPr>
        <p:txBody>
          <a:bodyPr wrap="square" anchor="t">
            <a:spAutoFit/>
          </a:bodyPr>
          <a:lstStyle/>
          <a:p>
            <a:pPr algn="l">
              <a:defRPr sz="1200" b="1">
                <a:solidFill>
                  <a:srgbClr val="22C55E"/>
                </a:solidFill>
                <a:latin typeface="Calibri"/>
              </a:defRPr>
            </a:pPr>
            <a:r>
              <a:t>Sponsor Tech</a:t>
            </a:r>
          </a:p>
        </p:txBody>
      </p:sp>
      <p:sp>
        <p:nvSpPr>
          <p:cNvPr id="31" name="TextBox 30"/>
          <p:cNvSpPr txBox="1"/>
          <p:nvPr/>
        </p:nvSpPr>
        <p:spPr>
          <a:xfrm>
            <a:off x="6181344" y="3090672"/>
            <a:ext cx="2395727" cy="411480"/>
          </a:xfrm>
          <a:prstGeom prst="rect">
            <a:avLst/>
          </a:prstGeom>
          <a:noFill/>
        </p:spPr>
        <p:txBody>
          <a:bodyPr wrap="square" anchor="t">
            <a:spAutoFit/>
          </a:bodyPr>
          <a:lstStyle/>
          <a:p>
            <a:pPr algn="ctr">
              <a:defRPr sz="2400" b="1">
                <a:solidFill>
                  <a:srgbClr val="FFFFFF"/>
                </a:solidFill>
                <a:latin typeface="Calibri"/>
              </a:defRPr>
            </a:pPr>
            <a:r>
              <a:t>4/4</a:t>
            </a:r>
          </a:p>
        </p:txBody>
      </p:sp>
      <p:sp>
        <p:nvSpPr>
          <p:cNvPr id="32" name="TextBox 31"/>
          <p:cNvSpPr txBox="1"/>
          <p:nvPr/>
        </p:nvSpPr>
        <p:spPr>
          <a:xfrm>
            <a:off x="6181344" y="3547872"/>
            <a:ext cx="2395727" cy="411480"/>
          </a:xfrm>
          <a:prstGeom prst="rect">
            <a:avLst/>
          </a:prstGeom>
          <a:noFill/>
        </p:spPr>
        <p:txBody>
          <a:bodyPr wrap="square" anchor="t">
            <a:spAutoFit/>
          </a:bodyPr>
          <a:lstStyle/>
          <a:p>
            <a:pPr algn="ctr">
              <a:defRPr sz="1000" b="0">
                <a:solidFill>
                  <a:srgbClr val="E2E8F0"/>
                </a:solidFill>
                <a:latin typeface="Calibri"/>
              </a:defRPr>
            </a:pPr>
            <a:r>
              <a:t>Zetaris, Meterless, NVIDIA, Cursor fully integrated.</a:t>
            </a:r>
          </a:p>
        </p:txBody>
      </p:sp>
      <p:sp>
        <p:nvSpPr>
          <p:cNvPr id="33" name="Rectangle 32"/>
          <p:cNvSpPr/>
          <p:nvPr/>
        </p:nvSpPr>
        <p:spPr>
          <a:xfrm>
            <a:off x="8814815" y="2743200"/>
            <a:ext cx="2578608" cy="1298448"/>
          </a:xfrm>
          <a:prstGeom prst="rect">
            <a:avLst/>
          </a:prstGeom>
          <a:solidFill>
            <a:srgbClr val="1E293B"/>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906255" y="2816352"/>
            <a:ext cx="2395727" cy="274320"/>
          </a:xfrm>
          <a:prstGeom prst="rect">
            <a:avLst/>
          </a:prstGeom>
          <a:noFill/>
        </p:spPr>
        <p:txBody>
          <a:bodyPr wrap="square" anchor="t">
            <a:spAutoFit/>
          </a:bodyPr>
          <a:lstStyle/>
          <a:p>
            <a:pPr algn="l">
              <a:defRPr sz="1200" b="1">
                <a:solidFill>
                  <a:srgbClr val="22C55E"/>
                </a:solidFill>
                <a:latin typeface="Calibri"/>
              </a:defRPr>
            </a:pPr>
            <a:r>
              <a:t>Security Audit</a:t>
            </a:r>
          </a:p>
        </p:txBody>
      </p:sp>
      <p:sp>
        <p:nvSpPr>
          <p:cNvPr id="35" name="TextBox 34"/>
          <p:cNvSpPr txBox="1"/>
          <p:nvPr/>
        </p:nvSpPr>
        <p:spPr>
          <a:xfrm>
            <a:off x="8906255" y="3090672"/>
            <a:ext cx="2395727" cy="411480"/>
          </a:xfrm>
          <a:prstGeom prst="rect">
            <a:avLst/>
          </a:prstGeom>
          <a:noFill/>
        </p:spPr>
        <p:txBody>
          <a:bodyPr wrap="square" anchor="t">
            <a:spAutoFit/>
          </a:bodyPr>
          <a:lstStyle/>
          <a:p>
            <a:pPr algn="ctr">
              <a:defRPr sz="2400" b="1">
                <a:solidFill>
                  <a:srgbClr val="FFFFFF"/>
                </a:solidFill>
                <a:latin typeface="Calibri"/>
              </a:defRPr>
            </a:pPr>
            <a:r>
              <a:t>100%</a:t>
            </a:r>
          </a:p>
        </p:txBody>
      </p:sp>
      <p:sp>
        <p:nvSpPr>
          <p:cNvPr id="36" name="TextBox 35"/>
          <p:cNvSpPr txBox="1"/>
          <p:nvPr/>
        </p:nvSpPr>
        <p:spPr>
          <a:xfrm>
            <a:off x="8906255" y="3547872"/>
            <a:ext cx="2395727" cy="411480"/>
          </a:xfrm>
          <a:prstGeom prst="rect">
            <a:avLst/>
          </a:prstGeom>
          <a:noFill/>
        </p:spPr>
        <p:txBody>
          <a:bodyPr wrap="square" anchor="t">
            <a:spAutoFit/>
          </a:bodyPr>
          <a:lstStyle/>
          <a:p>
            <a:pPr algn="ctr">
              <a:defRPr sz="1000" b="0">
                <a:solidFill>
                  <a:srgbClr val="E2E8F0"/>
                </a:solidFill>
                <a:latin typeface="Calibri"/>
              </a:defRPr>
            </a:pPr>
            <a:r>
              <a:t>Zero secrets in repository; verified clean audit.</a:t>
            </a:r>
          </a:p>
        </p:txBody>
      </p:sp>
      <p:sp>
        <p:nvSpPr>
          <p:cNvPr id="37" name="Rectangle 36"/>
          <p:cNvSpPr/>
          <p:nvPr/>
        </p:nvSpPr>
        <p:spPr>
          <a:xfrm>
            <a:off x="640080" y="4297680"/>
            <a:ext cx="10908792" cy="2148840"/>
          </a:xfrm>
          <a:prstGeom prst="rect">
            <a:avLst/>
          </a:prstGeom>
          <a:solidFill>
            <a:srgbClr val="0F172A"/>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22960" y="4389120"/>
            <a:ext cx="10515600" cy="320040"/>
          </a:xfrm>
          <a:prstGeom prst="rect">
            <a:avLst/>
          </a:prstGeom>
          <a:noFill/>
        </p:spPr>
        <p:txBody>
          <a:bodyPr wrap="square" anchor="t">
            <a:spAutoFit/>
          </a:bodyPr>
          <a:lstStyle/>
          <a:p>
            <a:pPr algn="l">
              <a:defRPr sz="1400" b="1">
                <a:solidFill>
                  <a:srgbClr val="EF4444"/>
                </a:solidFill>
                <a:latin typeface="Calibri"/>
              </a:defRPr>
            </a:pPr>
            <a:r>
              <a:t>Meterless Trace Output (Live End-to-End Pipeline Execution)</a:t>
            </a:r>
          </a:p>
        </p:txBody>
      </p:sp>
      <p:sp>
        <p:nvSpPr>
          <p:cNvPr id="39" name="TextBox 38"/>
          <p:cNvSpPr txBox="1"/>
          <p:nvPr/>
        </p:nvSpPr>
        <p:spPr>
          <a:xfrm>
            <a:off x="822960" y="4754880"/>
            <a:ext cx="10515600" cy="1645920"/>
          </a:xfrm>
          <a:prstGeom prst="rect">
            <a:avLst/>
          </a:prstGeom>
          <a:noFill/>
        </p:spPr>
        <p:txBody>
          <a:bodyPr wrap="square" anchor="t">
            <a:spAutoFit/>
          </a:bodyPr>
          <a:lstStyle/>
          <a:p>
            <a:pPr algn="l">
              <a:defRPr sz="1000" b="0">
                <a:solidFill>
                  <a:srgbClr val="22C55E"/>
                </a:solidFill>
                <a:latin typeface="Consolas"/>
              </a:defRPr>
            </a:pPr>
            <a:r>
              <a:t>[METERLESS] 🟢 Agent:planner              | Op:execute | Trace:f41b7d5d | DURATION:0.002s | STATUS:success</a:t>
            </a:r>
            <a:br/>
            <a:r>
              <a:t>[METERLESS] 🟢 Agent:format_detector      | Op:execute | Trace:edf58804 | DURATION:0.001s | STATUS:success</a:t>
            </a:r>
            <a:br/>
            <a:r>
              <a:t>[METERLESS] 🟢 Agent:ingestion_executor   | Op:execute | Trace:aae5c90b | DURATION:0.001s | STATUS:success</a:t>
            </a:r>
            <a:br/>
            <a:r>
              <a:t>[METERLESS] 🟢 Agent:world_model_sim      | Op:execute | Trace:77b0567e | DURATION:0.003s | STATUS:success</a:t>
            </a:r>
            <a:br/>
            <a:r>
              <a:t>[METERLESS] 🟢 Agent:markovian_router     | Op:execute | Trace:19d7c2f8 | DURATION:0.001s | STATUS:success</a:t>
            </a:r>
            <a:br/>
            <a:r>
              <a:t>[METERLESS] 🟢 Agent:risk_dispatch        | Op:execute | Trace:1a065bc3 | DURATION:0.004s | STATUS:success (Cell Alert + Helo)</a:t>
            </a:r>
            <a:br/>
            <a:r>
              <a:t>[METERLESS] 🟢 Agent:evaluator            | Op:execute | Trace:c4d37faa | DURATION:0.002s | STATUS:success (Quality Gate Pass)</a:t>
            </a:r>
            <a:br/>
            <a:r>
              <a:t>[METERLESS] 🟢 Agent:reporter             | Op:execute | Trace:93566604 | DURATION:0.002s | STATUS:success (Audit Trace Landed)</a:t>
            </a:r>
            <a:br/>
            <a:r>
              <a:t>[METERLESS] ✅ PIPELINE COMPLETED: Total Latency: 0.016s | 10 Scenarios Passing | 0 Escalation Bottlenecks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515600" cy="640080"/>
          </a:xfrm>
          <a:prstGeom prst="rect">
            <a:avLst/>
          </a:prstGeom>
          <a:noFill/>
        </p:spPr>
        <p:txBody>
          <a:bodyPr wrap="square" anchor="t">
            <a:spAutoFit/>
          </a:bodyPr>
          <a:lstStyle/>
          <a:p>
            <a:pPr algn="l">
              <a:defRPr sz="3400" b="1">
                <a:solidFill>
                  <a:srgbClr val="FFFFFF"/>
                </a:solidFill>
                <a:latin typeface="Calibri"/>
              </a:defRPr>
            </a:pPr>
            <a:r>
              <a:t>Future Enhancements &amp; Roadmap</a:t>
            </a:r>
          </a:p>
        </p:txBody>
      </p:sp>
      <p:sp>
        <p:nvSpPr>
          <p:cNvPr id="4" name="TextBox 3"/>
          <p:cNvSpPr txBox="1"/>
          <p:nvPr/>
        </p:nvSpPr>
        <p:spPr>
          <a:xfrm>
            <a:off x="731520" y="868680"/>
            <a:ext cx="10515600" cy="365760"/>
          </a:xfrm>
          <a:prstGeom prst="rect">
            <a:avLst/>
          </a:prstGeom>
          <a:noFill/>
        </p:spPr>
        <p:txBody>
          <a:bodyPr wrap="square" anchor="t">
            <a:spAutoFit/>
          </a:bodyPr>
          <a:lstStyle/>
          <a:p>
            <a:pPr algn="l">
              <a:defRPr sz="1600" b="0">
                <a:solidFill>
                  <a:srgbClr val="F97316"/>
                </a:solidFill>
                <a:latin typeface="Calibri"/>
              </a:defRPr>
            </a:pPr>
            <a:r>
              <a:t>Strategic Path to Global Field Deployment and NGO Interoperability</a:t>
            </a:r>
          </a:p>
        </p:txBody>
      </p:sp>
      <p:sp>
        <p:nvSpPr>
          <p:cNvPr id="5" name="Rectangle 4"/>
          <p:cNvSpPr/>
          <p:nvPr/>
        </p:nvSpPr>
        <p:spPr>
          <a:xfrm>
            <a:off x="548640" y="1325880"/>
            <a:ext cx="2606040" cy="59436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371600"/>
            <a:ext cx="2606040" cy="502920"/>
          </a:xfrm>
          <a:prstGeom prst="rect">
            <a:avLst/>
          </a:prstGeom>
          <a:noFill/>
        </p:spPr>
        <p:txBody>
          <a:bodyPr wrap="square" anchor="t">
            <a:spAutoFit/>
          </a:bodyPr>
          <a:lstStyle/>
          <a:p>
            <a:pPr algn="ctr">
              <a:defRPr sz="1300" b="1">
                <a:solidFill>
                  <a:srgbClr val="FFFFFF"/>
                </a:solidFill>
                <a:latin typeface="Calibri"/>
              </a:defRPr>
            </a:pPr>
            <a:r>
              <a:t>Phase 1</a:t>
            </a:r>
            <a:br/>
            <a:r>
              <a:t>Post-Hackathon</a:t>
            </a:r>
          </a:p>
        </p:txBody>
      </p:sp>
      <p:sp>
        <p:nvSpPr>
          <p:cNvPr id="7" name="Rectangle 6"/>
          <p:cNvSpPr/>
          <p:nvPr/>
        </p:nvSpPr>
        <p:spPr>
          <a:xfrm>
            <a:off x="548640" y="1965960"/>
            <a:ext cx="2606040" cy="4480559"/>
          </a:xfrm>
          <a:prstGeom prst="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2103120"/>
            <a:ext cx="2331720" cy="365760"/>
          </a:xfrm>
          <a:prstGeom prst="rect">
            <a:avLst/>
          </a:prstGeom>
          <a:noFill/>
        </p:spPr>
        <p:txBody>
          <a:bodyPr wrap="square" anchor="t">
            <a:spAutoFit/>
          </a:bodyPr>
          <a:lstStyle/>
          <a:p>
            <a:pPr algn="l">
              <a:defRPr sz="1600" b="1">
                <a:solidFill>
                  <a:srgbClr val="EF4444"/>
                </a:solidFill>
                <a:latin typeface="Calibri"/>
              </a:defRPr>
            </a:pPr>
            <a:r>
              <a:t>Production Hardening</a:t>
            </a:r>
          </a:p>
        </p:txBody>
      </p:sp>
      <p:sp>
        <p:nvSpPr>
          <p:cNvPr id="9" name="TextBox 8"/>
          <p:cNvSpPr txBox="1"/>
          <p:nvPr/>
        </p:nvSpPr>
        <p:spPr>
          <a:xfrm>
            <a:off x="685800" y="2560320"/>
            <a:ext cx="2331720" cy="3566160"/>
          </a:xfrm>
          <a:prstGeom prst="rect">
            <a:avLst/>
          </a:prstGeom>
          <a:noFill/>
        </p:spPr>
        <p:txBody>
          <a:bodyPr wrap="square">
            <a:spAutoFit/>
          </a:bodyPr>
          <a:lstStyle/>
          <a:p>
            <a:pPr>
              <a:spcAft>
                <a:spcPts val="800"/>
              </a:spcAft>
              <a:defRPr sz="1200">
                <a:solidFill>
                  <a:srgbClr val="E2E8F0"/>
                </a:solidFill>
                <a:latin typeface="Calibri"/>
              </a:defRPr>
            </a:pPr>
            <a:r>
              <a:t>Production PostgreSQL cluster deployment</a:t>
            </a:r>
          </a:p>
          <a:p>
            <a:pPr>
              <a:spcAft>
                <a:spcPts val="800"/>
              </a:spcAft>
              <a:defRPr sz="1200">
                <a:solidFill>
                  <a:srgbClr val="E2E8F0"/>
                </a:solidFill>
                <a:latin typeface="Calibri"/>
              </a:defRPr>
            </a:pPr>
            <a:r>
              <a:t>Direct live Zetaris federated catalog hookup</a:t>
            </a:r>
          </a:p>
          <a:p>
            <a:pPr>
              <a:spcAft>
                <a:spcPts val="800"/>
              </a:spcAft>
              <a:defRPr sz="1200">
                <a:solidFill>
                  <a:srgbClr val="E2E8F0"/>
                </a:solidFill>
                <a:latin typeface="Calibri"/>
              </a:defRPr>
            </a:pPr>
            <a:r>
              <a:t>Helm charts &amp; Kubernetes auto-scaling</a:t>
            </a:r>
          </a:p>
          <a:p>
            <a:pPr>
              <a:spcAft>
                <a:spcPts val="800"/>
              </a:spcAft>
              <a:defRPr sz="1200">
                <a:solidFill>
                  <a:srgbClr val="E2E8F0"/>
                </a:solidFill>
                <a:latin typeface="Calibri"/>
              </a:defRPr>
            </a:pPr>
            <a:r>
              <a:t>Multi-region failover and disaster recovery</a:t>
            </a:r>
          </a:p>
          <a:p>
            <a:pPr>
              <a:spcAft>
                <a:spcPts val="800"/>
              </a:spcAft>
              <a:defRPr sz="1200">
                <a:solidFill>
                  <a:srgbClr val="E2E8F0"/>
                </a:solidFill>
                <a:latin typeface="Calibri"/>
              </a:defRPr>
            </a:pPr>
            <a:r>
              <a:t>Stress testing for 5,000+ concurrent streams</a:t>
            </a:r>
          </a:p>
        </p:txBody>
      </p:sp>
      <p:sp>
        <p:nvSpPr>
          <p:cNvPr id="10" name="Rectangle 9"/>
          <p:cNvSpPr/>
          <p:nvPr/>
        </p:nvSpPr>
        <p:spPr>
          <a:xfrm>
            <a:off x="3337560" y="1325880"/>
            <a:ext cx="2606040" cy="59436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337560" y="1371600"/>
            <a:ext cx="2606040" cy="502920"/>
          </a:xfrm>
          <a:prstGeom prst="rect">
            <a:avLst/>
          </a:prstGeom>
          <a:noFill/>
        </p:spPr>
        <p:txBody>
          <a:bodyPr wrap="square" anchor="t">
            <a:spAutoFit/>
          </a:bodyPr>
          <a:lstStyle/>
          <a:p>
            <a:pPr algn="ctr">
              <a:defRPr sz="1300" b="1">
                <a:solidFill>
                  <a:srgbClr val="FFFFFF"/>
                </a:solidFill>
                <a:latin typeface="Calibri"/>
              </a:defRPr>
            </a:pPr>
            <a:r>
              <a:t>Phase 2</a:t>
            </a:r>
            <a:br/>
            <a:r>
              <a:t>Q1 2027</a:t>
            </a:r>
          </a:p>
        </p:txBody>
      </p:sp>
      <p:sp>
        <p:nvSpPr>
          <p:cNvPr id="12" name="Rectangle 11"/>
          <p:cNvSpPr/>
          <p:nvPr/>
        </p:nvSpPr>
        <p:spPr>
          <a:xfrm>
            <a:off x="3337560" y="1965960"/>
            <a:ext cx="2606040" cy="4480559"/>
          </a:xfrm>
          <a:prstGeom prst="rect">
            <a:avLst/>
          </a:prstGeom>
          <a:solidFill>
            <a:srgbClr val="1E293B"/>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74720" y="2103120"/>
            <a:ext cx="2331720" cy="365760"/>
          </a:xfrm>
          <a:prstGeom prst="rect">
            <a:avLst/>
          </a:prstGeom>
          <a:noFill/>
        </p:spPr>
        <p:txBody>
          <a:bodyPr wrap="square" anchor="t">
            <a:spAutoFit/>
          </a:bodyPr>
          <a:lstStyle/>
          <a:p>
            <a:pPr algn="l">
              <a:defRPr sz="1600" b="1">
                <a:solidFill>
                  <a:srgbClr val="F97316"/>
                </a:solidFill>
                <a:latin typeface="Calibri"/>
              </a:defRPr>
            </a:pPr>
            <a:r>
              <a:t>Intelligence Expansion</a:t>
            </a:r>
          </a:p>
        </p:txBody>
      </p:sp>
      <p:sp>
        <p:nvSpPr>
          <p:cNvPr id="14" name="TextBox 13"/>
          <p:cNvSpPr txBox="1"/>
          <p:nvPr/>
        </p:nvSpPr>
        <p:spPr>
          <a:xfrm>
            <a:off x="3474720" y="2560320"/>
            <a:ext cx="2331720" cy="3566160"/>
          </a:xfrm>
          <a:prstGeom prst="rect">
            <a:avLst/>
          </a:prstGeom>
          <a:noFill/>
        </p:spPr>
        <p:txBody>
          <a:bodyPr wrap="square">
            <a:spAutoFit/>
          </a:bodyPr>
          <a:lstStyle/>
          <a:p>
            <a:pPr>
              <a:spcAft>
                <a:spcPts val="800"/>
              </a:spcAft>
              <a:defRPr sz="1200">
                <a:solidFill>
                  <a:srgbClr val="E2E8F0"/>
                </a:solidFill>
                <a:latin typeface="Calibri"/>
              </a:defRPr>
            </a:pPr>
            <a:r>
              <a:t>Multimodal Sentinel-1 SAR + Optical fusion</a:t>
            </a:r>
          </a:p>
          <a:p>
            <a:pPr>
              <a:spcAft>
                <a:spcPts val="800"/>
              </a:spcAft>
              <a:defRPr sz="1200">
                <a:solidFill>
                  <a:srgbClr val="E2E8F0"/>
                </a:solidFill>
                <a:latin typeface="Calibri"/>
              </a:defRPr>
            </a:pPr>
            <a:r>
              <a:t>On-premise Llama-3.1-8B situational reports</a:t>
            </a:r>
          </a:p>
          <a:p>
            <a:pPr>
              <a:spcAft>
                <a:spcPts val="800"/>
              </a:spcAft>
              <a:defRPr sz="1200">
                <a:solidFill>
                  <a:srgbClr val="E2E8F0"/>
                </a:solidFill>
                <a:latin typeface="Calibri"/>
              </a:defRPr>
            </a:pPr>
            <a:r>
              <a:t>72-hour predictive hydrologic surge modeling</a:t>
            </a:r>
          </a:p>
          <a:p>
            <a:pPr>
              <a:spcAft>
                <a:spcPts val="800"/>
              </a:spcAft>
              <a:defRPr sz="1200">
                <a:solidFill>
                  <a:srgbClr val="E2E8F0"/>
                </a:solidFill>
                <a:latin typeface="Calibri"/>
              </a:defRPr>
            </a:pPr>
            <a:r>
              <a:t>Community crowdsourced ground truth validation</a:t>
            </a:r>
          </a:p>
          <a:p>
            <a:pPr>
              <a:spcAft>
                <a:spcPts val="800"/>
              </a:spcAft>
              <a:defRPr sz="1200">
                <a:solidFill>
                  <a:srgbClr val="E2E8F0"/>
                </a:solidFill>
                <a:latin typeface="Calibri"/>
              </a:defRPr>
            </a:pPr>
            <a:r>
              <a:t>Mobile PWA for field first responders</a:t>
            </a:r>
          </a:p>
        </p:txBody>
      </p:sp>
      <p:sp>
        <p:nvSpPr>
          <p:cNvPr id="15" name="Rectangle 14"/>
          <p:cNvSpPr/>
          <p:nvPr/>
        </p:nvSpPr>
        <p:spPr>
          <a:xfrm>
            <a:off x="6126479" y="1325880"/>
            <a:ext cx="2606040" cy="594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126479" y="1371600"/>
            <a:ext cx="2606040" cy="502920"/>
          </a:xfrm>
          <a:prstGeom prst="rect">
            <a:avLst/>
          </a:prstGeom>
          <a:noFill/>
        </p:spPr>
        <p:txBody>
          <a:bodyPr wrap="square" anchor="t">
            <a:spAutoFit/>
          </a:bodyPr>
          <a:lstStyle/>
          <a:p>
            <a:pPr algn="ctr">
              <a:defRPr sz="1300" b="1">
                <a:solidFill>
                  <a:srgbClr val="FFFFFF"/>
                </a:solidFill>
                <a:latin typeface="Calibri"/>
              </a:defRPr>
            </a:pPr>
            <a:r>
              <a:t>Phase 3</a:t>
            </a:r>
            <a:br/>
            <a:r>
              <a:t>Q2 2027</a:t>
            </a:r>
          </a:p>
        </p:txBody>
      </p:sp>
      <p:sp>
        <p:nvSpPr>
          <p:cNvPr id="17" name="Rectangle 16"/>
          <p:cNvSpPr/>
          <p:nvPr/>
        </p:nvSpPr>
        <p:spPr>
          <a:xfrm>
            <a:off x="6126479" y="1965960"/>
            <a:ext cx="2606040" cy="4480559"/>
          </a:xfrm>
          <a:prstGeom prst="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63640" y="2103120"/>
            <a:ext cx="2331720" cy="365760"/>
          </a:xfrm>
          <a:prstGeom prst="rect">
            <a:avLst/>
          </a:prstGeom>
          <a:noFill/>
        </p:spPr>
        <p:txBody>
          <a:bodyPr wrap="square" anchor="t">
            <a:spAutoFit/>
          </a:bodyPr>
          <a:lstStyle/>
          <a:p>
            <a:pPr algn="l">
              <a:defRPr sz="1600" b="1">
                <a:solidFill>
                  <a:srgbClr val="3B82F6"/>
                </a:solidFill>
                <a:latin typeface="Calibri"/>
              </a:defRPr>
            </a:pPr>
            <a:r>
              <a:t>Ecosystem &amp; NGO Scale</a:t>
            </a:r>
          </a:p>
        </p:txBody>
      </p:sp>
      <p:sp>
        <p:nvSpPr>
          <p:cNvPr id="19" name="TextBox 18"/>
          <p:cNvSpPr txBox="1"/>
          <p:nvPr/>
        </p:nvSpPr>
        <p:spPr>
          <a:xfrm>
            <a:off x="6263640" y="2560320"/>
            <a:ext cx="2331720" cy="3566160"/>
          </a:xfrm>
          <a:prstGeom prst="rect">
            <a:avLst/>
          </a:prstGeom>
          <a:noFill/>
        </p:spPr>
        <p:txBody>
          <a:bodyPr wrap="square">
            <a:spAutoFit/>
          </a:bodyPr>
          <a:lstStyle/>
          <a:p>
            <a:pPr>
              <a:spcAft>
                <a:spcPts val="800"/>
              </a:spcAft>
              <a:defRPr sz="1200">
                <a:solidFill>
                  <a:srgbClr val="E2E8F0"/>
                </a:solidFill>
                <a:latin typeface="Calibri"/>
              </a:defRPr>
            </a:pPr>
            <a:r>
              <a:t>UN OCHA &amp; Red Cross CAP alert protocol integration</a:t>
            </a:r>
          </a:p>
          <a:p>
            <a:pPr>
              <a:spcAft>
                <a:spcPts val="800"/>
              </a:spcAft>
              <a:defRPr sz="1200">
                <a:solidFill>
                  <a:srgbClr val="E2E8F0"/>
                </a:solidFill>
                <a:latin typeface="Calibri"/>
              </a:defRPr>
            </a:pPr>
            <a:r>
              <a:t>Cross-jurisdictional data sharing federation</a:t>
            </a:r>
          </a:p>
          <a:p>
            <a:pPr>
              <a:spcAft>
                <a:spcPts val="800"/>
              </a:spcAft>
              <a:defRPr sz="1200">
                <a:solidFill>
                  <a:srgbClr val="E2E8F0"/>
                </a:solidFill>
                <a:latin typeface="Calibri"/>
              </a:defRPr>
            </a:pPr>
            <a:r>
              <a:t>Plugin marketplace for specialized rescue agents</a:t>
            </a:r>
          </a:p>
          <a:p>
            <a:pPr>
              <a:spcAft>
                <a:spcPts val="800"/>
              </a:spcAft>
              <a:defRPr sz="1200">
                <a:solidFill>
                  <a:srgbClr val="E2E8F0"/>
                </a:solidFill>
                <a:latin typeface="Calibri"/>
              </a:defRPr>
            </a:pPr>
            <a:r>
              <a:t>Reinsurance parametric payout automation</a:t>
            </a:r>
          </a:p>
          <a:p>
            <a:pPr>
              <a:spcAft>
                <a:spcPts val="800"/>
              </a:spcAft>
              <a:defRPr sz="1200">
                <a:solidFill>
                  <a:srgbClr val="E2E8F0"/>
                </a:solidFill>
                <a:latin typeface="Calibri"/>
              </a:defRPr>
            </a:pPr>
            <a:r>
              <a:t>Multi-national disaster drill simulations</a:t>
            </a:r>
          </a:p>
        </p:txBody>
      </p:sp>
      <p:sp>
        <p:nvSpPr>
          <p:cNvPr id="20" name="Rectangle 19"/>
          <p:cNvSpPr/>
          <p:nvPr/>
        </p:nvSpPr>
        <p:spPr>
          <a:xfrm>
            <a:off x="8915399" y="1325880"/>
            <a:ext cx="2606040" cy="59436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915399" y="1371600"/>
            <a:ext cx="2606040" cy="502920"/>
          </a:xfrm>
          <a:prstGeom prst="rect">
            <a:avLst/>
          </a:prstGeom>
          <a:noFill/>
        </p:spPr>
        <p:txBody>
          <a:bodyPr wrap="square" anchor="t">
            <a:spAutoFit/>
          </a:bodyPr>
          <a:lstStyle/>
          <a:p>
            <a:pPr algn="ctr">
              <a:defRPr sz="1300" b="1">
                <a:solidFill>
                  <a:srgbClr val="FFFFFF"/>
                </a:solidFill>
                <a:latin typeface="Calibri"/>
              </a:defRPr>
            </a:pPr>
            <a:r>
              <a:t>Phase 4</a:t>
            </a:r>
            <a:br/>
            <a:r>
              <a:t>Q3 2027</a:t>
            </a:r>
          </a:p>
        </p:txBody>
      </p:sp>
      <p:sp>
        <p:nvSpPr>
          <p:cNvPr id="22" name="Rectangle 21"/>
          <p:cNvSpPr/>
          <p:nvPr/>
        </p:nvSpPr>
        <p:spPr>
          <a:xfrm>
            <a:off x="8915399" y="1965960"/>
            <a:ext cx="2606040" cy="4480559"/>
          </a:xfrm>
          <a:prstGeom prst="rect">
            <a:avLst/>
          </a:prstGeom>
          <a:solidFill>
            <a:srgbClr val="1E293B"/>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052559" y="2103120"/>
            <a:ext cx="2331720" cy="365760"/>
          </a:xfrm>
          <a:prstGeom prst="rect">
            <a:avLst/>
          </a:prstGeom>
          <a:noFill/>
        </p:spPr>
        <p:txBody>
          <a:bodyPr wrap="square" anchor="t">
            <a:spAutoFit/>
          </a:bodyPr>
          <a:lstStyle/>
          <a:p>
            <a:pPr algn="l">
              <a:defRPr sz="1600" b="1">
                <a:solidFill>
                  <a:srgbClr val="22C55E"/>
                </a:solidFill>
                <a:latin typeface="Calibri"/>
              </a:defRPr>
            </a:pPr>
            <a:r>
              <a:t>Autonomous Edge Mesh</a:t>
            </a:r>
          </a:p>
        </p:txBody>
      </p:sp>
      <p:sp>
        <p:nvSpPr>
          <p:cNvPr id="24" name="TextBox 23"/>
          <p:cNvSpPr txBox="1"/>
          <p:nvPr/>
        </p:nvSpPr>
        <p:spPr>
          <a:xfrm>
            <a:off x="9052559" y="2560320"/>
            <a:ext cx="2331720" cy="3566160"/>
          </a:xfrm>
          <a:prstGeom prst="rect">
            <a:avLst/>
          </a:prstGeom>
          <a:noFill/>
        </p:spPr>
        <p:txBody>
          <a:bodyPr wrap="square">
            <a:spAutoFit/>
          </a:bodyPr>
          <a:lstStyle/>
          <a:p>
            <a:pPr>
              <a:spcAft>
                <a:spcPts val="800"/>
              </a:spcAft>
              <a:defRPr sz="1200">
                <a:solidFill>
                  <a:srgbClr val="E2E8F0"/>
                </a:solidFill>
                <a:latin typeface="Calibri"/>
              </a:defRPr>
            </a:pPr>
            <a:r>
              <a:t>Ruggedized edge deployment on Raspberry Pi 5</a:t>
            </a:r>
          </a:p>
          <a:p>
            <a:pPr>
              <a:spcAft>
                <a:spcPts val="800"/>
              </a:spcAft>
              <a:defRPr sz="1200">
                <a:solidFill>
                  <a:srgbClr val="E2E8F0"/>
                </a:solidFill>
                <a:latin typeface="Calibri"/>
              </a:defRPr>
            </a:pPr>
            <a:r>
              <a:t>Starlink direct satellite uplink integration</a:t>
            </a:r>
          </a:p>
          <a:p>
            <a:pPr>
              <a:spcAft>
                <a:spcPts val="800"/>
              </a:spcAft>
              <a:defRPr sz="1200">
                <a:solidFill>
                  <a:srgbClr val="E2E8F0"/>
                </a:solidFill>
                <a:latin typeface="Calibri"/>
              </a:defRPr>
            </a:pPr>
            <a:r>
              <a:t>LoRaWAN ad-hoc responder mesh networking</a:t>
            </a:r>
          </a:p>
          <a:p>
            <a:pPr>
              <a:spcAft>
                <a:spcPts val="800"/>
              </a:spcAft>
              <a:defRPr sz="1200">
                <a:solidFill>
                  <a:srgbClr val="E2E8F0"/>
                </a:solidFill>
                <a:latin typeface="Calibri"/>
              </a:defRPr>
            </a:pPr>
            <a:r>
              <a:t>Self-healing agent cluster synchronization</a:t>
            </a:r>
          </a:p>
          <a:p>
            <a:pPr>
              <a:spcAft>
                <a:spcPts val="800"/>
              </a:spcAft>
              <a:defRPr sz="1200">
                <a:solidFill>
                  <a:srgbClr val="E2E8F0"/>
                </a:solidFill>
                <a:latin typeface="Calibri"/>
              </a:defRPr>
            </a:pPr>
            <a:r>
              <a:t>ISO / FEMA standard compliance certification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515600" cy="640080"/>
          </a:xfrm>
          <a:prstGeom prst="rect">
            <a:avLst/>
          </a:prstGeom>
          <a:noFill/>
        </p:spPr>
        <p:txBody>
          <a:bodyPr wrap="square" anchor="t">
            <a:spAutoFit/>
          </a:bodyPr>
          <a:lstStyle/>
          <a:p>
            <a:pPr algn="l">
              <a:defRPr sz="3400" b="1">
                <a:solidFill>
                  <a:srgbClr val="FFFFFF"/>
                </a:solidFill>
                <a:latin typeface="Calibri"/>
              </a:defRPr>
            </a:pPr>
            <a:r>
              <a:t>Submission Checklist &amp; Verification ✅</a:t>
            </a:r>
          </a:p>
        </p:txBody>
      </p:sp>
      <p:sp>
        <p:nvSpPr>
          <p:cNvPr id="4" name="TextBox 3"/>
          <p:cNvSpPr txBox="1"/>
          <p:nvPr/>
        </p:nvSpPr>
        <p:spPr>
          <a:xfrm>
            <a:off x="731520" y="868680"/>
            <a:ext cx="10515600" cy="365760"/>
          </a:xfrm>
          <a:prstGeom prst="rect">
            <a:avLst/>
          </a:prstGeom>
          <a:noFill/>
        </p:spPr>
        <p:txBody>
          <a:bodyPr wrap="square" anchor="t">
            <a:spAutoFit/>
          </a:bodyPr>
          <a:lstStyle/>
          <a:p>
            <a:pPr algn="l">
              <a:defRPr sz="1600" b="0">
                <a:solidFill>
                  <a:srgbClr val="F97316"/>
                </a:solidFill>
                <a:latin typeface="Calibri"/>
              </a:defRPr>
            </a:pPr>
            <a:r>
              <a:t>Open Agent Hackathon 2026  •  Track 1: Solving Fragmented Intelligence</a:t>
            </a:r>
          </a:p>
        </p:txBody>
      </p:sp>
      <p:sp>
        <p:nvSpPr>
          <p:cNvPr id="5" name="TextBox 4"/>
          <p:cNvSpPr txBox="1"/>
          <p:nvPr/>
        </p:nvSpPr>
        <p:spPr>
          <a:xfrm>
            <a:off x="731520" y="1325880"/>
            <a:ext cx="411480" cy="384048"/>
          </a:xfrm>
          <a:prstGeom prst="rect">
            <a:avLst/>
          </a:prstGeom>
          <a:noFill/>
        </p:spPr>
        <p:txBody>
          <a:bodyPr wrap="square" anchor="t">
            <a:spAutoFit/>
          </a:bodyPr>
          <a:lstStyle/>
          <a:p>
            <a:pPr algn="ctr">
              <a:defRPr sz="1600" b="1">
                <a:solidFill>
                  <a:srgbClr val="22C55E"/>
                </a:solidFill>
                <a:latin typeface="Calibri"/>
              </a:defRPr>
            </a:pPr>
            <a:r>
              <a:t>✅</a:t>
            </a:r>
          </a:p>
        </p:txBody>
      </p:sp>
      <p:sp>
        <p:nvSpPr>
          <p:cNvPr id="6" name="TextBox 5"/>
          <p:cNvSpPr txBox="1"/>
          <p:nvPr/>
        </p:nvSpPr>
        <p:spPr>
          <a:xfrm>
            <a:off x="1234440" y="1325880"/>
            <a:ext cx="2926080" cy="384048"/>
          </a:xfrm>
          <a:prstGeom prst="rect">
            <a:avLst/>
          </a:prstGeom>
          <a:noFill/>
        </p:spPr>
        <p:txBody>
          <a:bodyPr wrap="square" anchor="t">
            <a:spAutoFit/>
          </a:bodyPr>
          <a:lstStyle/>
          <a:p>
            <a:pPr algn="l">
              <a:defRPr sz="1400" b="1">
                <a:solidFill>
                  <a:srgbClr val="FFFFFF"/>
                </a:solidFill>
                <a:latin typeface="Calibri"/>
              </a:defRPr>
            </a:pPr>
            <a:r>
              <a:t>Demo Video Walkthrough</a:t>
            </a:r>
          </a:p>
        </p:txBody>
      </p:sp>
      <p:sp>
        <p:nvSpPr>
          <p:cNvPr id="7" name="TextBox 6"/>
          <p:cNvSpPr txBox="1"/>
          <p:nvPr/>
        </p:nvSpPr>
        <p:spPr>
          <a:xfrm>
            <a:off x="4251960" y="1325880"/>
            <a:ext cx="7132320" cy="384048"/>
          </a:xfrm>
          <a:prstGeom prst="rect">
            <a:avLst/>
          </a:prstGeom>
          <a:noFill/>
        </p:spPr>
        <p:txBody>
          <a:bodyPr wrap="square" anchor="t">
            <a:spAutoFit/>
          </a:bodyPr>
          <a:lstStyle/>
          <a:p>
            <a:pPr algn="l">
              <a:defRPr sz="1200" b="0">
                <a:solidFill>
                  <a:srgbClr val="E2E8F0"/>
                </a:solidFill>
                <a:latin typeface="Calibri"/>
              </a:defRPr>
            </a:pPr>
            <a:r>
              <a:t>Complete recorded walkthrough showing UI, pipeline execution, and sponsor integrations.</a:t>
            </a:r>
          </a:p>
        </p:txBody>
      </p:sp>
      <p:sp>
        <p:nvSpPr>
          <p:cNvPr id="8" name="TextBox 7"/>
          <p:cNvSpPr txBox="1"/>
          <p:nvPr/>
        </p:nvSpPr>
        <p:spPr>
          <a:xfrm>
            <a:off x="731520" y="1773936"/>
            <a:ext cx="411480" cy="384048"/>
          </a:xfrm>
          <a:prstGeom prst="rect">
            <a:avLst/>
          </a:prstGeom>
          <a:noFill/>
        </p:spPr>
        <p:txBody>
          <a:bodyPr wrap="square" anchor="t">
            <a:spAutoFit/>
          </a:bodyPr>
          <a:lstStyle/>
          <a:p>
            <a:pPr algn="ctr">
              <a:defRPr sz="1600" b="1">
                <a:solidFill>
                  <a:srgbClr val="22C55E"/>
                </a:solidFill>
                <a:latin typeface="Calibri"/>
              </a:defRPr>
            </a:pPr>
            <a:r>
              <a:t>✅</a:t>
            </a:r>
          </a:p>
        </p:txBody>
      </p:sp>
      <p:sp>
        <p:nvSpPr>
          <p:cNvPr id="9" name="TextBox 8"/>
          <p:cNvSpPr txBox="1"/>
          <p:nvPr/>
        </p:nvSpPr>
        <p:spPr>
          <a:xfrm>
            <a:off x="1234440" y="1773936"/>
            <a:ext cx="2926080" cy="384048"/>
          </a:xfrm>
          <a:prstGeom prst="rect">
            <a:avLst/>
          </a:prstGeom>
          <a:noFill/>
        </p:spPr>
        <p:txBody>
          <a:bodyPr wrap="square" anchor="t">
            <a:spAutoFit/>
          </a:bodyPr>
          <a:lstStyle/>
          <a:p>
            <a:pPr algn="l">
              <a:defRPr sz="1400" b="1">
                <a:solidFill>
                  <a:srgbClr val="FFFFFF"/>
                </a:solidFill>
                <a:latin typeface="Calibri"/>
              </a:defRPr>
            </a:pPr>
            <a:r>
              <a:t>Slide Pitch Deck</a:t>
            </a:r>
          </a:p>
        </p:txBody>
      </p:sp>
      <p:sp>
        <p:nvSpPr>
          <p:cNvPr id="10" name="TextBox 9"/>
          <p:cNvSpPr txBox="1"/>
          <p:nvPr/>
        </p:nvSpPr>
        <p:spPr>
          <a:xfrm>
            <a:off x="4251960" y="1773936"/>
            <a:ext cx="7132320" cy="384048"/>
          </a:xfrm>
          <a:prstGeom prst="rect">
            <a:avLst/>
          </a:prstGeom>
          <a:noFill/>
        </p:spPr>
        <p:txBody>
          <a:bodyPr wrap="square" anchor="t">
            <a:spAutoFit/>
          </a:bodyPr>
          <a:lstStyle/>
          <a:p>
            <a:pPr algn="l">
              <a:defRPr sz="1200" b="0">
                <a:solidFill>
                  <a:srgbClr val="E2E8F0"/>
                </a:solidFill>
                <a:latin typeface="Calibri"/>
              </a:defRPr>
            </a:pPr>
            <a:r>
              <a:t>10-slide comprehensive deck covering architecture, benchmarks, sponsor tech, and roadmap.</a:t>
            </a:r>
          </a:p>
        </p:txBody>
      </p:sp>
      <p:sp>
        <p:nvSpPr>
          <p:cNvPr id="11" name="TextBox 10"/>
          <p:cNvSpPr txBox="1"/>
          <p:nvPr/>
        </p:nvSpPr>
        <p:spPr>
          <a:xfrm>
            <a:off x="731520" y="2221991"/>
            <a:ext cx="411480" cy="384048"/>
          </a:xfrm>
          <a:prstGeom prst="rect">
            <a:avLst/>
          </a:prstGeom>
          <a:noFill/>
        </p:spPr>
        <p:txBody>
          <a:bodyPr wrap="square" anchor="t">
            <a:spAutoFit/>
          </a:bodyPr>
          <a:lstStyle/>
          <a:p>
            <a:pPr algn="ctr">
              <a:defRPr sz="1600" b="1">
                <a:solidFill>
                  <a:srgbClr val="22C55E"/>
                </a:solidFill>
                <a:latin typeface="Calibri"/>
              </a:defRPr>
            </a:pPr>
            <a:r>
              <a:t>✅</a:t>
            </a:r>
          </a:p>
        </p:txBody>
      </p:sp>
      <p:sp>
        <p:nvSpPr>
          <p:cNvPr id="12" name="TextBox 11"/>
          <p:cNvSpPr txBox="1"/>
          <p:nvPr/>
        </p:nvSpPr>
        <p:spPr>
          <a:xfrm>
            <a:off x="1234440" y="2221991"/>
            <a:ext cx="2926080" cy="384048"/>
          </a:xfrm>
          <a:prstGeom prst="rect">
            <a:avLst/>
          </a:prstGeom>
          <a:noFill/>
        </p:spPr>
        <p:txBody>
          <a:bodyPr wrap="square" anchor="t">
            <a:spAutoFit/>
          </a:bodyPr>
          <a:lstStyle/>
          <a:p>
            <a:pPr algn="l">
              <a:defRPr sz="1400" b="1">
                <a:solidFill>
                  <a:srgbClr val="FFFFFF"/>
                </a:solidFill>
                <a:latin typeface="Calibri"/>
              </a:defRPr>
            </a:pPr>
            <a:r>
              <a:t>GitHub Source Code</a:t>
            </a:r>
          </a:p>
        </p:txBody>
      </p:sp>
      <p:sp>
        <p:nvSpPr>
          <p:cNvPr id="13" name="TextBox 12"/>
          <p:cNvSpPr txBox="1"/>
          <p:nvPr/>
        </p:nvSpPr>
        <p:spPr>
          <a:xfrm>
            <a:off x="4251960" y="2221991"/>
            <a:ext cx="7132320" cy="384048"/>
          </a:xfrm>
          <a:prstGeom prst="rect">
            <a:avLst/>
          </a:prstGeom>
          <a:noFill/>
        </p:spPr>
        <p:txBody>
          <a:bodyPr wrap="square" anchor="t">
            <a:spAutoFit/>
          </a:bodyPr>
          <a:lstStyle/>
          <a:p>
            <a:pPr algn="l">
              <a:defRPr sz="1200" b="0">
                <a:solidFill>
                  <a:srgbClr val="E2E8F0"/>
                </a:solidFill>
                <a:latin typeface="Calibri"/>
              </a:defRPr>
            </a:pPr>
            <a:r>
              <a:t>Full repository with clean commit history, modular agents, and comprehensive documentation.</a:t>
            </a:r>
          </a:p>
        </p:txBody>
      </p:sp>
      <p:sp>
        <p:nvSpPr>
          <p:cNvPr id="14" name="TextBox 13"/>
          <p:cNvSpPr txBox="1"/>
          <p:nvPr/>
        </p:nvSpPr>
        <p:spPr>
          <a:xfrm>
            <a:off x="731520" y="2670048"/>
            <a:ext cx="411480" cy="384048"/>
          </a:xfrm>
          <a:prstGeom prst="rect">
            <a:avLst/>
          </a:prstGeom>
          <a:noFill/>
        </p:spPr>
        <p:txBody>
          <a:bodyPr wrap="square" anchor="t">
            <a:spAutoFit/>
          </a:bodyPr>
          <a:lstStyle/>
          <a:p>
            <a:pPr algn="ctr">
              <a:defRPr sz="1600" b="1">
                <a:solidFill>
                  <a:srgbClr val="22C55E"/>
                </a:solidFill>
                <a:latin typeface="Calibri"/>
              </a:defRPr>
            </a:pPr>
            <a:r>
              <a:t>✅</a:t>
            </a:r>
          </a:p>
        </p:txBody>
      </p:sp>
      <p:sp>
        <p:nvSpPr>
          <p:cNvPr id="15" name="TextBox 14"/>
          <p:cNvSpPr txBox="1"/>
          <p:nvPr/>
        </p:nvSpPr>
        <p:spPr>
          <a:xfrm>
            <a:off x="1234440" y="2670048"/>
            <a:ext cx="2926080" cy="384048"/>
          </a:xfrm>
          <a:prstGeom prst="rect">
            <a:avLst/>
          </a:prstGeom>
          <a:noFill/>
        </p:spPr>
        <p:txBody>
          <a:bodyPr wrap="square" anchor="t">
            <a:spAutoFit/>
          </a:bodyPr>
          <a:lstStyle/>
          <a:p>
            <a:pPr algn="l">
              <a:defRPr sz="1400" b="1">
                <a:solidFill>
                  <a:srgbClr val="FFFFFF"/>
                </a:solidFill>
                <a:latin typeface="Calibri"/>
              </a:defRPr>
            </a:pPr>
            <a:r>
              <a:t>Zetaris Integration</a:t>
            </a:r>
          </a:p>
        </p:txBody>
      </p:sp>
      <p:sp>
        <p:nvSpPr>
          <p:cNvPr id="16" name="TextBox 15"/>
          <p:cNvSpPr txBox="1"/>
          <p:nvPr/>
        </p:nvSpPr>
        <p:spPr>
          <a:xfrm>
            <a:off x="4251960" y="2670048"/>
            <a:ext cx="7132320" cy="384048"/>
          </a:xfrm>
          <a:prstGeom prst="rect">
            <a:avLst/>
          </a:prstGeom>
          <a:noFill/>
        </p:spPr>
        <p:txBody>
          <a:bodyPr wrap="square" anchor="t">
            <a:spAutoFit/>
          </a:bodyPr>
          <a:lstStyle/>
          <a:p>
            <a:pPr algn="l">
              <a:defRPr sz="1200" b="0">
                <a:solidFill>
                  <a:srgbClr val="E2E8F0"/>
                </a:solidFill>
                <a:latin typeface="Calibri"/>
              </a:defRPr>
            </a:pPr>
            <a:r>
              <a:t>USL data federation, sensor schema registry, and spatial join logic implemented.</a:t>
            </a:r>
          </a:p>
        </p:txBody>
      </p:sp>
      <p:sp>
        <p:nvSpPr>
          <p:cNvPr id="17" name="TextBox 16"/>
          <p:cNvSpPr txBox="1"/>
          <p:nvPr/>
        </p:nvSpPr>
        <p:spPr>
          <a:xfrm>
            <a:off x="731520" y="3118104"/>
            <a:ext cx="411480" cy="384048"/>
          </a:xfrm>
          <a:prstGeom prst="rect">
            <a:avLst/>
          </a:prstGeom>
          <a:noFill/>
        </p:spPr>
        <p:txBody>
          <a:bodyPr wrap="square" anchor="t">
            <a:spAutoFit/>
          </a:bodyPr>
          <a:lstStyle/>
          <a:p>
            <a:pPr algn="ctr">
              <a:defRPr sz="1600" b="1">
                <a:solidFill>
                  <a:srgbClr val="22C55E"/>
                </a:solidFill>
                <a:latin typeface="Calibri"/>
              </a:defRPr>
            </a:pPr>
            <a:r>
              <a:t>✅</a:t>
            </a:r>
          </a:p>
        </p:txBody>
      </p:sp>
      <p:sp>
        <p:nvSpPr>
          <p:cNvPr id="18" name="TextBox 17"/>
          <p:cNvSpPr txBox="1"/>
          <p:nvPr/>
        </p:nvSpPr>
        <p:spPr>
          <a:xfrm>
            <a:off x="1234440" y="3118104"/>
            <a:ext cx="2926080" cy="384048"/>
          </a:xfrm>
          <a:prstGeom prst="rect">
            <a:avLst/>
          </a:prstGeom>
          <a:noFill/>
        </p:spPr>
        <p:txBody>
          <a:bodyPr wrap="square" anchor="t">
            <a:spAutoFit/>
          </a:bodyPr>
          <a:lstStyle/>
          <a:p>
            <a:pPr algn="l">
              <a:defRPr sz="1400" b="1">
                <a:solidFill>
                  <a:srgbClr val="FFFFFF"/>
                </a:solidFill>
                <a:latin typeface="Calibri"/>
              </a:defRPr>
            </a:pPr>
            <a:r>
              <a:t>Meterless Integration</a:t>
            </a:r>
          </a:p>
        </p:txBody>
      </p:sp>
      <p:sp>
        <p:nvSpPr>
          <p:cNvPr id="19" name="TextBox 18"/>
          <p:cNvSpPr txBox="1"/>
          <p:nvPr/>
        </p:nvSpPr>
        <p:spPr>
          <a:xfrm>
            <a:off x="4251960" y="3118104"/>
            <a:ext cx="7132320" cy="384048"/>
          </a:xfrm>
          <a:prstGeom prst="rect">
            <a:avLst/>
          </a:prstGeom>
          <a:noFill/>
        </p:spPr>
        <p:txBody>
          <a:bodyPr wrap="square" anchor="t">
            <a:spAutoFit/>
          </a:bodyPr>
          <a:lstStyle/>
          <a:p>
            <a:pPr algn="l">
              <a:defRPr sz="1200" b="0">
                <a:solidFill>
                  <a:srgbClr val="E2E8F0"/>
                </a:solidFill>
                <a:latin typeface="Calibri"/>
              </a:defRPr>
            </a:pPr>
            <a:r>
              <a:t>H-Mem cross-agency SOP memory, Markovian routing, and millisecond tracing decorators.</a:t>
            </a:r>
          </a:p>
        </p:txBody>
      </p:sp>
      <p:sp>
        <p:nvSpPr>
          <p:cNvPr id="20" name="TextBox 19"/>
          <p:cNvSpPr txBox="1"/>
          <p:nvPr/>
        </p:nvSpPr>
        <p:spPr>
          <a:xfrm>
            <a:off x="731520" y="3566160"/>
            <a:ext cx="411480" cy="384048"/>
          </a:xfrm>
          <a:prstGeom prst="rect">
            <a:avLst/>
          </a:prstGeom>
          <a:noFill/>
        </p:spPr>
        <p:txBody>
          <a:bodyPr wrap="square" anchor="t">
            <a:spAutoFit/>
          </a:bodyPr>
          <a:lstStyle/>
          <a:p>
            <a:pPr algn="ctr">
              <a:defRPr sz="1600" b="1">
                <a:solidFill>
                  <a:srgbClr val="22C55E"/>
                </a:solidFill>
                <a:latin typeface="Calibri"/>
              </a:defRPr>
            </a:pPr>
            <a:r>
              <a:t>✅</a:t>
            </a:r>
          </a:p>
        </p:txBody>
      </p:sp>
      <p:sp>
        <p:nvSpPr>
          <p:cNvPr id="21" name="TextBox 20"/>
          <p:cNvSpPr txBox="1"/>
          <p:nvPr/>
        </p:nvSpPr>
        <p:spPr>
          <a:xfrm>
            <a:off x="1234440" y="3566160"/>
            <a:ext cx="2926080" cy="384048"/>
          </a:xfrm>
          <a:prstGeom prst="rect">
            <a:avLst/>
          </a:prstGeom>
          <a:noFill/>
        </p:spPr>
        <p:txBody>
          <a:bodyPr wrap="square" anchor="t">
            <a:spAutoFit/>
          </a:bodyPr>
          <a:lstStyle/>
          <a:p>
            <a:pPr algn="l">
              <a:defRPr sz="1400" b="1">
                <a:solidFill>
                  <a:srgbClr val="FFFFFF"/>
                </a:solidFill>
                <a:latin typeface="Calibri"/>
              </a:defRPr>
            </a:pPr>
            <a:r>
              <a:t>NVIDIA Integration</a:t>
            </a:r>
          </a:p>
        </p:txBody>
      </p:sp>
      <p:sp>
        <p:nvSpPr>
          <p:cNvPr id="22" name="TextBox 21"/>
          <p:cNvSpPr txBox="1"/>
          <p:nvPr/>
        </p:nvSpPr>
        <p:spPr>
          <a:xfrm>
            <a:off x="4251960" y="3566160"/>
            <a:ext cx="7132320" cy="384048"/>
          </a:xfrm>
          <a:prstGeom prst="rect">
            <a:avLst/>
          </a:prstGeom>
          <a:noFill/>
        </p:spPr>
        <p:txBody>
          <a:bodyPr wrap="square" anchor="t">
            <a:spAutoFit/>
          </a:bodyPr>
          <a:lstStyle/>
          <a:p>
            <a:pPr algn="l">
              <a:defRPr sz="1200" b="0">
                <a:solidFill>
                  <a:srgbClr val="E2E8F0"/>
                </a:solidFill>
                <a:latin typeface="Calibri"/>
              </a:defRPr>
            </a:pPr>
            <a:r>
              <a:t>CUDA embeddings for survivor deduplication and GPU hydraulic risk propagation.</a:t>
            </a:r>
          </a:p>
        </p:txBody>
      </p:sp>
      <p:sp>
        <p:nvSpPr>
          <p:cNvPr id="23" name="TextBox 22"/>
          <p:cNvSpPr txBox="1"/>
          <p:nvPr/>
        </p:nvSpPr>
        <p:spPr>
          <a:xfrm>
            <a:off x="731520" y="4014215"/>
            <a:ext cx="411480" cy="384048"/>
          </a:xfrm>
          <a:prstGeom prst="rect">
            <a:avLst/>
          </a:prstGeom>
          <a:noFill/>
        </p:spPr>
        <p:txBody>
          <a:bodyPr wrap="square" anchor="t">
            <a:spAutoFit/>
          </a:bodyPr>
          <a:lstStyle/>
          <a:p>
            <a:pPr algn="ctr">
              <a:defRPr sz="1600" b="1">
                <a:solidFill>
                  <a:srgbClr val="22C55E"/>
                </a:solidFill>
                <a:latin typeface="Calibri"/>
              </a:defRPr>
            </a:pPr>
            <a:r>
              <a:t>✅</a:t>
            </a:r>
          </a:p>
        </p:txBody>
      </p:sp>
      <p:sp>
        <p:nvSpPr>
          <p:cNvPr id="24" name="TextBox 23"/>
          <p:cNvSpPr txBox="1"/>
          <p:nvPr/>
        </p:nvSpPr>
        <p:spPr>
          <a:xfrm>
            <a:off x="1234440" y="4014215"/>
            <a:ext cx="2926080" cy="384048"/>
          </a:xfrm>
          <a:prstGeom prst="rect">
            <a:avLst/>
          </a:prstGeom>
          <a:noFill/>
        </p:spPr>
        <p:txBody>
          <a:bodyPr wrap="square" anchor="t">
            <a:spAutoFit/>
          </a:bodyPr>
          <a:lstStyle/>
          <a:p>
            <a:pPr algn="l">
              <a:defRPr sz="1400" b="1">
                <a:solidFill>
                  <a:srgbClr val="FFFFFF"/>
                </a:solidFill>
                <a:latin typeface="Calibri"/>
              </a:defRPr>
            </a:pPr>
            <a:r>
              <a:t>Cursor Development</a:t>
            </a:r>
          </a:p>
        </p:txBody>
      </p:sp>
      <p:sp>
        <p:nvSpPr>
          <p:cNvPr id="25" name="TextBox 24"/>
          <p:cNvSpPr txBox="1"/>
          <p:nvPr/>
        </p:nvSpPr>
        <p:spPr>
          <a:xfrm>
            <a:off x="4251960" y="4014215"/>
            <a:ext cx="7132320" cy="384048"/>
          </a:xfrm>
          <a:prstGeom prst="rect">
            <a:avLst/>
          </a:prstGeom>
          <a:noFill/>
        </p:spPr>
        <p:txBody>
          <a:bodyPr wrap="square" anchor="t">
            <a:spAutoFit/>
          </a:bodyPr>
          <a:lstStyle/>
          <a:p>
            <a:pPr algn="l">
              <a:defRPr sz="1200" b="0">
                <a:solidFill>
                  <a:srgbClr val="E2E8F0"/>
                </a:solidFill>
                <a:latin typeface="Calibri"/>
              </a:defRPr>
            </a:pPr>
            <a:r>
              <a:t>AI-native code generation, testing, refactoring, and LangGraph workflow orchestration.</a:t>
            </a:r>
          </a:p>
        </p:txBody>
      </p:sp>
      <p:sp>
        <p:nvSpPr>
          <p:cNvPr id="26" name="TextBox 25"/>
          <p:cNvSpPr txBox="1"/>
          <p:nvPr/>
        </p:nvSpPr>
        <p:spPr>
          <a:xfrm>
            <a:off x="731520" y="4462272"/>
            <a:ext cx="411480" cy="384048"/>
          </a:xfrm>
          <a:prstGeom prst="rect">
            <a:avLst/>
          </a:prstGeom>
          <a:noFill/>
        </p:spPr>
        <p:txBody>
          <a:bodyPr wrap="square" anchor="t">
            <a:spAutoFit/>
          </a:bodyPr>
          <a:lstStyle/>
          <a:p>
            <a:pPr algn="ctr">
              <a:defRPr sz="1600" b="1">
                <a:solidFill>
                  <a:srgbClr val="22C55E"/>
                </a:solidFill>
                <a:latin typeface="Calibri"/>
              </a:defRPr>
            </a:pPr>
            <a:r>
              <a:t>✅</a:t>
            </a:r>
          </a:p>
        </p:txBody>
      </p:sp>
      <p:sp>
        <p:nvSpPr>
          <p:cNvPr id="27" name="TextBox 26"/>
          <p:cNvSpPr txBox="1"/>
          <p:nvPr/>
        </p:nvSpPr>
        <p:spPr>
          <a:xfrm>
            <a:off x="1234440" y="4462272"/>
            <a:ext cx="2926080" cy="384048"/>
          </a:xfrm>
          <a:prstGeom prst="rect">
            <a:avLst/>
          </a:prstGeom>
          <a:noFill/>
        </p:spPr>
        <p:txBody>
          <a:bodyPr wrap="square" anchor="t">
            <a:spAutoFit/>
          </a:bodyPr>
          <a:lstStyle/>
          <a:p>
            <a:pPr algn="l">
              <a:defRPr sz="1400" b="1">
                <a:solidFill>
                  <a:srgbClr val="FFFFFF"/>
                </a:solidFill>
                <a:latin typeface="Calibri"/>
              </a:defRPr>
            </a:pPr>
            <a:r>
              <a:t>Security &amp; Secrets Audit</a:t>
            </a:r>
          </a:p>
        </p:txBody>
      </p:sp>
      <p:sp>
        <p:nvSpPr>
          <p:cNvPr id="28" name="TextBox 27"/>
          <p:cNvSpPr txBox="1"/>
          <p:nvPr/>
        </p:nvSpPr>
        <p:spPr>
          <a:xfrm>
            <a:off x="4251960" y="4462272"/>
            <a:ext cx="7132320" cy="384048"/>
          </a:xfrm>
          <a:prstGeom prst="rect">
            <a:avLst/>
          </a:prstGeom>
          <a:noFill/>
        </p:spPr>
        <p:txBody>
          <a:bodyPr wrap="square" anchor="t">
            <a:spAutoFit/>
          </a:bodyPr>
          <a:lstStyle/>
          <a:p>
            <a:pPr algn="l">
              <a:defRPr sz="1200" b="0">
                <a:solidFill>
                  <a:srgbClr val="E2E8F0"/>
                </a:solidFill>
                <a:latin typeface="Calibri"/>
              </a:defRPr>
            </a:pPr>
            <a:r>
              <a:t>Clean security verification: zero API keys or secrets committed; .env.example provided.</a:t>
            </a:r>
          </a:p>
        </p:txBody>
      </p:sp>
      <p:sp>
        <p:nvSpPr>
          <p:cNvPr id="29" name="TextBox 28"/>
          <p:cNvSpPr txBox="1"/>
          <p:nvPr/>
        </p:nvSpPr>
        <p:spPr>
          <a:xfrm>
            <a:off x="731520" y="4910328"/>
            <a:ext cx="411480" cy="384048"/>
          </a:xfrm>
          <a:prstGeom prst="rect">
            <a:avLst/>
          </a:prstGeom>
          <a:noFill/>
        </p:spPr>
        <p:txBody>
          <a:bodyPr wrap="square" anchor="t">
            <a:spAutoFit/>
          </a:bodyPr>
          <a:lstStyle/>
          <a:p>
            <a:pPr algn="ctr">
              <a:defRPr sz="1600" b="1">
                <a:solidFill>
                  <a:srgbClr val="22C55E"/>
                </a:solidFill>
                <a:latin typeface="Calibri"/>
              </a:defRPr>
            </a:pPr>
            <a:r>
              <a:t>✅</a:t>
            </a:r>
          </a:p>
        </p:txBody>
      </p:sp>
      <p:sp>
        <p:nvSpPr>
          <p:cNvPr id="30" name="TextBox 29"/>
          <p:cNvSpPr txBox="1"/>
          <p:nvPr/>
        </p:nvSpPr>
        <p:spPr>
          <a:xfrm>
            <a:off x="1234440" y="4910328"/>
            <a:ext cx="2926080" cy="384048"/>
          </a:xfrm>
          <a:prstGeom prst="rect">
            <a:avLst/>
          </a:prstGeom>
          <a:noFill/>
        </p:spPr>
        <p:txBody>
          <a:bodyPr wrap="square" anchor="t">
            <a:spAutoFit/>
          </a:bodyPr>
          <a:lstStyle/>
          <a:p>
            <a:pPr algn="l">
              <a:defRPr sz="1400" b="1">
                <a:solidFill>
                  <a:srgbClr val="FFFFFF"/>
                </a:solidFill>
                <a:latin typeface="Calibri"/>
              </a:defRPr>
            </a:pPr>
            <a:r>
              <a:t>SAMPLE_MODE Verified</a:t>
            </a:r>
          </a:p>
        </p:txBody>
      </p:sp>
      <p:sp>
        <p:nvSpPr>
          <p:cNvPr id="31" name="TextBox 30"/>
          <p:cNvSpPr txBox="1"/>
          <p:nvPr/>
        </p:nvSpPr>
        <p:spPr>
          <a:xfrm>
            <a:off x="4251960" y="4910328"/>
            <a:ext cx="7132320" cy="384048"/>
          </a:xfrm>
          <a:prstGeom prst="rect">
            <a:avLst/>
          </a:prstGeom>
          <a:noFill/>
        </p:spPr>
        <p:txBody>
          <a:bodyPr wrap="square" anchor="t">
            <a:spAutoFit/>
          </a:bodyPr>
          <a:lstStyle/>
          <a:p>
            <a:pPr algn="l">
              <a:defRPr sz="1200" b="0">
                <a:solidFill>
                  <a:srgbClr val="E2E8F0"/>
                </a:solidFill>
                <a:latin typeface="Calibri"/>
              </a:defRPr>
            </a:pPr>
            <a:r>
              <a:t>Runs 100% offline with zero external runtime dependencies for easy judge evaluation.</a:t>
            </a:r>
          </a:p>
        </p:txBody>
      </p:sp>
      <p:sp>
        <p:nvSpPr>
          <p:cNvPr id="32" name="TextBox 31"/>
          <p:cNvSpPr txBox="1"/>
          <p:nvPr/>
        </p:nvSpPr>
        <p:spPr>
          <a:xfrm>
            <a:off x="731520" y="5358384"/>
            <a:ext cx="411480" cy="384048"/>
          </a:xfrm>
          <a:prstGeom prst="rect">
            <a:avLst/>
          </a:prstGeom>
          <a:noFill/>
        </p:spPr>
        <p:txBody>
          <a:bodyPr wrap="square" anchor="t">
            <a:spAutoFit/>
          </a:bodyPr>
          <a:lstStyle/>
          <a:p>
            <a:pPr algn="ctr">
              <a:defRPr sz="1600" b="1">
                <a:solidFill>
                  <a:srgbClr val="22C55E"/>
                </a:solidFill>
                <a:latin typeface="Calibri"/>
              </a:defRPr>
            </a:pPr>
            <a:r>
              <a:t>✅</a:t>
            </a:r>
          </a:p>
        </p:txBody>
      </p:sp>
      <p:sp>
        <p:nvSpPr>
          <p:cNvPr id="33" name="TextBox 32"/>
          <p:cNvSpPr txBox="1"/>
          <p:nvPr/>
        </p:nvSpPr>
        <p:spPr>
          <a:xfrm>
            <a:off x="1234440" y="5358384"/>
            <a:ext cx="2926080" cy="384048"/>
          </a:xfrm>
          <a:prstGeom prst="rect">
            <a:avLst/>
          </a:prstGeom>
          <a:noFill/>
        </p:spPr>
        <p:txBody>
          <a:bodyPr wrap="square" anchor="t">
            <a:spAutoFit/>
          </a:bodyPr>
          <a:lstStyle/>
          <a:p>
            <a:pPr algn="l">
              <a:defRPr sz="1400" b="1">
                <a:solidFill>
                  <a:srgbClr val="FFFFFF"/>
                </a:solidFill>
                <a:latin typeface="Calibri"/>
              </a:defRPr>
            </a:pPr>
            <a:r>
              <a:t>MIT Open Source License</a:t>
            </a:r>
          </a:p>
        </p:txBody>
      </p:sp>
      <p:sp>
        <p:nvSpPr>
          <p:cNvPr id="34" name="TextBox 33"/>
          <p:cNvSpPr txBox="1"/>
          <p:nvPr/>
        </p:nvSpPr>
        <p:spPr>
          <a:xfrm>
            <a:off x="4251960" y="5358384"/>
            <a:ext cx="7132320" cy="384048"/>
          </a:xfrm>
          <a:prstGeom prst="rect">
            <a:avLst/>
          </a:prstGeom>
          <a:noFill/>
        </p:spPr>
        <p:txBody>
          <a:bodyPr wrap="square" anchor="t">
            <a:spAutoFit/>
          </a:bodyPr>
          <a:lstStyle/>
          <a:p>
            <a:pPr algn="l">
              <a:defRPr sz="1200" b="0">
                <a:solidFill>
                  <a:srgbClr val="E2E8F0"/>
                </a:solidFill>
                <a:latin typeface="Calibri"/>
              </a:defRPr>
            </a:pPr>
            <a:r>
              <a:t>Freely accessible for humanitarian relief and emergency response worldwide.</a:t>
            </a:r>
          </a:p>
        </p:txBody>
      </p:sp>
      <p:sp>
        <p:nvSpPr>
          <p:cNvPr id="35" name="Rectangle 34"/>
          <p:cNvSpPr/>
          <p:nvPr/>
        </p:nvSpPr>
        <p:spPr>
          <a:xfrm>
            <a:off x="731520" y="5897880"/>
            <a:ext cx="10698480" cy="594360"/>
          </a:xfrm>
          <a:prstGeom prst="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22960" y="5989320"/>
            <a:ext cx="10515600" cy="411480"/>
          </a:xfrm>
          <a:prstGeom prst="rect">
            <a:avLst/>
          </a:prstGeom>
          <a:noFill/>
        </p:spPr>
        <p:txBody>
          <a:bodyPr wrap="square" anchor="t">
            <a:spAutoFit/>
          </a:bodyPr>
          <a:lstStyle/>
          <a:p>
            <a:pPr algn="ctr">
              <a:defRPr sz="1300" b="1">
                <a:solidFill>
                  <a:srgbClr val="FFFFFF"/>
                </a:solidFill>
                <a:latin typeface="Calibri"/>
              </a:defRPr>
            </a:pPr>
            <a:r>
              <a:t>Repository: https://github.com/mukuntheverquest/crisismesh   •   Local Demo: http://localhost:5173   •   Lead: Mukunth (mukuntheverquest)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2885</Words>
  <Application>Microsoft Office PowerPoint</Application>
  <PresentationFormat>Widescreen</PresentationFormat>
  <Paragraphs>352</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Mukunth S V</cp:lastModifiedBy>
  <cp:revision>2</cp:revision>
  <dcterms:created xsi:type="dcterms:W3CDTF">2013-01-27T09:14:16Z</dcterms:created>
  <dcterms:modified xsi:type="dcterms:W3CDTF">2026-10-27T14:52:29Z</dcterms:modified>
  <cp:category/>
</cp:coreProperties>
</file>